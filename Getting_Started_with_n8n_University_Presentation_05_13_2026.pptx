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62" r:id="rId10"/>
    <p:sldId id="263" r:id="rId11"/>
    <p:sldId id="270" r:id="rId12"/>
    <p:sldId id="271" r:id="rId13"/>
    <p:sldId id="27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89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Rahhal" userId="afaccfd8e26ace3b" providerId="LiveId" clId="{462B6756-69BB-4E0B-B430-22A60DFF5832}"/>
    <pc:docChg chg="modSld">
      <pc:chgData name="Wael Rahhal" userId="afaccfd8e26ace3b" providerId="LiveId" clId="{462B6756-69BB-4E0B-B430-22A60DFF5832}" dt="2026-05-14T17:38:11.247" v="0" actId="1076"/>
      <pc:docMkLst>
        <pc:docMk/>
      </pc:docMkLst>
      <pc:sldChg chg="modSp mod">
        <pc:chgData name="Wael Rahhal" userId="afaccfd8e26ace3b" providerId="LiveId" clId="{462B6756-69BB-4E0B-B430-22A60DFF5832}" dt="2026-05-14T17:38:11.247" v="0" actId="1076"/>
        <pc:sldMkLst>
          <pc:docMk/>
          <pc:sldMk cId="0" sldId="263"/>
        </pc:sldMkLst>
        <pc:picChg chg="mod">
          <ac:chgData name="Wael Rahhal" userId="afaccfd8e26ace3b" providerId="LiveId" clId="{462B6756-69BB-4E0B-B430-22A60DFF5832}" dt="2026-05-14T17:38:11.247" v="0" actId="1076"/>
          <ac:picMkLst>
            <pc:docMk/>
            <pc:sldMk cId="0" sldId="263"/>
            <ac:picMk id="22" creationId="{E1089AC8-C4BF-CEA7-020E-8DBF555F3B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57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Getting Started with n8n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784080" y="201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B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Students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612648"/>
            <a:ext cx="11365992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8n-io/n8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tech_illustration_ui_concept_scene_a.png"/>
          <p:cNvPicPr>
            <a:picLocks noChangeAspect="1"/>
          </p:cNvPicPr>
          <p:nvPr/>
        </p:nvPicPr>
        <p:blipFill>
          <a:blip r:embed="rId3"/>
          <a:srcRect l="56000" t="6000" r="1122" b="4000"/>
          <a:stretch/>
        </p:blipFill>
        <p:spPr>
          <a:xfrm>
            <a:off x="6812280" y="530352"/>
            <a:ext cx="4892040" cy="5779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225296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Getting Started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n8n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49808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20" dirty="0">
                <a:solidFill>
                  <a:srgbClr val="D9E6F2"/>
                </a:solidFill>
              </a:rPr>
              <a:t>Workflow Automation and AI Agents</a:t>
            </a:r>
            <a:endParaRPr lang="en-US" sz="1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automation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The problem n8n tries to solve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530352" y="1572768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8288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3D"/>
                </a:solidFill>
              </a:rPr>
              <a:t>Students and teams often lose time because digital work is fragmented across many tools.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74620"/>
            <a:ext cx="100584" cy="100584"/>
          </a:xfrm>
          <a:prstGeom prst="ellipse">
            <a:avLst/>
          </a:prstGeom>
          <a:solidFill>
            <a:srgbClr val="17B5A5"/>
          </a:solidFill>
          <a:ln w="12700">
            <a:solidFill>
              <a:srgbClr val="17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D3D"/>
                </a:solidFill>
              </a:rPr>
              <a:t>Repetitive admin tasks: moving data, sending reminders, updating records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3332988"/>
            <a:ext cx="100584" cy="100584"/>
          </a:xfrm>
          <a:prstGeom prst="ellipse">
            <a:avLst/>
          </a:prstGeom>
          <a:solidFill>
            <a:srgbClr val="17B5A5"/>
          </a:solidFill>
          <a:ln w="12700">
            <a:solidFill>
              <a:srgbClr val="17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2644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D3D"/>
                </a:solidFill>
              </a:rPr>
              <a:t>Disconnected apps: email, forms, spreadsheets, databases, and chat tools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3991356"/>
            <a:ext cx="100584" cy="100584"/>
          </a:xfrm>
          <a:prstGeom prst="ellipse">
            <a:avLst/>
          </a:prstGeom>
          <a:solidFill>
            <a:srgbClr val="17B5A5"/>
          </a:solidFill>
          <a:ln w="12700">
            <a:solidFill>
              <a:srgbClr val="17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92277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D3D"/>
                </a:solidFill>
              </a:rPr>
              <a:t>Slow decision-making: manual follow-up creates delay and inconsistency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22960" y="4649724"/>
            <a:ext cx="100584" cy="100584"/>
          </a:xfrm>
          <a:prstGeom prst="ellipse">
            <a:avLst/>
          </a:prstGeom>
          <a:solidFill>
            <a:srgbClr val="17B5A5"/>
          </a:solidFill>
          <a:ln w="12700">
            <a:solidFill>
              <a:srgbClr val="17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458114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D3D"/>
                </a:solidFill>
              </a:rPr>
              <a:t>Growing interest in AI: users want systems that can both think and act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04672" y="544068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6BFF"/>
                </a:solidFill>
              </a:rPr>
              <a:t>n8n gives a visual way to connect apps, define logic, and automate actions.</a:t>
            </a:r>
            <a:endParaRPr lang="en-US" sz="1650" dirty="0"/>
          </a:p>
        </p:txBody>
      </p:sp>
      <p:pic>
        <p:nvPicPr>
          <p:cNvPr id="15" name="Image 0" descr="/mnt/data/wide_clean_vector_illustration_infographic_on_a_w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89326"/>
            <a:ext cx="6172200" cy="34737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818120" y="5669280"/>
            <a:ext cx="2468880" cy="310896"/>
          </a:xfrm>
          <a:prstGeom prst="rect">
            <a:avLst/>
          </a:prstGeom>
          <a:solidFill>
            <a:srgbClr val="F59E42"/>
          </a:solidFill>
          <a:ln>
            <a:solidFill>
              <a:srgbClr val="F59E4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→ Connected → Automated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E0D43-37C1-D529-10A5-C9761F12E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543" y="331955"/>
            <a:ext cx="8551132" cy="5339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2DED63-D3FD-BC89-CC00-BBE610FD12F9}"/>
              </a:ext>
            </a:extLst>
          </p:cNvPr>
          <p:cNvSpPr txBox="1"/>
          <p:nvPr/>
        </p:nvSpPr>
        <p:spPr>
          <a:xfrm>
            <a:off x="612323" y="6004450"/>
            <a:ext cx="9718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n8n-io/n8n: Fair-code workflow automation platform with native AI capabilities. Combine visual building with custom code, self-host or cloud, 400+ integrations.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53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n8n?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A visual workflow automation platform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8288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5A5"/>
                </a:solidFill>
              </a:rPr>
              <a:t>Official idea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066544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80" b="1" dirty="0">
                <a:solidFill>
                  <a:srgbClr val="0D1B2A"/>
                </a:solidFill>
              </a:rPr>
              <a:t>n8n combines AI capabilities with workflow and business process automation.</a:t>
            </a:r>
            <a:endParaRPr lang="en-US" sz="1880" dirty="0"/>
          </a:p>
        </p:txBody>
      </p:sp>
      <p:sp>
        <p:nvSpPr>
          <p:cNvPr id="7" name="Text 5"/>
          <p:cNvSpPr/>
          <p:nvPr/>
        </p:nvSpPr>
        <p:spPr>
          <a:xfrm>
            <a:off x="804672" y="27980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60" dirty="0">
                <a:solidFill>
                  <a:srgbClr val="1F2D3D"/>
                </a:solidFill>
              </a:rPr>
              <a:t>A workflow is a collection of connected nodes that automate a process.</a:t>
            </a:r>
            <a:endParaRPr lang="en-US" sz="1660" dirty="0"/>
          </a:p>
        </p:txBody>
      </p:sp>
      <p:sp>
        <p:nvSpPr>
          <p:cNvPr id="8" name="Shape 6"/>
          <p:cNvSpPr/>
          <p:nvPr/>
        </p:nvSpPr>
        <p:spPr>
          <a:xfrm>
            <a:off x="822960" y="3525012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45643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Visual canvas for building logic step by step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055364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986784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Useful for both no-code and code-friendly users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585716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4517136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Supports app integrations, APIs, data transformation, and AI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116068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504748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Can scale from one simple task to advanced automation systems</a:t>
            </a:r>
            <a:endParaRPr lang="en-US" sz="1600" dirty="0"/>
          </a:p>
        </p:txBody>
      </p:sp>
      <p:pic>
        <p:nvPicPr>
          <p:cNvPr id="16" name="Image 0" descr="/mnt/data/wide_dark_tech_illustration_ui_concept_scene_a.png"/>
          <p:cNvPicPr>
            <a:picLocks noChangeAspect="1"/>
          </p:cNvPicPr>
          <p:nvPr/>
        </p:nvPicPr>
        <p:blipFill>
          <a:blip r:embed="rId3"/>
          <a:srcRect l="46000" t="5000" r="-6552" b="9000"/>
          <a:stretch/>
        </p:blipFill>
        <p:spPr>
          <a:xfrm>
            <a:off x="6282688" y="288036"/>
            <a:ext cx="6349817" cy="507553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building blocks of a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The concepts beginners should recognize first</a:t>
            </a:r>
            <a:endParaRPr lang="en-US" sz="1420" dirty="0"/>
          </a:p>
        </p:txBody>
      </p:sp>
      <p:sp>
        <p:nvSpPr>
          <p:cNvPr id="4" name="Text 2"/>
          <p:cNvSpPr/>
          <p:nvPr/>
        </p:nvSpPr>
        <p:spPr>
          <a:xfrm>
            <a:off x="2039112" y="24963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B3C5"/>
                </a:solidFill>
              </a:rPr>
              <a:t>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959352" y="24963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B3C5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79592" y="24963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B3C5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99832" y="24963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B3C5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987552" cy="987552"/>
          </a:xfrm>
          <a:prstGeom prst="ellipse">
            <a:avLst/>
          </a:prstGeom>
          <a:solidFill>
            <a:srgbClr val="17B5A5"/>
          </a:solidFill>
          <a:ln w="12700">
            <a:solidFill>
              <a:srgbClr val="17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13232" y="31821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Trigger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354787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62758A"/>
                </a:solidFill>
              </a:rPr>
              <a:t>Starts the workflow when an event happens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2743200" y="2029968"/>
            <a:ext cx="987552" cy="9875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22402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33472" y="31821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78608" y="354787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62758A"/>
                </a:solidFill>
              </a:rPr>
              <a:t>Moves information from one step to the next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4663440" y="2029968"/>
            <a:ext cx="987552" cy="987552"/>
          </a:xfrm>
          <a:prstGeom prst="ellipse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53712" y="31821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Logic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8848" y="354787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62758A"/>
                </a:solidFill>
              </a:rPr>
              <a:t>Adds rules, conditions, filtering, and routing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6583680" y="2029968"/>
            <a:ext cx="987552" cy="987552"/>
          </a:xfrm>
          <a:prstGeom prst="ellipse">
            <a:avLst/>
          </a:prstGeom>
          <a:solidFill>
            <a:srgbClr val="7B5CFA"/>
          </a:solidFill>
          <a:ln w="1270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73952" y="31821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9088" y="354787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62758A"/>
                </a:solidFill>
              </a:rPr>
              <a:t>Performs an operation in another app or service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8503920" y="2029968"/>
            <a:ext cx="987552" cy="987552"/>
          </a:xfrm>
          <a:prstGeom prst="ellipse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03920" y="22402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E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394192" y="31821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Execution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9328" y="354787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62758A"/>
                </a:solidFill>
              </a:rPr>
              <a:t>Shows results, errors, and debugging history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868680" y="5212080"/>
            <a:ext cx="10378440" cy="53035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97280" y="5394960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E68"/>
                </a:solidFill>
              </a:rPr>
              <a:t>Simple mental model: something happens → data enters → rules decide → action is taken → results are reviewed.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57EE9A-6F83-C917-6BD6-8DF094D9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34"/>
            <a:ext cx="11928143" cy="671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5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 simple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A beginner-friendly sequence from event to outcome</a:t>
            </a:r>
            <a:endParaRPr lang="en-US" sz="1420" dirty="0"/>
          </a:p>
        </p:txBody>
      </p:sp>
      <p:pic>
        <p:nvPicPr>
          <p:cNvPr id="4" name="Image 0" descr="/mnt/data/wide_clean_vector_illustration_infographic_on_a_w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047" y="1700784"/>
            <a:ext cx="7506281" cy="4224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565099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1. Trigger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61488" y="565099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2. Get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36008" y="565099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3. Transform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65392" y="565099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4. Decide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94192" y="565099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5. Execute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96144" y="565099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6. Output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603504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62758A"/>
                </a:solidFill>
              </a:rPr>
              <a:t>The same design logic can power student projects, business operations, or AI-powered assistants.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automation vs AI agents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Why the topic becomes more interesting when AI is added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50992" y="1600200"/>
            <a:ext cx="5779008" cy="4434840"/>
          </a:xfrm>
          <a:prstGeom prst="roundRect">
            <a:avLst>
              <a:gd name="adj" fmla="val 1649"/>
            </a:avLst>
          </a:prstGeom>
          <a:solidFill>
            <a:srgbClr val="0E1B3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1600200" cy="310896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Best for fixed, repeatable logic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32688" y="2903220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28346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Same input usually leads to the same path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2688" y="3561588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49300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Strong for data transfer, notifications, updates, and rules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4219956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15137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</a:rPr>
              <a:t>Highly predictable and easy to audit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89320" y="18470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D5FF"/>
                </a:solidFill>
              </a:rPr>
              <a:t>AI agents</a:t>
            </a:r>
            <a:endParaRPr lang="en-US" sz="1200" dirty="0"/>
          </a:p>
        </p:txBody>
      </p:sp>
      <p:pic>
        <p:nvPicPr>
          <p:cNvPr id="15" name="Image 0" descr="/mnt/data/wide_futuristic_tech_illustration_scene_a_dark_na.png"/>
          <p:cNvPicPr>
            <a:picLocks noChangeAspect="1"/>
          </p:cNvPicPr>
          <p:nvPr/>
        </p:nvPicPr>
        <p:blipFill>
          <a:blip r:embed="rId3"/>
          <a:srcRect l="16000" t="16000" r="239" b="16000"/>
          <a:stretch/>
        </p:blipFill>
        <p:spPr>
          <a:xfrm>
            <a:off x="5897880" y="2103120"/>
            <a:ext cx="5303520" cy="2423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61888" y="47365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Can reason, choose tools, and act toward a goal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an n8n AI agent work?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Key components behind agentic automation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5349240" y="2267712"/>
            <a:ext cx="1508760" cy="1508760"/>
          </a:xfrm>
          <a:prstGeom prst="ellipse">
            <a:avLst/>
          </a:prstGeom>
          <a:solidFill>
            <a:srgbClr val="132948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49240" y="26517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AI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664208"/>
            <a:ext cx="1920240" cy="822960"/>
          </a:xfrm>
          <a:prstGeom prst="roundRect">
            <a:avLst/>
          </a:prstGeom>
          <a:solidFill>
            <a:srgbClr val="E8F8F6"/>
          </a:solidFill>
          <a:ln w="12700">
            <a:solidFill>
              <a:srgbClr val="B8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38528" y="1792224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Goal / 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38528" y="2020824"/>
            <a:ext cx="1700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2758A"/>
                </a:solidFill>
              </a:rPr>
              <a:t>Defines the task and expected behavior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8366760" y="1664208"/>
            <a:ext cx="1920240" cy="8229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76488" y="1792224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76488" y="2020824"/>
            <a:ext cx="1700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2758A"/>
                </a:solidFill>
              </a:rPr>
              <a:t>Web, APIs, files, databases, email, apps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1828800" y="4041648"/>
            <a:ext cx="1920240" cy="822960"/>
          </a:xfrm>
          <a:prstGeom prst="roundRect">
            <a:avLst/>
          </a:prstGeom>
          <a:solidFill>
            <a:srgbClr val="F0EAFE"/>
          </a:solidFill>
          <a:ln w="12700">
            <a:solidFill>
              <a:srgbClr val="DE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38528" y="4169664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Memory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38528" y="4398264"/>
            <a:ext cx="1700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2758A"/>
                </a:solidFill>
              </a:rPr>
              <a:t>Keeps useful context across interactions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366760" y="4041648"/>
            <a:ext cx="1920240" cy="82296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76488" y="4169664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Guardrails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76488" y="4398264"/>
            <a:ext cx="1700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2758A"/>
                </a:solidFill>
              </a:rPr>
              <a:t>Limits, approvals, and logging for safety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2788920" y="5504688"/>
            <a:ext cx="65379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71800" y="5669280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E68"/>
                </a:solidFill>
              </a:rPr>
              <a:t>An n8n AI agent always needs tools to be useful in real workflows, not just text generation.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use cases students can relate 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2758A"/>
                </a:solidFill>
              </a:rPr>
              <a:t>Where automation and agents become practical</a:t>
            </a:r>
            <a:endParaRPr lang="en-US" sz="1420" dirty="0"/>
          </a:p>
        </p:txBody>
      </p:sp>
      <p:sp>
        <p:nvSpPr>
          <p:cNvPr id="5" name="Shape 2"/>
          <p:cNvSpPr/>
          <p:nvPr/>
        </p:nvSpPr>
        <p:spPr>
          <a:xfrm>
            <a:off x="566928" y="1755648"/>
            <a:ext cx="49834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993392"/>
            <a:ext cx="4389120" cy="8412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1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24128" y="209397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D1B2A"/>
                </a:solidFill>
              </a:rPr>
              <a:t>Research digest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1024128" y="2340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Collect new articles, summarize them, and send a weekly study brief.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841248" y="2953512"/>
            <a:ext cx="4389120" cy="841248"/>
          </a:xfrm>
          <a:prstGeom prst="roundRect">
            <a:avLst/>
          </a:prstGeom>
          <a:solidFill>
            <a:srgbClr val="F3FBFA"/>
          </a:solidFill>
          <a:ln w="12700">
            <a:solidFill>
              <a:srgbClr val="E1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24128" y="305409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D1B2A"/>
                </a:solidFill>
              </a:rPr>
              <a:t>Course reminders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1024128" y="3300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Trigger deadline alerts from a calendar, form, or spreadsheet update.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841248" y="3913632"/>
            <a:ext cx="4389120" cy="8412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1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24128" y="401421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D1B2A"/>
                </a:solidFill>
              </a:rPr>
              <a:t>Document triage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1024128" y="4261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Read files, label them, route them to folders, and notify the right person.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841248" y="4873752"/>
            <a:ext cx="4389120" cy="841248"/>
          </a:xfrm>
          <a:prstGeom prst="roundRect">
            <a:avLst/>
          </a:prstGeom>
          <a:solidFill>
            <a:srgbClr val="F3FBFA"/>
          </a:solidFill>
          <a:ln w="12700">
            <a:solidFill>
              <a:srgbClr val="E1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24128" y="497433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D1B2A"/>
                </a:solidFill>
              </a:rPr>
              <a:t>Feedback assistant</a:t>
            </a:r>
            <a:endParaRPr lang="en-US" sz="1580" dirty="0"/>
          </a:p>
        </p:txBody>
      </p:sp>
      <p:sp>
        <p:nvSpPr>
          <p:cNvPr id="17" name="Text 14"/>
          <p:cNvSpPr/>
          <p:nvPr/>
        </p:nvSpPr>
        <p:spPr>
          <a:xfrm>
            <a:off x="1024128" y="5221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Analyze survey answers, group comments, and create a short report.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6656832" y="5641848"/>
            <a:ext cx="4407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FFFFFF"/>
                </a:solidFill>
              </a:rPr>
              <a:t>The same ideas can later scale into business, nonprofit, or research automation projects.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11448288" y="6428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A9A"/>
                </a:solidFill>
              </a:rPr>
              <a:t>8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1089AC8-C4BF-CEA7-020E-8DBF555F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389888"/>
            <a:ext cx="6614232" cy="41925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B95B7-DDBB-B5E3-C8A0-FFCD1700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04" y="282972"/>
            <a:ext cx="10085878" cy="43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3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0CDE5-9251-D8B8-D4E1-D0AE11D9A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28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DBAA3F-6E6A-ADCF-9A4A-09012B16F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576</Words>
  <Application>Microsoft Office PowerPoint</Application>
  <PresentationFormat>Widescreen</PresentationFormat>
  <Paragraphs>101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n8n: Workflow Automation and AI Agents</dc:title>
  <dc:subject>Getting Started with n8n</dc:subject>
  <dc:creator>OpenAI</dc:creator>
  <cp:lastModifiedBy>Wael Rahhal</cp:lastModifiedBy>
  <cp:revision>4</cp:revision>
  <dcterms:created xsi:type="dcterms:W3CDTF">2026-05-12T16:06:27Z</dcterms:created>
  <dcterms:modified xsi:type="dcterms:W3CDTF">2026-08-10T03:51:52Z</dcterms:modified>
</cp:coreProperties>
</file>
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8" r:id="rId4"/>
    <p:sldId id="258" r:id="rId5"/>
    <p:sldId id="259" r:id="rId6"/>
    <p:sldId id="269" r:id="rId7"/>
    <p:sldId id="260" r:id="rId8"/>
    <p:sldId id="261" r:id="rId9"/>
    <p:sldId id="262" r:id="rId10"/>
    <p:sldId id="263" r:id="rId11"/>
    <p:sldId id="270" r:id="rId12"/>
    <p:sldId id="271" r:id="rId13"/>
    <p:sldId id="272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6" d="100"/>
          <a:sy n="46" d="100"/>
        </p:scale>
        <p:origin x="8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el Rahhal" userId="afaccfd8e26ace3b" providerId="LiveId" clId="{462B6756-69BB-4E0B-B430-22A60DFF5832}"/>
    <pc:docChg chg="modSld">
      <pc:chgData name="Wael Rahhal" userId="afaccfd8e26ace3b" providerId="LiveId" clId="{462B6756-69BB-4E0B-B430-22A60DFF5832}" dt="2026-05-14T17:38:11.247" v="0" actId="1076"/>
      <pc:docMkLst>
        <pc:docMk/>
      </pc:docMkLst>
      <pc:sldChg chg="modSp mod">
        <pc:chgData name="Wael Rahhal" userId="afaccfd8e26ace3b" providerId="LiveId" clId="{462B6756-69BB-4E0B-B430-22A60DFF5832}" dt="2026-05-14T17:38:11.247" v="0" actId="1076"/>
        <pc:sldMkLst>
          <pc:docMk/>
          <pc:sldMk cId="0" sldId="263"/>
        </pc:sldMkLst>
        <pc:picChg chg="mod">
          <ac:chgData name="Wael Rahhal" userId="afaccfd8e26ace3b" providerId="LiveId" clId="{462B6756-69BB-4E0B-B430-22A60DFF5832}" dt="2026-05-14T17:38:11.247" v="0" actId="1076"/>
          <ac:picMkLst>
            <pc:docMk/>
            <pc:sldMk cId="0" sldId="263"/>
            <ac:picMk id="22" creationId="{E1089AC8-C4BF-CEA7-020E-8DBF555F3BF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25771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3A57"/>
          </a:solidFill>
          <a:ln w="12700">
            <a:solidFill>
              <a:srgbClr val="1B3A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5303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70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Getting Started with n8n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784080" y="201168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7B8A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Students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11480" y="612648"/>
            <a:ext cx="11365992" cy="0"/>
          </a:xfrm>
          <a:prstGeom prst="line">
            <a:avLst/>
          </a:prstGeom>
          <a:noFill/>
          <a:ln w="12700">
            <a:solidFill>
              <a:srgbClr val="D8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8n-io/n8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2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ide_dark_tech_illustration_ui_concept_scene_a.png"/>
          <p:cNvPicPr>
            <a:picLocks noChangeAspect="1"/>
          </p:cNvPicPr>
          <p:nvPr/>
        </p:nvPicPr>
        <p:blipFill>
          <a:blip r:embed="rId3"/>
          <a:srcRect l="56000" t="6000" r="1122" b="4000"/>
          <a:stretch/>
        </p:blipFill>
        <p:spPr>
          <a:xfrm>
            <a:off x="6812280" y="530352"/>
            <a:ext cx="4892040" cy="57790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1225296"/>
            <a:ext cx="5303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Getting Started</a:t>
            </a:r>
            <a:endParaRPr lang="en-US" sz="2700" dirty="0"/>
          </a:p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with n8n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749808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20" dirty="0">
                <a:solidFill>
                  <a:srgbClr val="D9E6F2"/>
                </a:solidFill>
              </a:rPr>
              <a:t>Workflow Automation and AI Agents</a:t>
            </a:r>
            <a:endParaRPr lang="en-US" sz="1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D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automation matters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113385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20" dirty="0">
                <a:solidFill>
                  <a:srgbClr val="62758A"/>
                </a:solidFill>
              </a:rPr>
              <a:t>The problem n8n tries to solve</a:t>
            </a:r>
            <a:endParaRPr lang="en-US" sz="1420" dirty="0"/>
          </a:p>
        </p:txBody>
      </p:sp>
      <p:sp>
        <p:nvSpPr>
          <p:cNvPr id="4" name="Shape 2"/>
          <p:cNvSpPr/>
          <p:nvPr/>
        </p:nvSpPr>
        <p:spPr>
          <a:xfrm>
            <a:off x="530352" y="1572768"/>
            <a:ext cx="466344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04672" y="1828800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D3D"/>
                </a:solidFill>
              </a:rPr>
              <a:t>Students and teams often lose time because digital work is fragmented across many tools.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674620"/>
            <a:ext cx="100584" cy="100584"/>
          </a:xfrm>
          <a:prstGeom prst="ellipse">
            <a:avLst/>
          </a:prstGeom>
          <a:solidFill>
            <a:srgbClr val="17B5A5"/>
          </a:solidFill>
          <a:ln w="12700">
            <a:solidFill>
              <a:srgbClr val="17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2606040"/>
            <a:ext cx="3886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F2D3D"/>
                </a:solidFill>
              </a:rPr>
              <a:t>Repetitive admin tasks: moving data, sending reminders, updating records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22960" y="3332988"/>
            <a:ext cx="100584" cy="100584"/>
          </a:xfrm>
          <a:prstGeom prst="ellipse">
            <a:avLst/>
          </a:prstGeom>
          <a:solidFill>
            <a:srgbClr val="17B5A5"/>
          </a:solidFill>
          <a:ln w="12700">
            <a:solidFill>
              <a:srgbClr val="17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3264408"/>
            <a:ext cx="3886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F2D3D"/>
                </a:solidFill>
              </a:rPr>
              <a:t>Disconnected apps: email, forms, spreadsheets, databases, and chat tools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822960" y="3991356"/>
            <a:ext cx="100584" cy="100584"/>
          </a:xfrm>
          <a:prstGeom prst="ellipse">
            <a:avLst/>
          </a:prstGeom>
          <a:solidFill>
            <a:srgbClr val="17B5A5"/>
          </a:solidFill>
          <a:ln w="12700">
            <a:solidFill>
              <a:srgbClr val="17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922776"/>
            <a:ext cx="3886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F2D3D"/>
                </a:solidFill>
              </a:rPr>
              <a:t>Slow decision-making: manual follow-up creates delay and inconsistency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22960" y="4649724"/>
            <a:ext cx="100584" cy="100584"/>
          </a:xfrm>
          <a:prstGeom prst="ellipse">
            <a:avLst/>
          </a:prstGeom>
          <a:solidFill>
            <a:srgbClr val="17B5A5"/>
          </a:solidFill>
          <a:ln w="12700">
            <a:solidFill>
              <a:srgbClr val="17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05840" y="4581144"/>
            <a:ext cx="3886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F2D3D"/>
                </a:solidFill>
              </a:rPr>
              <a:t>Growing interest in AI: users want systems that can both think and act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804672" y="544068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F6BFF"/>
                </a:solidFill>
              </a:rPr>
              <a:t>n8n gives a visual way to connect apps, define logic, and automate actions.</a:t>
            </a:r>
            <a:endParaRPr lang="en-US" sz="1650" dirty="0"/>
          </a:p>
        </p:txBody>
      </p:sp>
      <p:pic>
        <p:nvPicPr>
          <p:cNvPr id="15" name="Image 0" descr="/mnt/data/wide_clean_vector_illustration_infographic_on_a_w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989326"/>
            <a:ext cx="6172200" cy="34737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818120" y="5669280"/>
            <a:ext cx="2468880" cy="310896"/>
          </a:xfrm>
          <a:prstGeom prst="rect">
            <a:avLst/>
          </a:prstGeom>
          <a:solidFill>
            <a:srgbClr val="F59E42"/>
          </a:solidFill>
          <a:ln>
            <a:solidFill>
              <a:srgbClr val="F59E4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Manual → Connected → Automated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448288" y="642823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B8A9A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AE0D43-37C1-D529-10A5-C9761F12E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543" y="331955"/>
            <a:ext cx="8551132" cy="53395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2DED63-D3FD-BC89-CC00-BBE610FD12F9}"/>
              </a:ext>
            </a:extLst>
          </p:cNvPr>
          <p:cNvSpPr txBox="1"/>
          <p:nvPr/>
        </p:nvSpPr>
        <p:spPr>
          <a:xfrm>
            <a:off x="612323" y="6004450"/>
            <a:ext cx="97182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n8n-io/n8n: Fair-code workflow automation platform with native AI capabilities. Combine visual building with custom code, self-host or cloud, 400+ integrations.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534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D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n8n?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113385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20" dirty="0">
                <a:solidFill>
                  <a:srgbClr val="62758A"/>
                </a:solidFill>
              </a:rPr>
              <a:t>A visual workflow automation platform</a:t>
            </a:r>
            <a:endParaRPr lang="en-US" sz="142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04672" y="18288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B5A5"/>
                </a:solidFill>
              </a:rPr>
              <a:t>Official idea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4672" y="2066544"/>
            <a:ext cx="4709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80" b="1" dirty="0">
                <a:solidFill>
                  <a:srgbClr val="0D1B2A"/>
                </a:solidFill>
              </a:rPr>
              <a:t>n8n combines AI capabilities with workflow and business process automation.</a:t>
            </a:r>
            <a:endParaRPr lang="en-US" sz="1880" dirty="0"/>
          </a:p>
        </p:txBody>
      </p:sp>
      <p:sp>
        <p:nvSpPr>
          <p:cNvPr id="7" name="Text 5"/>
          <p:cNvSpPr/>
          <p:nvPr/>
        </p:nvSpPr>
        <p:spPr>
          <a:xfrm>
            <a:off x="804672" y="279806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60" dirty="0">
                <a:solidFill>
                  <a:srgbClr val="1F2D3D"/>
                </a:solidFill>
              </a:rPr>
              <a:t>A workflow is a collection of connected nodes that automate a process.</a:t>
            </a:r>
            <a:endParaRPr lang="en-US" sz="1660" dirty="0"/>
          </a:p>
        </p:txBody>
      </p:sp>
      <p:sp>
        <p:nvSpPr>
          <p:cNvPr id="8" name="Shape 6"/>
          <p:cNvSpPr/>
          <p:nvPr/>
        </p:nvSpPr>
        <p:spPr>
          <a:xfrm>
            <a:off x="822960" y="3525012"/>
            <a:ext cx="100584" cy="100584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3456432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D3D"/>
                </a:solidFill>
              </a:rPr>
              <a:t>Visual canvas for building logic step by step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4055364"/>
            <a:ext cx="100584" cy="100584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986784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D3D"/>
                </a:solidFill>
              </a:rPr>
              <a:t>Useful for both no-code and code-friendly users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4585716"/>
            <a:ext cx="100584" cy="100584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05840" y="4517136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D3D"/>
                </a:solidFill>
              </a:rPr>
              <a:t>Supports app integrations, APIs, data transformation, and AI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5116068"/>
            <a:ext cx="100584" cy="100584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5047488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D3D"/>
                </a:solidFill>
              </a:rPr>
              <a:t>Can scale from one simple task to advanced automation systems</a:t>
            </a:r>
            <a:endParaRPr lang="en-US" sz="1600" dirty="0"/>
          </a:p>
        </p:txBody>
      </p:sp>
      <p:pic>
        <p:nvPicPr>
          <p:cNvPr id="16" name="Image 0" descr="/mnt/data/wide_dark_tech_illustration_ui_concept_scene_a.png"/>
          <p:cNvPicPr>
            <a:picLocks noChangeAspect="1"/>
          </p:cNvPicPr>
          <p:nvPr/>
        </p:nvPicPr>
        <p:blipFill>
          <a:blip r:embed="rId3"/>
          <a:srcRect l="46000" t="5000" r="-6552" b="9000"/>
          <a:stretch/>
        </p:blipFill>
        <p:spPr>
          <a:xfrm>
            <a:off x="6282688" y="288036"/>
            <a:ext cx="6349817" cy="507553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1448288" y="642823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B8A9A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D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building blocks of a workflow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113385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20" dirty="0">
                <a:solidFill>
                  <a:srgbClr val="62758A"/>
                </a:solidFill>
              </a:rPr>
              <a:t>The concepts beginners should recognize first</a:t>
            </a:r>
            <a:endParaRPr lang="en-US" sz="1420" dirty="0"/>
          </a:p>
        </p:txBody>
      </p:sp>
      <p:sp>
        <p:nvSpPr>
          <p:cNvPr id="4" name="Text 2"/>
          <p:cNvSpPr/>
          <p:nvPr/>
        </p:nvSpPr>
        <p:spPr>
          <a:xfrm>
            <a:off x="2039112" y="2496312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CB3C5"/>
                </a:solidFill>
              </a:rPr>
              <a:t>→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959352" y="2496312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CB3C5"/>
                </a:solidFill>
              </a:rPr>
              <a:t>→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879592" y="2496312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CB3C5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99832" y="2496312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CB3C5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2029968"/>
            <a:ext cx="987552" cy="987552"/>
          </a:xfrm>
          <a:prstGeom prst="ellipse">
            <a:avLst/>
          </a:prstGeom>
          <a:solidFill>
            <a:srgbClr val="17B5A5"/>
          </a:solidFill>
          <a:ln w="12700">
            <a:solidFill>
              <a:srgbClr val="17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2240280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13232" y="318211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Trigger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3547872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40" dirty="0">
                <a:solidFill>
                  <a:srgbClr val="62758A"/>
                </a:solidFill>
              </a:rPr>
              <a:t>Starts the workflow when an event happens</a:t>
            </a:r>
            <a:endParaRPr lang="en-US" sz="1340" dirty="0"/>
          </a:p>
        </p:txBody>
      </p:sp>
      <p:sp>
        <p:nvSpPr>
          <p:cNvPr id="12" name="Shape 10"/>
          <p:cNvSpPr/>
          <p:nvPr/>
        </p:nvSpPr>
        <p:spPr>
          <a:xfrm>
            <a:off x="2743200" y="2029968"/>
            <a:ext cx="987552" cy="987552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43200" y="2240280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D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633472" y="318211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Data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578608" y="3547872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40" dirty="0">
                <a:solidFill>
                  <a:srgbClr val="62758A"/>
                </a:solidFill>
              </a:rPr>
              <a:t>Moves information from one step to the next</a:t>
            </a:r>
            <a:endParaRPr lang="en-US" sz="1340" dirty="0"/>
          </a:p>
        </p:txBody>
      </p:sp>
      <p:sp>
        <p:nvSpPr>
          <p:cNvPr id="16" name="Shape 14"/>
          <p:cNvSpPr/>
          <p:nvPr/>
        </p:nvSpPr>
        <p:spPr>
          <a:xfrm>
            <a:off x="4663440" y="2029968"/>
            <a:ext cx="987552" cy="987552"/>
          </a:xfrm>
          <a:prstGeom prst="ellipse">
            <a:avLst/>
          </a:prstGeom>
          <a:solidFill>
            <a:srgbClr val="F59E42"/>
          </a:solidFill>
          <a:ln w="12700">
            <a:solidFill>
              <a:srgbClr val="F59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63440" y="2240280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L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553712" y="318211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Logic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98848" y="3547872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40" dirty="0">
                <a:solidFill>
                  <a:srgbClr val="62758A"/>
                </a:solidFill>
              </a:rPr>
              <a:t>Adds rules, conditions, filtering, and routing</a:t>
            </a:r>
            <a:endParaRPr lang="en-US" sz="1340" dirty="0"/>
          </a:p>
        </p:txBody>
      </p:sp>
      <p:sp>
        <p:nvSpPr>
          <p:cNvPr id="20" name="Shape 18"/>
          <p:cNvSpPr/>
          <p:nvPr/>
        </p:nvSpPr>
        <p:spPr>
          <a:xfrm>
            <a:off x="6583680" y="2029968"/>
            <a:ext cx="987552" cy="987552"/>
          </a:xfrm>
          <a:prstGeom prst="ellipse">
            <a:avLst/>
          </a:prstGeom>
          <a:solidFill>
            <a:srgbClr val="7B5CFA"/>
          </a:solidFill>
          <a:ln w="12700">
            <a:solidFill>
              <a:srgbClr val="7B5C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0" y="2240280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A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473952" y="318211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Action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19088" y="3547872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40" dirty="0">
                <a:solidFill>
                  <a:srgbClr val="62758A"/>
                </a:solidFill>
              </a:rPr>
              <a:t>Performs an operation in another app or service</a:t>
            </a:r>
            <a:endParaRPr lang="en-US" sz="1340" dirty="0"/>
          </a:p>
        </p:txBody>
      </p:sp>
      <p:sp>
        <p:nvSpPr>
          <p:cNvPr id="24" name="Shape 22"/>
          <p:cNvSpPr/>
          <p:nvPr/>
        </p:nvSpPr>
        <p:spPr>
          <a:xfrm>
            <a:off x="8503920" y="2029968"/>
            <a:ext cx="987552" cy="987552"/>
          </a:xfrm>
          <a:prstGeom prst="ellipse">
            <a:avLst/>
          </a:prstGeom>
          <a:solidFill>
            <a:srgbClr val="1B3A57"/>
          </a:solidFill>
          <a:ln w="12700">
            <a:solidFill>
              <a:srgbClr val="1B3A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503920" y="2240280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E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394192" y="3182112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Execution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39328" y="3547872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40" dirty="0">
                <a:solidFill>
                  <a:srgbClr val="62758A"/>
                </a:solidFill>
              </a:rPr>
              <a:t>Shows results, errors, and debugging history</a:t>
            </a:r>
            <a:endParaRPr lang="en-US" sz="1340" dirty="0"/>
          </a:p>
        </p:txBody>
      </p:sp>
      <p:sp>
        <p:nvSpPr>
          <p:cNvPr id="28" name="Shape 26"/>
          <p:cNvSpPr/>
          <p:nvPr/>
        </p:nvSpPr>
        <p:spPr>
          <a:xfrm>
            <a:off x="868680" y="5212080"/>
            <a:ext cx="10378440" cy="530352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CFE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097280" y="5394960"/>
            <a:ext cx="9966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4E68"/>
                </a:solidFill>
              </a:rPr>
              <a:t>Simple mental model: something happens → data enters → rules decide → action is taken → results are reviewed.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1448288" y="642823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B8A9A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57EE9A-6F83-C917-6BD6-8DF094D93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1334"/>
            <a:ext cx="11928143" cy="671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155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D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Anatomy of a simple workflow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113385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20" dirty="0">
                <a:solidFill>
                  <a:srgbClr val="62758A"/>
                </a:solidFill>
              </a:rPr>
              <a:t>A beginner-friendly sequence from event to outcome</a:t>
            </a:r>
            <a:endParaRPr lang="en-US" sz="1420" dirty="0"/>
          </a:p>
        </p:txBody>
      </p:sp>
      <p:pic>
        <p:nvPicPr>
          <p:cNvPr id="4" name="Image 0" descr="/mnt/data/wide_clean_vector_illustration_infographic_on_a_w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3047" y="1700784"/>
            <a:ext cx="7506281" cy="42245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5650992"/>
            <a:ext cx="10241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1. Trigger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761488" y="5650992"/>
            <a:ext cx="10241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2. Get data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636008" y="5650992"/>
            <a:ext cx="10241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3. Transform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65392" y="5650992"/>
            <a:ext cx="10241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4. Decide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394192" y="5650992"/>
            <a:ext cx="10241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5. Execute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296144" y="5650992"/>
            <a:ext cx="10241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6. Output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280160" y="6035040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dirty="0">
                <a:solidFill>
                  <a:srgbClr val="62758A"/>
                </a:solidFill>
              </a:rPr>
              <a:t>The same design logic can power student projects, business operations, or AI-powered assistants.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1448288" y="642823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B8A9A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D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Standard automation vs AI agents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113385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20" dirty="0">
                <a:solidFill>
                  <a:srgbClr val="62758A"/>
                </a:solidFill>
              </a:rPr>
              <a:t>Why the topic becomes more interesting when AI is added</a:t>
            </a:r>
            <a:endParaRPr lang="en-US" sz="142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47548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650992" y="1600200"/>
            <a:ext cx="5779008" cy="4434840"/>
          </a:xfrm>
          <a:prstGeom prst="roundRect">
            <a:avLst>
              <a:gd name="adj" fmla="val 1649"/>
            </a:avLst>
          </a:prstGeom>
          <a:solidFill>
            <a:srgbClr val="0E1B31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828800"/>
            <a:ext cx="1600200" cy="310896"/>
          </a:xfrm>
          <a:prstGeom prst="rect">
            <a:avLst/>
          </a:prstGeom>
          <a:solidFill>
            <a:srgbClr val="2F6BFF"/>
          </a:solidFill>
          <a:ln>
            <a:solidFill>
              <a:srgbClr val="2F6BF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STANDARD WORKFLOW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26771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</a:rPr>
              <a:t>Best for fixed, repeatable logic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32688" y="2903220"/>
            <a:ext cx="100584" cy="100584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15568" y="2834640"/>
            <a:ext cx="3931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D3D"/>
                </a:solidFill>
              </a:rPr>
              <a:t>Same input usually leads to the same path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32688" y="3561588"/>
            <a:ext cx="100584" cy="100584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15568" y="3493008"/>
            <a:ext cx="3931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D3D"/>
                </a:solidFill>
              </a:rPr>
              <a:t>Strong for data transfer, notifications, updates, and rules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32688" y="4219956"/>
            <a:ext cx="100584" cy="100584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15568" y="4151376"/>
            <a:ext cx="3931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D3D"/>
                </a:solidFill>
              </a:rPr>
              <a:t>Highly predictable and easy to audit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89320" y="1847088"/>
            <a:ext cx="1234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3D5FF"/>
                </a:solidFill>
              </a:rPr>
              <a:t>AI agents</a:t>
            </a:r>
            <a:endParaRPr lang="en-US" sz="1200" dirty="0"/>
          </a:p>
        </p:txBody>
      </p:sp>
      <p:pic>
        <p:nvPicPr>
          <p:cNvPr id="15" name="Image 0" descr="/mnt/data/wide_futuristic_tech_illustration_scene_a_dark_na.png"/>
          <p:cNvPicPr>
            <a:picLocks noChangeAspect="1"/>
          </p:cNvPicPr>
          <p:nvPr/>
        </p:nvPicPr>
        <p:blipFill>
          <a:blip r:embed="rId3"/>
          <a:srcRect l="16000" t="16000" r="239" b="16000"/>
          <a:stretch/>
        </p:blipFill>
        <p:spPr>
          <a:xfrm>
            <a:off x="5897880" y="2103120"/>
            <a:ext cx="5303520" cy="24231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961888" y="473659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Can reason, choose tools, and act toward a goal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448288" y="642823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B8A9A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D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makes an n8n AI agent work?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113385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20" dirty="0">
                <a:solidFill>
                  <a:srgbClr val="62758A"/>
                </a:solidFill>
              </a:rPr>
              <a:t>Key components behind agentic automation</a:t>
            </a:r>
            <a:endParaRPr lang="en-US" sz="1420" dirty="0"/>
          </a:p>
        </p:txBody>
      </p:sp>
      <p:sp>
        <p:nvSpPr>
          <p:cNvPr id="4" name="Shape 2"/>
          <p:cNvSpPr/>
          <p:nvPr/>
        </p:nvSpPr>
        <p:spPr>
          <a:xfrm>
            <a:off x="5349240" y="2267712"/>
            <a:ext cx="1508760" cy="1508760"/>
          </a:xfrm>
          <a:prstGeom prst="ellipse">
            <a:avLst/>
          </a:prstGeom>
          <a:solidFill>
            <a:srgbClr val="132948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49240" y="2651760"/>
            <a:ext cx="1508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AI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Agent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828800" y="1664208"/>
            <a:ext cx="1920240" cy="822960"/>
          </a:xfrm>
          <a:prstGeom prst="roundRect">
            <a:avLst/>
          </a:prstGeom>
          <a:solidFill>
            <a:srgbClr val="E8F8F6"/>
          </a:solidFill>
          <a:ln w="12700">
            <a:solidFill>
              <a:srgbClr val="B8EA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938528" y="1792224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Goal / Prompt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38528" y="2020824"/>
            <a:ext cx="1700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80" dirty="0">
                <a:solidFill>
                  <a:srgbClr val="62758A"/>
                </a:solidFill>
              </a:rPr>
              <a:t>Defines the task and expected behavior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8366760" y="1664208"/>
            <a:ext cx="1920240" cy="822960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CFE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476488" y="1792224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Tools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476488" y="2020824"/>
            <a:ext cx="1700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80" dirty="0">
                <a:solidFill>
                  <a:srgbClr val="62758A"/>
                </a:solidFill>
              </a:rPr>
              <a:t>Web, APIs, files, databases, email, apps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1828800" y="4041648"/>
            <a:ext cx="1920240" cy="822960"/>
          </a:xfrm>
          <a:prstGeom prst="roundRect">
            <a:avLst/>
          </a:prstGeom>
          <a:solidFill>
            <a:srgbClr val="F0EAFE"/>
          </a:solidFill>
          <a:ln w="12700">
            <a:solidFill>
              <a:srgbClr val="DED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938528" y="4169664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Memory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938528" y="4398264"/>
            <a:ext cx="1700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80" dirty="0">
                <a:solidFill>
                  <a:srgbClr val="62758A"/>
                </a:solidFill>
              </a:rPr>
              <a:t>Keeps useful context across interactions</a:t>
            </a:r>
            <a:endParaRPr lang="en-US" sz="1280" dirty="0"/>
          </a:p>
        </p:txBody>
      </p:sp>
      <p:sp>
        <p:nvSpPr>
          <p:cNvPr id="15" name="Shape 13"/>
          <p:cNvSpPr/>
          <p:nvPr/>
        </p:nvSpPr>
        <p:spPr>
          <a:xfrm>
            <a:off x="8366760" y="4041648"/>
            <a:ext cx="1920240" cy="822960"/>
          </a:xfrm>
          <a:prstGeom prst="roundRect">
            <a:avLst/>
          </a:prstGeom>
          <a:solidFill>
            <a:srgbClr val="FFF3E8"/>
          </a:solidFill>
          <a:ln w="12700">
            <a:solidFill>
              <a:srgbClr val="FFD9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476488" y="4169664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Guardrails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76488" y="4398264"/>
            <a:ext cx="1700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80" dirty="0">
                <a:solidFill>
                  <a:srgbClr val="62758A"/>
                </a:solidFill>
              </a:rPr>
              <a:t>Limits, approvals, and logging for safety</a:t>
            </a:r>
            <a:endParaRPr lang="en-US" sz="1280" dirty="0"/>
          </a:p>
        </p:txBody>
      </p:sp>
      <p:sp>
        <p:nvSpPr>
          <p:cNvPr id="18" name="Shape 16"/>
          <p:cNvSpPr/>
          <p:nvPr/>
        </p:nvSpPr>
        <p:spPr>
          <a:xfrm>
            <a:off x="2788920" y="5504688"/>
            <a:ext cx="65379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971800" y="5669280"/>
            <a:ext cx="6126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4E68"/>
                </a:solidFill>
              </a:rPr>
              <a:t>An n8n AI agent always needs tools to be useful in real workflows, not just text generation.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448288" y="642823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B8A9A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8046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D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use cases students can relate to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113385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20" dirty="0">
                <a:solidFill>
                  <a:srgbClr val="62758A"/>
                </a:solidFill>
              </a:rPr>
              <a:t>Where automation and agents become practical</a:t>
            </a:r>
            <a:endParaRPr lang="en-US" sz="1420" dirty="0"/>
          </a:p>
        </p:txBody>
      </p:sp>
      <p:sp>
        <p:nvSpPr>
          <p:cNvPr id="5" name="Shape 2"/>
          <p:cNvSpPr/>
          <p:nvPr/>
        </p:nvSpPr>
        <p:spPr>
          <a:xfrm>
            <a:off x="566928" y="1755648"/>
            <a:ext cx="49834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41248" y="1993392"/>
            <a:ext cx="4389120" cy="84124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E1EA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24128" y="2093976"/>
            <a:ext cx="3794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80" b="1" dirty="0">
                <a:solidFill>
                  <a:srgbClr val="0D1B2A"/>
                </a:solidFill>
              </a:rPr>
              <a:t>Research digest</a:t>
            </a:r>
            <a:endParaRPr lang="en-US" sz="1580" dirty="0"/>
          </a:p>
        </p:txBody>
      </p:sp>
      <p:sp>
        <p:nvSpPr>
          <p:cNvPr id="8" name="Text 5"/>
          <p:cNvSpPr/>
          <p:nvPr/>
        </p:nvSpPr>
        <p:spPr>
          <a:xfrm>
            <a:off x="1024128" y="23408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1F2D3D"/>
                </a:solidFill>
              </a:rPr>
              <a:t>Collect new articles, summarize them, and send a weekly study brief.</a:t>
            </a:r>
            <a:endParaRPr lang="en-US" sz="1280" dirty="0"/>
          </a:p>
        </p:txBody>
      </p:sp>
      <p:sp>
        <p:nvSpPr>
          <p:cNvPr id="9" name="Shape 6"/>
          <p:cNvSpPr/>
          <p:nvPr/>
        </p:nvSpPr>
        <p:spPr>
          <a:xfrm>
            <a:off x="841248" y="2953512"/>
            <a:ext cx="4389120" cy="841248"/>
          </a:xfrm>
          <a:prstGeom prst="roundRect">
            <a:avLst/>
          </a:prstGeom>
          <a:solidFill>
            <a:srgbClr val="F3FBFA"/>
          </a:solidFill>
          <a:ln w="12700">
            <a:solidFill>
              <a:srgbClr val="E1EA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024128" y="3054096"/>
            <a:ext cx="3794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80" b="1" dirty="0">
                <a:solidFill>
                  <a:srgbClr val="0D1B2A"/>
                </a:solidFill>
              </a:rPr>
              <a:t>Course reminders</a:t>
            </a:r>
            <a:endParaRPr lang="en-US" sz="1580" dirty="0"/>
          </a:p>
        </p:txBody>
      </p:sp>
      <p:sp>
        <p:nvSpPr>
          <p:cNvPr id="11" name="Text 8"/>
          <p:cNvSpPr/>
          <p:nvPr/>
        </p:nvSpPr>
        <p:spPr>
          <a:xfrm>
            <a:off x="1024128" y="33009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1F2D3D"/>
                </a:solidFill>
              </a:rPr>
              <a:t>Trigger deadline alerts from a calendar, form, or spreadsheet update.</a:t>
            </a:r>
            <a:endParaRPr lang="en-US" sz="1280" dirty="0"/>
          </a:p>
        </p:txBody>
      </p:sp>
      <p:sp>
        <p:nvSpPr>
          <p:cNvPr id="12" name="Shape 9"/>
          <p:cNvSpPr/>
          <p:nvPr/>
        </p:nvSpPr>
        <p:spPr>
          <a:xfrm>
            <a:off x="841248" y="3913632"/>
            <a:ext cx="4389120" cy="841248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E1EA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24128" y="4014216"/>
            <a:ext cx="3794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80" b="1" dirty="0">
                <a:solidFill>
                  <a:srgbClr val="0D1B2A"/>
                </a:solidFill>
              </a:rPr>
              <a:t>Document triage</a:t>
            </a:r>
            <a:endParaRPr lang="en-US" sz="1580" dirty="0"/>
          </a:p>
        </p:txBody>
      </p:sp>
      <p:sp>
        <p:nvSpPr>
          <p:cNvPr id="14" name="Text 11"/>
          <p:cNvSpPr/>
          <p:nvPr/>
        </p:nvSpPr>
        <p:spPr>
          <a:xfrm>
            <a:off x="1024128" y="426110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1F2D3D"/>
                </a:solidFill>
              </a:rPr>
              <a:t>Read files, label them, route them to folders, and notify the right person.</a:t>
            </a:r>
            <a:endParaRPr lang="en-US" sz="1280" dirty="0"/>
          </a:p>
        </p:txBody>
      </p:sp>
      <p:sp>
        <p:nvSpPr>
          <p:cNvPr id="15" name="Shape 12"/>
          <p:cNvSpPr/>
          <p:nvPr/>
        </p:nvSpPr>
        <p:spPr>
          <a:xfrm>
            <a:off x="841248" y="4873752"/>
            <a:ext cx="4389120" cy="841248"/>
          </a:xfrm>
          <a:prstGeom prst="roundRect">
            <a:avLst/>
          </a:prstGeom>
          <a:solidFill>
            <a:srgbClr val="F3FBFA"/>
          </a:solidFill>
          <a:ln w="12700">
            <a:solidFill>
              <a:srgbClr val="E1EA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024128" y="4974336"/>
            <a:ext cx="3794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80" b="1" dirty="0">
                <a:solidFill>
                  <a:srgbClr val="0D1B2A"/>
                </a:solidFill>
              </a:rPr>
              <a:t>Feedback assistant</a:t>
            </a:r>
            <a:endParaRPr lang="en-US" sz="1580" dirty="0"/>
          </a:p>
        </p:txBody>
      </p:sp>
      <p:sp>
        <p:nvSpPr>
          <p:cNvPr id="17" name="Text 14"/>
          <p:cNvSpPr/>
          <p:nvPr/>
        </p:nvSpPr>
        <p:spPr>
          <a:xfrm>
            <a:off x="1024128" y="522122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1F2D3D"/>
                </a:solidFill>
              </a:rPr>
              <a:t>Analyze survey answers, group comments, and create a short report.</a:t>
            </a:r>
            <a:endParaRPr lang="en-US" sz="1280" dirty="0"/>
          </a:p>
        </p:txBody>
      </p:sp>
      <p:sp>
        <p:nvSpPr>
          <p:cNvPr id="19" name="Text 16"/>
          <p:cNvSpPr/>
          <p:nvPr/>
        </p:nvSpPr>
        <p:spPr>
          <a:xfrm>
            <a:off x="6656832" y="5641848"/>
            <a:ext cx="44074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40" dirty="0">
                <a:solidFill>
                  <a:srgbClr val="FFFFFF"/>
                </a:solidFill>
              </a:rPr>
              <a:t>The same ideas can later scale into business, nonprofit, or research automation projects.</a:t>
            </a:r>
            <a:endParaRPr lang="en-US" sz="1440" dirty="0"/>
          </a:p>
        </p:txBody>
      </p:sp>
      <p:sp>
        <p:nvSpPr>
          <p:cNvPr id="20" name="Text 17"/>
          <p:cNvSpPr/>
          <p:nvPr/>
        </p:nvSpPr>
        <p:spPr>
          <a:xfrm>
            <a:off x="11448288" y="642823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B8A9A"/>
                </a:solidFill>
              </a:rPr>
              <a:t>8</a:t>
            </a:r>
            <a:endParaRPr lang="en-US" sz="10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1089AC8-C4BF-CEA7-020E-8DBF555F3B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389888"/>
            <a:ext cx="6614232" cy="4192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AB95B7-DDBB-B5E3-C8A0-FFCD17008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04" y="282972"/>
            <a:ext cx="10085878" cy="4310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234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10CDE5-9251-D8B8-D4E1-D0AE11D9A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428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DBAA3F-6E6A-ADCF-9A4A-09012B16F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462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1541</TotalTime>
  <Words>576</Words>
  <Application>Microsoft Office PowerPoint</Application>
  <PresentationFormat>Widescreen</PresentationFormat>
  <Paragraphs>101</Paragraphs>
  <Slides>13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Started with n8n: Workflow Automation and AI Agents</dc:title>
  <dc:subject>Getting Started with n8n</dc:subject>
  <dc:creator>OpenAI</dc:creator>
  <cp:lastModifiedBy>Wael Rahhal</cp:lastModifiedBy>
  <cp:revision>4</cp:revision>
  <dcterms:created xsi:type="dcterms:W3CDTF">2026-05-12T16:06:27Z</dcterms:created>
  <dcterms:modified xsi:type="dcterms:W3CDTF">2026-08-19T13:33:28Z</dcterms:modified>
</cp:coreProperties>
</file>
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9" r:id="rId2"/>
    <p:sldId id="266" r:id="rId3"/>
    <p:sldId id="267" r:id="rId4"/>
    <p:sldId id="268" r:id="rId5"/>
    <p:sldId id="270" r:id="rId6"/>
    <p:sldId id="271" r:id="rId7"/>
    <p:sldId id="272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93DAD-C11E-4D01-AA3B-A6D9DA824179}" v="3" dt="2026-05-20T00:45:43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6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Rahhal" userId="afaccfd8e26ace3b" providerId="LiveId" clId="{462B6756-69BB-4E0B-B430-22A60DFF5832}"/>
    <pc:docChg chg="custSel addSld modSld">
      <pc:chgData name="Wael Rahhal" userId="afaccfd8e26ace3b" providerId="LiveId" clId="{462B6756-69BB-4E0B-B430-22A60DFF5832}" dt="2026-05-20T00:45:43.879" v="7"/>
      <pc:docMkLst>
        <pc:docMk/>
      </pc:docMkLst>
      <pc:sldChg chg="delSp modSp add mod setBg">
        <pc:chgData name="Wael Rahhal" userId="afaccfd8e26ace3b" providerId="LiveId" clId="{462B6756-69BB-4E0B-B430-22A60DFF5832}" dt="2026-05-20T00:38:00.749" v="3" actId="478"/>
        <pc:sldMkLst>
          <pc:docMk/>
          <pc:sldMk cId="0" sldId="266"/>
        </pc:sldMkLst>
        <pc:spChg chg="del mod">
          <ac:chgData name="Wael Rahhal" userId="afaccfd8e26ace3b" providerId="LiveId" clId="{462B6756-69BB-4E0B-B430-22A60DFF5832}" dt="2026-05-20T00:37:57.775" v="2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Wael Rahhal" userId="afaccfd8e26ace3b" providerId="LiveId" clId="{462B6756-69BB-4E0B-B430-22A60DFF5832}" dt="2026-05-20T00:38:00.749" v="3" actId="478"/>
          <ac:spMkLst>
            <pc:docMk/>
            <pc:sldMk cId="0" sldId="266"/>
            <ac:spMk id="5" creationId="{00000000-0000-0000-0000-000000000000}"/>
          </ac:spMkLst>
        </pc:spChg>
      </pc:sldChg>
      <pc:sldChg chg="add setBg">
        <pc:chgData name="Wael Rahhal" userId="afaccfd8e26ace3b" providerId="LiveId" clId="{462B6756-69BB-4E0B-B430-22A60DFF5832}" dt="2026-05-20T00:37:50.776" v="0"/>
        <pc:sldMkLst>
          <pc:docMk/>
          <pc:sldMk cId="0" sldId="267"/>
        </pc:sldMkLst>
      </pc:sldChg>
      <pc:sldChg chg="add setBg">
        <pc:chgData name="Wael Rahhal" userId="afaccfd8e26ace3b" providerId="LiveId" clId="{462B6756-69BB-4E0B-B430-22A60DFF5832}" dt="2026-05-20T00:37:50.776" v="0"/>
        <pc:sldMkLst>
          <pc:docMk/>
          <pc:sldMk cId="0" sldId="268"/>
        </pc:sldMkLst>
      </pc:sldChg>
      <pc:sldChg chg="addSp modSp new mod">
        <pc:chgData name="Wael Rahhal" userId="afaccfd8e26ace3b" providerId="LiveId" clId="{462B6756-69BB-4E0B-B430-22A60DFF5832}" dt="2026-05-20T00:38:20.947" v="6" actId="1076"/>
        <pc:sldMkLst>
          <pc:docMk/>
          <pc:sldMk cId="2674973165" sldId="269"/>
        </pc:sldMkLst>
        <pc:spChg chg="add mod">
          <ac:chgData name="Wael Rahhal" userId="afaccfd8e26ace3b" providerId="LiveId" clId="{462B6756-69BB-4E0B-B430-22A60DFF5832}" dt="2026-05-20T00:38:20.947" v="6" actId="1076"/>
          <ac:spMkLst>
            <pc:docMk/>
            <pc:sldMk cId="2674973165" sldId="269"/>
            <ac:spMk id="2" creationId="{DC3981FD-4212-BEE5-D829-0E069E1406A3}"/>
          </ac:spMkLst>
        </pc:spChg>
      </pc:sldChg>
      <pc:sldChg chg="add setBg">
        <pc:chgData name="Wael Rahhal" userId="afaccfd8e26ace3b" providerId="LiveId" clId="{462B6756-69BB-4E0B-B430-22A60DFF5832}" dt="2026-05-20T00:45:43.879" v="7"/>
        <pc:sldMkLst>
          <pc:docMk/>
          <pc:sldMk cId="0" sldId="270"/>
        </pc:sldMkLst>
      </pc:sldChg>
      <pc:sldChg chg="add setBg">
        <pc:chgData name="Wael Rahhal" userId="afaccfd8e26ace3b" providerId="LiveId" clId="{462B6756-69BB-4E0B-B430-22A60DFF5832}" dt="2026-05-20T00:45:43.879" v="7"/>
        <pc:sldMkLst>
          <pc:docMk/>
          <pc:sldMk cId="0" sldId="271"/>
        </pc:sldMkLst>
      </pc:sldChg>
      <pc:sldChg chg="add setBg">
        <pc:chgData name="Wael Rahhal" userId="afaccfd8e26ace3b" providerId="LiveId" clId="{462B6756-69BB-4E0B-B430-22A60DFF5832}" dt="2026-05-20T00:45:43.879" v="7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07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3981FD-4212-BEE5-D829-0E069E1406A3}"/>
              </a:ext>
            </a:extLst>
          </p:cNvPr>
          <p:cNvSpPr/>
          <p:nvPr/>
        </p:nvSpPr>
        <p:spPr>
          <a:xfrm>
            <a:off x="3137975" y="1910569"/>
            <a:ext cx="61036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First AI Chatbot in n8n</a:t>
            </a:r>
            <a:endParaRPr lang="en-US" sz="2175" dirty="0"/>
          </a:p>
        </p:txBody>
      </p:sp>
    </p:spTree>
    <p:extLst>
      <p:ext uri="{BB962C8B-B14F-4D97-AF65-F5344CB8AC3E}">
        <p14:creationId xmlns:p14="http://schemas.microsoft.com/office/powerpoint/2010/main" val="2674973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40030"/>
            <a:ext cx="61036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First AI Chatbot in n8n</a:t>
            </a:r>
            <a:endParaRPr lang="en-US" sz="2175" dirty="0"/>
          </a:p>
        </p:txBody>
      </p:sp>
      <p:sp>
        <p:nvSpPr>
          <p:cNvPr id="3" name="Text 1"/>
          <p:cNvSpPr/>
          <p:nvPr/>
        </p:nvSpPr>
        <p:spPr>
          <a:xfrm>
            <a:off x="397764" y="617220"/>
            <a:ext cx="740664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dirty="0">
                <a:solidFill>
                  <a:srgbClr val="64748B"/>
                </a:solidFill>
              </a:rPr>
              <a:t>A beginner workflow that connects a chat window to an OpenRouter free model.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2626614" y="891540"/>
            <a:ext cx="822960" cy="233172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en-US" sz="863" b="1" dirty="0">
                <a:solidFill>
                  <a:srgbClr val="0F172A"/>
                </a:solidFill>
              </a:rPr>
              <a:t>One API key</a:t>
            </a:r>
            <a:endParaRPr lang="en-US" sz="863" dirty="0"/>
          </a:p>
        </p:txBody>
      </p:sp>
      <p:pic>
        <p:nvPicPr>
          <p:cNvPr id="7" name="Image 0" descr="/mnt/data/workflow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90" y="867445"/>
            <a:ext cx="4526280" cy="17626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69664" y="30312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</a:rPr>
              <a:t>What students build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69664" y="3346704"/>
            <a:ext cx="4286250" cy="5074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45" dirty="0">
                <a:solidFill>
                  <a:srgbClr val="64748B"/>
                </a:solidFill>
              </a:rPr>
              <a:t>The chat opens inside n8n, sends the student question to the AI Chain, and receives a clear answer from the OpenRouter model.</a:t>
            </a:r>
            <a:endParaRPr lang="en-US" sz="945" dirty="0"/>
          </a:p>
        </p:txBody>
      </p:sp>
      <p:sp>
        <p:nvSpPr>
          <p:cNvPr id="10" name="Text 7"/>
          <p:cNvSpPr/>
          <p:nvPr/>
        </p:nvSpPr>
        <p:spPr>
          <a:xfrm>
            <a:off x="397764" y="1371600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F172A"/>
                </a:solidFill>
              </a:rPr>
              <a:t>Core idea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411480" y="1700784"/>
            <a:ext cx="3360420" cy="6172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1013" dirty="0">
                <a:solidFill>
                  <a:srgbClr val="64748B"/>
                </a:solidFill>
              </a:rPr>
              <a:t>This is the simplest AI workflow for students: one trigger, one chain, and one model. It teaches how n8n passes chat input into an LLM and returns a response.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425196" y="2743200"/>
            <a:ext cx="260604" cy="260604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</a:rPr>
              <a:t>1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788670" y="2736342"/>
            <a:ext cx="27774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73" b="1" dirty="0">
                <a:solidFill>
                  <a:srgbClr val="0F172A"/>
                </a:solidFill>
              </a:rPr>
              <a:t>Chat Trigger</a:t>
            </a:r>
            <a:endParaRPr lang="en-US" sz="1073" dirty="0"/>
          </a:p>
        </p:txBody>
      </p:sp>
      <p:sp>
        <p:nvSpPr>
          <p:cNvPr id="14" name="Text 11"/>
          <p:cNvSpPr/>
          <p:nvPr/>
        </p:nvSpPr>
        <p:spPr>
          <a:xfrm>
            <a:off x="788670" y="2996946"/>
            <a:ext cx="2914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63" dirty="0">
                <a:solidFill>
                  <a:srgbClr val="64748B"/>
                </a:solidFill>
              </a:rPr>
              <a:t>Receives the student message.</a:t>
            </a:r>
            <a:endParaRPr lang="en-US" sz="863" dirty="0"/>
          </a:p>
        </p:txBody>
      </p:sp>
      <p:sp>
        <p:nvSpPr>
          <p:cNvPr id="15" name="Text 12"/>
          <p:cNvSpPr/>
          <p:nvPr/>
        </p:nvSpPr>
        <p:spPr>
          <a:xfrm>
            <a:off x="425196" y="3394710"/>
            <a:ext cx="260604" cy="260604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</a:rPr>
              <a:t>2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788670" y="3387852"/>
            <a:ext cx="27774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73" b="1" dirty="0">
                <a:solidFill>
                  <a:srgbClr val="0F172A"/>
                </a:solidFill>
              </a:rPr>
              <a:t>AI Chain</a:t>
            </a:r>
            <a:endParaRPr lang="en-US" sz="1073" dirty="0"/>
          </a:p>
        </p:txBody>
      </p:sp>
      <p:sp>
        <p:nvSpPr>
          <p:cNvPr id="17" name="Text 14"/>
          <p:cNvSpPr/>
          <p:nvPr/>
        </p:nvSpPr>
        <p:spPr>
          <a:xfrm>
            <a:off x="788670" y="3648456"/>
            <a:ext cx="2914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63" dirty="0">
                <a:solidFill>
                  <a:srgbClr val="64748B"/>
                </a:solidFill>
              </a:rPr>
              <a:t>Combines tutor prompt + question.</a:t>
            </a:r>
            <a:endParaRPr lang="en-US" sz="863" dirty="0"/>
          </a:p>
        </p:txBody>
      </p:sp>
      <p:sp>
        <p:nvSpPr>
          <p:cNvPr id="18" name="Text 15"/>
          <p:cNvSpPr/>
          <p:nvPr/>
        </p:nvSpPr>
        <p:spPr>
          <a:xfrm>
            <a:off x="425196" y="4046220"/>
            <a:ext cx="260604" cy="260604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</a:rPr>
              <a:t>3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788670" y="4039362"/>
            <a:ext cx="27774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73" b="1" dirty="0">
                <a:solidFill>
                  <a:srgbClr val="0F172A"/>
                </a:solidFill>
              </a:rPr>
              <a:t>OpenRouter Chat Model</a:t>
            </a:r>
            <a:endParaRPr lang="en-US" sz="1073" dirty="0"/>
          </a:p>
        </p:txBody>
      </p:sp>
      <p:sp>
        <p:nvSpPr>
          <p:cNvPr id="20" name="Text 17"/>
          <p:cNvSpPr/>
          <p:nvPr/>
        </p:nvSpPr>
        <p:spPr>
          <a:xfrm>
            <a:off x="788670" y="4299966"/>
            <a:ext cx="2914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63" dirty="0">
                <a:solidFill>
                  <a:srgbClr val="64748B"/>
                </a:solidFill>
              </a:rPr>
              <a:t>Generates the response.</a:t>
            </a:r>
            <a:endParaRPr lang="en-US" sz="863" dirty="0"/>
          </a:p>
        </p:txBody>
      </p:sp>
      <p:sp>
        <p:nvSpPr>
          <p:cNvPr id="21" name="Text 18"/>
          <p:cNvSpPr/>
          <p:nvPr/>
        </p:nvSpPr>
        <p:spPr>
          <a:xfrm>
            <a:off x="377190" y="4882896"/>
            <a:ext cx="8298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38" dirty="0">
                <a:solidFill>
                  <a:srgbClr val="94A3B8"/>
                </a:solidFill>
              </a:rPr>
              <a:t>n8n beginner AI workflow: Chat Trigger → AI Chain → OpenRouter Chat Model</a:t>
            </a:r>
            <a:endParaRPr lang="en-US" sz="6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40030"/>
            <a:ext cx="61036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workflow runs</a:t>
            </a:r>
            <a:endParaRPr lang="en-US" sz="2175" dirty="0"/>
          </a:p>
        </p:txBody>
      </p:sp>
      <p:sp>
        <p:nvSpPr>
          <p:cNvPr id="3" name="Text 1"/>
          <p:cNvSpPr/>
          <p:nvPr/>
        </p:nvSpPr>
        <p:spPr>
          <a:xfrm>
            <a:off x="397764" y="617220"/>
            <a:ext cx="740664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dirty="0">
                <a:solidFill>
                  <a:srgbClr val="64748B"/>
                </a:solidFill>
              </a:rPr>
              <a:t>The student question moves through three simple nodes, then the answer returns to chat.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93776" y="1268730"/>
            <a:ext cx="1508760" cy="24003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53" b="1" dirty="0">
                <a:solidFill>
                  <a:srgbClr val="0F172A"/>
                </a:solidFill>
              </a:rPr>
              <a:t>Student asks</a:t>
            </a:r>
            <a:endParaRPr lang="en-US" sz="953" dirty="0"/>
          </a:p>
        </p:txBody>
      </p:sp>
      <p:sp>
        <p:nvSpPr>
          <p:cNvPr id="5" name="Text 3"/>
          <p:cNvSpPr/>
          <p:nvPr/>
        </p:nvSpPr>
        <p:spPr>
          <a:xfrm>
            <a:off x="390906" y="1597914"/>
            <a:ext cx="16802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8" dirty="0">
                <a:solidFill>
                  <a:srgbClr val="64748B"/>
                </a:solidFill>
              </a:rPr>
              <a:t>Chat Trigger</a:t>
            </a:r>
            <a:endParaRPr lang="en-US" sz="848" dirty="0"/>
          </a:p>
        </p:txBody>
      </p:sp>
      <p:sp>
        <p:nvSpPr>
          <p:cNvPr id="6" name="Shape 4"/>
          <p:cNvSpPr/>
          <p:nvPr/>
        </p:nvSpPr>
        <p:spPr>
          <a:xfrm>
            <a:off x="2105406" y="1385316"/>
            <a:ext cx="4114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2619756" y="1268730"/>
            <a:ext cx="1508760" cy="24003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53" b="1" dirty="0">
                <a:solidFill>
                  <a:srgbClr val="0F172A"/>
                </a:solidFill>
              </a:rPr>
              <a:t>Prompt prepared</a:t>
            </a:r>
            <a:endParaRPr lang="en-US" sz="953" dirty="0"/>
          </a:p>
        </p:txBody>
      </p:sp>
      <p:sp>
        <p:nvSpPr>
          <p:cNvPr id="8" name="Text 6"/>
          <p:cNvSpPr/>
          <p:nvPr/>
        </p:nvSpPr>
        <p:spPr>
          <a:xfrm>
            <a:off x="2516886" y="1597914"/>
            <a:ext cx="16802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8" dirty="0">
                <a:solidFill>
                  <a:srgbClr val="64748B"/>
                </a:solidFill>
              </a:rPr>
              <a:t>AI Chain</a:t>
            </a:r>
            <a:endParaRPr lang="en-US" sz="848" dirty="0"/>
          </a:p>
        </p:txBody>
      </p:sp>
      <p:sp>
        <p:nvSpPr>
          <p:cNvPr id="9" name="Shape 7"/>
          <p:cNvSpPr/>
          <p:nvPr/>
        </p:nvSpPr>
        <p:spPr>
          <a:xfrm>
            <a:off x="4231386" y="1385316"/>
            <a:ext cx="4114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4745736" y="1268730"/>
            <a:ext cx="1508760" cy="24003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53" b="1" dirty="0">
                <a:solidFill>
                  <a:srgbClr val="0F172A"/>
                </a:solidFill>
              </a:rPr>
              <a:t>Answer generated</a:t>
            </a:r>
            <a:endParaRPr lang="en-US" sz="953" dirty="0"/>
          </a:p>
        </p:txBody>
      </p:sp>
      <p:sp>
        <p:nvSpPr>
          <p:cNvPr id="11" name="Text 9"/>
          <p:cNvSpPr/>
          <p:nvPr/>
        </p:nvSpPr>
        <p:spPr>
          <a:xfrm>
            <a:off x="4642866" y="1597914"/>
            <a:ext cx="16802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8" dirty="0">
                <a:solidFill>
                  <a:srgbClr val="64748B"/>
                </a:solidFill>
              </a:rPr>
              <a:t>OpenRouter free model</a:t>
            </a:r>
            <a:endParaRPr lang="en-US" sz="848" dirty="0"/>
          </a:p>
        </p:txBody>
      </p:sp>
      <p:sp>
        <p:nvSpPr>
          <p:cNvPr id="12" name="Shape 10"/>
          <p:cNvSpPr/>
          <p:nvPr/>
        </p:nvSpPr>
        <p:spPr>
          <a:xfrm>
            <a:off x="6357366" y="1385316"/>
            <a:ext cx="4114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6871716" y="1268730"/>
            <a:ext cx="1508760" cy="24003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53" b="1" dirty="0">
                <a:solidFill>
                  <a:srgbClr val="0F172A"/>
                </a:solidFill>
              </a:rPr>
              <a:t>Reply displayed</a:t>
            </a:r>
            <a:endParaRPr lang="en-US" sz="953" dirty="0"/>
          </a:p>
        </p:txBody>
      </p:sp>
      <p:sp>
        <p:nvSpPr>
          <p:cNvPr id="14" name="Text 12"/>
          <p:cNvSpPr/>
          <p:nvPr/>
        </p:nvSpPr>
        <p:spPr>
          <a:xfrm>
            <a:off x="6768846" y="1597914"/>
            <a:ext cx="16802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8" dirty="0">
                <a:solidFill>
                  <a:srgbClr val="64748B"/>
                </a:solidFill>
              </a:rPr>
              <a:t>n8n chat</a:t>
            </a:r>
            <a:endParaRPr lang="en-US" sz="848" dirty="0"/>
          </a:p>
        </p:txBody>
      </p:sp>
      <p:pic>
        <p:nvPicPr>
          <p:cNvPr id="15" name="Image 0" descr="/mnt/data/workflow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108730"/>
            <a:ext cx="3874770" cy="1508971"/>
          </a:xfrm>
          <a:prstGeom prst="rect">
            <a:avLst/>
          </a:prstGeom>
        </p:spPr>
      </p:pic>
      <p:pic>
        <p:nvPicPr>
          <p:cNvPr id="16" name="Image 1" descr="/mnt/data/chat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61" y="2091690"/>
            <a:ext cx="3640468" cy="15430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" y="3922776"/>
            <a:ext cx="1508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F172A"/>
                </a:solidFill>
              </a:rPr>
              <a:t>Teaching focus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2091690" y="3922776"/>
            <a:ext cx="6343650" cy="2880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60" dirty="0">
                <a:solidFill>
                  <a:srgbClr val="64748B"/>
                </a:solidFill>
              </a:rPr>
              <a:t>Students learn trigger, input, prompt, model, output, and execution logs before moving to PDF chatbots or vector stores.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377190" y="4882896"/>
            <a:ext cx="8298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38" dirty="0">
                <a:solidFill>
                  <a:srgbClr val="94A3B8"/>
                </a:solidFill>
              </a:rPr>
              <a:t>Use this as the first n8n AI lesson before embeddings, RAG, or multi-step automations.</a:t>
            </a:r>
            <a:endParaRPr lang="en-US" sz="6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40030"/>
            <a:ext cx="61036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testing checklist</a:t>
            </a:r>
            <a:endParaRPr lang="en-US" sz="2175" dirty="0"/>
          </a:p>
        </p:txBody>
      </p:sp>
      <p:sp>
        <p:nvSpPr>
          <p:cNvPr id="3" name="Text 1"/>
          <p:cNvSpPr/>
          <p:nvPr/>
        </p:nvSpPr>
        <p:spPr>
          <a:xfrm>
            <a:off x="397764" y="617220"/>
            <a:ext cx="740664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dirty="0">
                <a:solidFill>
                  <a:srgbClr val="64748B"/>
                </a:solidFill>
              </a:rPr>
              <a:t>Free OpenRouter models work, but students should know the common limits and fixes.</a:t>
            </a:r>
            <a:endParaRPr lang="en-US" sz="1013" dirty="0"/>
          </a:p>
        </p:txBody>
      </p:sp>
      <p:pic>
        <p:nvPicPr>
          <p:cNvPr id="4" name="Image 0" descr="/mnt/data/chat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" y="1010434"/>
            <a:ext cx="4080510" cy="2196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34890" y="973836"/>
            <a:ext cx="3291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F172A"/>
                </a:solidFill>
              </a:rPr>
              <a:t>Recommended settings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834890" y="1385316"/>
            <a:ext cx="1062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15" b="1" dirty="0">
                <a:solidFill>
                  <a:srgbClr val="0F172A"/>
                </a:solidFill>
              </a:rPr>
              <a:t>Model</a:t>
            </a:r>
            <a:endParaRPr lang="en-US" sz="915" dirty="0"/>
          </a:p>
        </p:txBody>
      </p:sp>
      <p:sp>
        <p:nvSpPr>
          <p:cNvPr id="7" name="Text 4"/>
          <p:cNvSpPr/>
          <p:nvPr/>
        </p:nvSpPr>
        <p:spPr>
          <a:xfrm>
            <a:off x="5952744" y="1385316"/>
            <a:ext cx="2674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64748B"/>
                </a:solidFill>
              </a:rPr>
              <a:t>Choose a dropdown model ending with :free.</a:t>
            </a:r>
            <a:endParaRPr lang="en-US" sz="915" dirty="0"/>
          </a:p>
        </p:txBody>
      </p:sp>
      <p:sp>
        <p:nvSpPr>
          <p:cNvPr id="8" name="Text 5"/>
          <p:cNvSpPr/>
          <p:nvPr/>
        </p:nvSpPr>
        <p:spPr>
          <a:xfrm>
            <a:off x="4834890" y="1899666"/>
            <a:ext cx="1062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15" b="1" dirty="0">
                <a:solidFill>
                  <a:srgbClr val="0F172A"/>
                </a:solidFill>
              </a:rPr>
              <a:t>Max tokens</a:t>
            </a:r>
            <a:endParaRPr lang="en-US" sz="915" dirty="0"/>
          </a:p>
        </p:txBody>
      </p:sp>
      <p:sp>
        <p:nvSpPr>
          <p:cNvPr id="9" name="Text 6"/>
          <p:cNvSpPr/>
          <p:nvPr/>
        </p:nvSpPr>
        <p:spPr>
          <a:xfrm>
            <a:off x="5952744" y="1899666"/>
            <a:ext cx="2674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64748B"/>
                </a:solidFill>
              </a:rPr>
              <a:t>300–700 for beginner exercises.</a:t>
            </a:r>
            <a:endParaRPr lang="en-US" sz="915" dirty="0"/>
          </a:p>
        </p:txBody>
      </p:sp>
      <p:sp>
        <p:nvSpPr>
          <p:cNvPr id="10" name="Text 7"/>
          <p:cNvSpPr/>
          <p:nvPr/>
        </p:nvSpPr>
        <p:spPr>
          <a:xfrm>
            <a:off x="4834890" y="2414016"/>
            <a:ext cx="1062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15" b="1" dirty="0">
                <a:solidFill>
                  <a:srgbClr val="0F172A"/>
                </a:solidFill>
              </a:rPr>
              <a:t>Temperature</a:t>
            </a:r>
            <a:endParaRPr lang="en-US" sz="915" dirty="0"/>
          </a:p>
        </p:txBody>
      </p:sp>
      <p:sp>
        <p:nvSpPr>
          <p:cNvPr id="11" name="Text 8"/>
          <p:cNvSpPr/>
          <p:nvPr/>
        </p:nvSpPr>
        <p:spPr>
          <a:xfrm>
            <a:off x="5952744" y="2414016"/>
            <a:ext cx="2674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64748B"/>
                </a:solidFill>
              </a:rPr>
              <a:t>0.2 for stable teaching examples.</a:t>
            </a:r>
            <a:endParaRPr lang="en-US" sz="915" dirty="0"/>
          </a:p>
        </p:txBody>
      </p:sp>
      <p:sp>
        <p:nvSpPr>
          <p:cNvPr id="12" name="Text 9"/>
          <p:cNvSpPr/>
          <p:nvPr/>
        </p:nvSpPr>
        <p:spPr>
          <a:xfrm>
            <a:off x="4834890" y="2928366"/>
            <a:ext cx="1062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15" b="1" dirty="0">
                <a:solidFill>
                  <a:srgbClr val="0F172A"/>
                </a:solidFill>
              </a:rPr>
              <a:t>Rate limit</a:t>
            </a:r>
            <a:endParaRPr lang="en-US" sz="915" dirty="0"/>
          </a:p>
        </p:txBody>
      </p:sp>
      <p:sp>
        <p:nvSpPr>
          <p:cNvPr id="13" name="Text 10"/>
          <p:cNvSpPr/>
          <p:nvPr/>
        </p:nvSpPr>
        <p:spPr>
          <a:xfrm>
            <a:off x="5952744" y="2928366"/>
            <a:ext cx="2674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64748B"/>
                </a:solidFill>
              </a:rPr>
              <a:t>Wait, switch model, or reduce tokens.</a:t>
            </a:r>
            <a:endParaRPr lang="en-US" sz="915" dirty="0"/>
          </a:p>
        </p:txBody>
      </p:sp>
      <p:sp>
        <p:nvSpPr>
          <p:cNvPr id="14" name="Text 11"/>
          <p:cNvSpPr/>
          <p:nvPr/>
        </p:nvSpPr>
        <p:spPr>
          <a:xfrm>
            <a:off x="4834890" y="360045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0F172A"/>
                </a:solidFill>
              </a:rPr>
              <a:t>Good first prompts</a:t>
            </a:r>
            <a:endParaRPr lang="en-US" sz="1163" dirty="0"/>
          </a:p>
        </p:txBody>
      </p:sp>
      <p:sp>
        <p:nvSpPr>
          <p:cNvPr id="15" name="Text 12"/>
          <p:cNvSpPr/>
          <p:nvPr/>
        </p:nvSpPr>
        <p:spPr>
          <a:xfrm>
            <a:off x="4869180" y="3874770"/>
            <a:ext cx="3566160" cy="58293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38" dirty="0">
                <a:solidFill>
                  <a:srgbClr val="64748B"/>
                </a:solidFill>
              </a:rPr>
              <a:t>• Explain machine learning in simple words</a:t>
            </a:r>
            <a:endParaRPr lang="en-US" sz="938" dirty="0"/>
          </a:p>
          <a:p>
            <a:r>
              <a:rPr lang="en-US" sz="938" dirty="0">
                <a:solidFill>
                  <a:srgbClr val="64748B"/>
                </a:solidFill>
              </a:rPr>
              <a:t>• Give one example from my major</a:t>
            </a:r>
            <a:endParaRPr lang="en-US" sz="938" dirty="0"/>
          </a:p>
          <a:p>
            <a:r>
              <a:rPr lang="en-US" sz="938" dirty="0">
                <a:solidFill>
                  <a:srgbClr val="64748B"/>
                </a:solidFill>
              </a:rPr>
              <a:t>• Create 3 quiz questions with answers</a:t>
            </a:r>
            <a:endParaRPr lang="en-US" sz="938" dirty="0"/>
          </a:p>
        </p:txBody>
      </p:sp>
      <p:sp>
        <p:nvSpPr>
          <p:cNvPr id="16" name="Text 13"/>
          <p:cNvSpPr/>
          <p:nvPr/>
        </p:nvSpPr>
        <p:spPr>
          <a:xfrm>
            <a:off x="377190" y="4882896"/>
            <a:ext cx="8298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38" dirty="0">
                <a:solidFill>
                  <a:srgbClr val="94A3B8"/>
                </a:solidFill>
              </a:rPr>
              <a:t>If the API returns “too many requests,” the workflow is fine — the free provider is rate-limiting the model.</a:t>
            </a:r>
            <a:endParaRPr lang="en-US" sz="6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610" y="240030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method: build the chatbot yourself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308610" y="534924"/>
            <a:ext cx="8366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475569"/>
                </a:solidFill>
              </a:rPr>
              <a:t>Students learn the core n8n ideas: trigger, chain, model connection, prompt, and test.</a:t>
            </a:r>
            <a:endParaRPr lang="en-US" sz="713" dirty="0"/>
          </a:p>
        </p:txBody>
      </p:sp>
      <p:pic>
        <p:nvPicPr>
          <p:cNvPr id="4" name="Image 0" descr="/mnt/data/workflow_nodes.png"/>
          <p:cNvPicPr>
            <a:picLocks noChangeAspect="1"/>
          </p:cNvPicPr>
          <p:nvPr/>
        </p:nvPicPr>
        <p:blipFill>
          <a:blip r:embed="rId3"/>
          <a:srcRect l="3976" r="3976"/>
          <a:stretch/>
        </p:blipFill>
        <p:spPr>
          <a:xfrm>
            <a:off x="308610" y="843534"/>
            <a:ext cx="356616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434590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Manual canvas structure</a:t>
            </a:r>
            <a:endParaRPr lang="en-US" sz="788" dirty="0"/>
          </a:p>
        </p:txBody>
      </p:sp>
      <p:sp>
        <p:nvSpPr>
          <p:cNvPr id="6" name="Text 3"/>
          <p:cNvSpPr/>
          <p:nvPr/>
        </p:nvSpPr>
        <p:spPr>
          <a:xfrm>
            <a:off x="480060" y="2708910"/>
            <a:ext cx="106299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476" tIns="476" rIns="476" bIns="476" rtlCol="0" anchor="ctr">
            <a:normAutofit/>
          </a:bodyPr>
          <a:lstStyle/>
          <a:p>
            <a:pPr algn="ctr"/>
            <a:r>
              <a:rPr lang="en-US" sz="623" b="1" dirty="0">
                <a:solidFill>
                  <a:srgbClr val="0F172A"/>
                </a:solidFill>
              </a:rPr>
              <a:t>💬 Chat Trigger</a:t>
            </a:r>
            <a:endParaRPr lang="en-US" sz="623" dirty="0"/>
          </a:p>
        </p:txBody>
      </p:sp>
      <p:sp>
        <p:nvSpPr>
          <p:cNvPr id="7" name="Shape 4"/>
          <p:cNvSpPr/>
          <p:nvPr/>
        </p:nvSpPr>
        <p:spPr>
          <a:xfrm>
            <a:off x="1632204" y="2900934"/>
            <a:ext cx="45948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2139696" y="2708910"/>
            <a:ext cx="9601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476" tIns="476" rIns="476" bIns="476" rtlCol="0" anchor="ctr">
            <a:normAutofit/>
          </a:bodyPr>
          <a:lstStyle/>
          <a:p>
            <a:pPr algn="ctr"/>
            <a:r>
              <a:rPr lang="en-US" sz="623" b="1" dirty="0">
                <a:solidFill>
                  <a:srgbClr val="0F172A"/>
                </a:solidFill>
              </a:rPr>
              <a:t>🔗 AI Chain</a:t>
            </a:r>
            <a:endParaRPr lang="en-US" sz="623" dirty="0"/>
          </a:p>
        </p:txBody>
      </p:sp>
      <p:sp>
        <p:nvSpPr>
          <p:cNvPr id="9" name="Shape 6"/>
          <p:cNvSpPr/>
          <p:nvPr/>
        </p:nvSpPr>
        <p:spPr>
          <a:xfrm>
            <a:off x="3188970" y="2900934"/>
            <a:ext cx="45948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3703320" y="2708910"/>
            <a:ext cx="106299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476" tIns="476" rIns="476" bIns="476" rtlCol="0" anchor="ctr">
            <a:normAutofit/>
          </a:bodyPr>
          <a:lstStyle/>
          <a:p>
            <a:pPr algn="ctr"/>
            <a:r>
              <a:rPr lang="en-US" sz="623" b="1" dirty="0">
                <a:solidFill>
                  <a:srgbClr val="0F172A"/>
                </a:solidFill>
              </a:rPr>
              <a:t>🧠 OpenRouter</a:t>
            </a:r>
            <a:endParaRPr lang="en-US" sz="623" dirty="0"/>
          </a:p>
        </p:txBody>
      </p:sp>
      <p:sp>
        <p:nvSpPr>
          <p:cNvPr id="11" name="Text 8"/>
          <p:cNvSpPr/>
          <p:nvPr/>
        </p:nvSpPr>
        <p:spPr>
          <a:xfrm>
            <a:off x="480060" y="3257550"/>
            <a:ext cx="4183380" cy="24003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/>
          <a:lstStyle/>
          <a:p>
            <a:r>
              <a:rPr lang="en-US" sz="638" dirty="0">
                <a:solidFill>
                  <a:srgbClr val="475569"/>
                </a:solidFill>
              </a:rPr>
              <a:t>The model connects through the AI “Model” port, not a normal action arrow.</a:t>
            </a:r>
            <a:endParaRPr lang="en-US" sz="638" dirty="0"/>
          </a:p>
        </p:txBody>
      </p:sp>
      <p:sp>
        <p:nvSpPr>
          <p:cNvPr id="12" name="Shape 9"/>
          <p:cNvSpPr/>
          <p:nvPr/>
        </p:nvSpPr>
        <p:spPr>
          <a:xfrm>
            <a:off x="4834890" y="857250"/>
            <a:ext cx="3771900" cy="6172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0"/>
          <p:cNvSpPr/>
          <p:nvPr/>
        </p:nvSpPr>
        <p:spPr>
          <a:xfrm>
            <a:off x="4917186" y="953262"/>
            <a:ext cx="219456" cy="21945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1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205222" y="939546"/>
            <a:ext cx="32575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Add Chat Trigger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5205222" y="1145286"/>
            <a:ext cx="3278124" cy="30861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This creates the chat box in n8n. Students type a question and n8n starts the workflow.</a:t>
            </a:r>
            <a:endParaRPr lang="en-US" sz="585" dirty="0"/>
          </a:p>
        </p:txBody>
      </p:sp>
      <p:sp>
        <p:nvSpPr>
          <p:cNvPr id="16" name="Shape 13"/>
          <p:cNvSpPr/>
          <p:nvPr/>
        </p:nvSpPr>
        <p:spPr>
          <a:xfrm>
            <a:off x="4834890" y="1611630"/>
            <a:ext cx="3771900" cy="6172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Text 14"/>
          <p:cNvSpPr/>
          <p:nvPr/>
        </p:nvSpPr>
        <p:spPr>
          <a:xfrm>
            <a:off x="4917186" y="1707642"/>
            <a:ext cx="219456" cy="219456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2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5205222" y="1693926"/>
            <a:ext cx="32575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Add AI Chain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5205222" y="1899666"/>
            <a:ext cx="3278124" cy="30861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Use a simple prompt: “You are a friendly AI tutor. Answer clearly and briefly.”</a:t>
            </a:r>
            <a:endParaRPr lang="en-US" sz="585" dirty="0"/>
          </a:p>
        </p:txBody>
      </p:sp>
      <p:sp>
        <p:nvSpPr>
          <p:cNvPr id="20" name="Shape 17"/>
          <p:cNvSpPr/>
          <p:nvPr/>
        </p:nvSpPr>
        <p:spPr>
          <a:xfrm>
            <a:off x="4834890" y="2366010"/>
            <a:ext cx="3771900" cy="6172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 18"/>
          <p:cNvSpPr/>
          <p:nvPr/>
        </p:nvSpPr>
        <p:spPr>
          <a:xfrm>
            <a:off x="4917186" y="2462022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3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5205222" y="2448306"/>
            <a:ext cx="32575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Add OpenRouter Chat Model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5205222" y="2654046"/>
            <a:ext cx="3278124" cy="30861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Connect it under the AI Chain as the language model. Select a free model from the dropdown.</a:t>
            </a:r>
            <a:endParaRPr lang="en-US" sz="585" dirty="0"/>
          </a:p>
        </p:txBody>
      </p:sp>
      <p:sp>
        <p:nvSpPr>
          <p:cNvPr id="24" name="Shape 21"/>
          <p:cNvSpPr/>
          <p:nvPr/>
        </p:nvSpPr>
        <p:spPr>
          <a:xfrm>
            <a:off x="4834890" y="3120390"/>
            <a:ext cx="3771900" cy="6172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22"/>
          <p:cNvSpPr/>
          <p:nvPr/>
        </p:nvSpPr>
        <p:spPr>
          <a:xfrm>
            <a:off x="4917186" y="3216402"/>
            <a:ext cx="219456" cy="2194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4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5205222" y="3202686"/>
            <a:ext cx="32575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Open chat and test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5205222" y="3408426"/>
            <a:ext cx="3278124" cy="30861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Ask “What is machine learning?” and inspect the input/output panels to see how data flows.</a:t>
            </a:r>
            <a:endParaRPr lang="en-US" sz="585" dirty="0"/>
          </a:p>
        </p:txBody>
      </p:sp>
      <p:sp>
        <p:nvSpPr>
          <p:cNvPr id="28" name="Text 25"/>
          <p:cNvSpPr/>
          <p:nvPr/>
        </p:nvSpPr>
        <p:spPr>
          <a:xfrm>
            <a:off x="308610" y="411480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F172A"/>
                </a:solidFill>
              </a:rPr>
              <a:t>Teaching focus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885950" y="4087368"/>
            <a:ext cx="65836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8" dirty="0">
                <a:solidFill>
                  <a:srgbClr val="475569"/>
                </a:solidFill>
              </a:rPr>
              <a:t>Manual build first; JSON import later. This helps students understand what the template creates automatically.</a:t>
            </a:r>
            <a:endParaRPr lang="en-US" sz="638" dirty="0"/>
          </a:p>
        </p:txBody>
      </p:sp>
      <p:sp>
        <p:nvSpPr>
          <p:cNvPr id="30" name="Text 27"/>
          <p:cNvSpPr/>
          <p:nvPr/>
        </p:nvSpPr>
        <p:spPr>
          <a:xfrm>
            <a:off x="274320" y="4903470"/>
            <a:ext cx="85725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13" dirty="0">
                <a:solidFill>
                  <a:srgbClr val="94A3B8"/>
                </a:solidFill>
              </a:rPr>
              <a:t>n8n beginner AI workflow • OpenRouter Free • 4</a:t>
            </a:r>
            <a:endParaRPr lang="en-US" sz="4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610" y="240030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setup: OpenRouter API key and free model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308610" y="534924"/>
            <a:ext cx="8366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475569"/>
                </a:solidFill>
              </a:rPr>
              <a:t>This is the only credential students need for the beginner chatbot.</a:t>
            </a:r>
            <a:endParaRPr lang="en-US" sz="713" dirty="0"/>
          </a:p>
        </p:txBody>
      </p:sp>
      <p:pic>
        <p:nvPicPr>
          <p:cNvPr id="4" name="Image 0" descr="/mnt/data/f458baa2-a993-4996-9fb1-2a2a6f0ea11b.png"/>
          <p:cNvPicPr>
            <a:picLocks noChangeAspect="1"/>
          </p:cNvPicPr>
          <p:nvPr/>
        </p:nvPicPr>
        <p:blipFill>
          <a:blip r:embed="rId3"/>
          <a:srcRect t="10450" b="10450"/>
          <a:stretch/>
        </p:blipFill>
        <p:spPr>
          <a:xfrm>
            <a:off x="377190" y="822960"/>
            <a:ext cx="3086100" cy="3257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5770" y="4197096"/>
            <a:ext cx="29489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F172A"/>
                </a:solidFill>
              </a:rPr>
              <a:t>OpenRouter Chat Model settings</a:t>
            </a:r>
            <a:endParaRPr lang="en-US" sz="713" dirty="0"/>
          </a:p>
        </p:txBody>
      </p:sp>
      <p:sp>
        <p:nvSpPr>
          <p:cNvPr id="6" name="Shape 3"/>
          <p:cNvSpPr/>
          <p:nvPr/>
        </p:nvSpPr>
        <p:spPr>
          <a:xfrm>
            <a:off x="3806190" y="788670"/>
            <a:ext cx="4732020" cy="5829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3888486" y="884682"/>
            <a:ext cx="219456" cy="21945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1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4176522" y="870966"/>
            <a:ext cx="42176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Create the credential</a:t>
            </a:r>
            <a:endParaRPr lang="en-US" sz="788" dirty="0"/>
          </a:p>
        </p:txBody>
      </p:sp>
      <p:sp>
        <p:nvSpPr>
          <p:cNvPr id="9" name="Text 6"/>
          <p:cNvSpPr/>
          <p:nvPr/>
        </p:nvSpPr>
        <p:spPr>
          <a:xfrm>
            <a:off x="4176522" y="1076706"/>
            <a:ext cx="4238244" cy="2743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In OpenRouter Chat Model, choose credential → create new → paste the OpenRouter API key.</a:t>
            </a:r>
            <a:endParaRPr lang="en-US" sz="585" dirty="0"/>
          </a:p>
        </p:txBody>
      </p:sp>
      <p:sp>
        <p:nvSpPr>
          <p:cNvPr id="10" name="Shape 7"/>
          <p:cNvSpPr/>
          <p:nvPr/>
        </p:nvSpPr>
        <p:spPr>
          <a:xfrm>
            <a:off x="3806190" y="1474470"/>
            <a:ext cx="4732020" cy="5829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8"/>
          <p:cNvSpPr/>
          <p:nvPr/>
        </p:nvSpPr>
        <p:spPr>
          <a:xfrm>
            <a:off x="3888486" y="1570482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2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176522" y="1556766"/>
            <a:ext cx="42176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Choose a free model</a:t>
            </a:r>
            <a:endParaRPr lang="en-US" sz="788" dirty="0"/>
          </a:p>
        </p:txBody>
      </p:sp>
      <p:sp>
        <p:nvSpPr>
          <p:cNvPr id="13" name="Text 10"/>
          <p:cNvSpPr/>
          <p:nvPr/>
        </p:nvSpPr>
        <p:spPr>
          <a:xfrm>
            <a:off x="4176522" y="1762506"/>
            <a:ext cx="4238244" cy="2743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Select a model ending with :free from the dropdown. Avoid manually typing unsupported IDs.</a:t>
            </a:r>
            <a:endParaRPr lang="en-US" sz="585" dirty="0"/>
          </a:p>
        </p:txBody>
      </p:sp>
      <p:sp>
        <p:nvSpPr>
          <p:cNvPr id="14" name="Shape 11"/>
          <p:cNvSpPr/>
          <p:nvPr/>
        </p:nvSpPr>
        <p:spPr>
          <a:xfrm>
            <a:off x="3806190" y="2160270"/>
            <a:ext cx="4732020" cy="5829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3888486" y="2256282"/>
            <a:ext cx="219456" cy="219456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3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176522" y="2242566"/>
            <a:ext cx="42176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Limit the output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4176522" y="2448306"/>
            <a:ext cx="4238244" cy="2743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Set Maximum Number of Tokens to 300–700 for beginner exercises. Use Temperature around 0.2–0.7.</a:t>
            </a:r>
            <a:endParaRPr lang="en-US" sz="585" dirty="0"/>
          </a:p>
        </p:txBody>
      </p:sp>
      <p:sp>
        <p:nvSpPr>
          <p:cNvPr id="18" name="Shape 15"/>
          <p:cNvSpPr/>
          <p:nvPr/>
        </p:nvSpPr>
        <p:spPr>
          <a:xfrm>
            <a:off x="3806190" y="2846070"/>
            <a:ext cx="4732020" cy="5829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6"/>
          <p:cNvSpPr/>
          <p:nvPr/>
        </p:nvSpPr>
        <p:spPr>
          <a:xfrm>
            <a:off x="3888486" y="2942082"/>
            <a:ext cx="219456" cy="21945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4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176522" y="2928366"/>
            <a:ext cx="42176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Handle free-model limits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4176522" y="3134106"/>
            <a:ext cx="4238244" cy="2743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If “too many requests” appears, wait, reduce tokens, or switch to another :free model.</a:t>
            </a:r>
            <a:endParaRPr lang="en-US" sz="585" dirty="0"/>
          </a:p>
        </p:txBody>
      </p:sp>
      <p:sp>
        <p:nvSpPr>
          <p:cNvPr id="22" name="Text 19"/>
          <p:cNvSpPr/>
          <p:nvPr/>
        </p:nvSpPr>
        <p:spPr>
          <a:xfrm>
            <a:off x="3874770" y="3737610"/>
            <a:ext cx="2606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Suggested first classroom settings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3874770" y="3991356"/>
            <a:ext cx="45948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dirty="0">
                <a:solidFill>
                  <a:srgbClr val="475569"/>
                </a:solidFill>
              </a:rPr>
              <a:t>Model: qwen/qwen3-coder:free  •  Max tokens: 500  •  Temperature: 0.2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3874770" y="4265676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i="1" dirty="0">
                <a:solidFill>
                  <a:srgbClr val="64748B"/>
                </a:solidFill>
              </a:rPr>
              <a:t>OpenRouter free models are useful for practice, but may rate-limit during a live workshop.</a:t>
            </a:r>
            <a:endParaRPr lang="en-US" sz="615" dirty="0"/>
          </a:p>
        </p:txBody>
      </p:sp>
      <p:sp>
        <p:nvSpPr>
          <p:cNvPr id="25" name="Text 22"/>
          <p:cNvSpPr/>
          <p:nvPr/>
        </p:nvSpPr>
        <p:spPr>
          <a:xfrm>
            <a:off x="274320" y="4903470"/>
            <a:ext cx="85725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13" dirty="0">
                <a:solidFill>
                  <a:srgbClr val="94A3B8"/>
                </a:solidFill>
              </a:rPr>
              <a:t>n8n beginner AI workflow • OpenRouter Free • 5</a:t>
            </a:r>
            <a:endParaRPr lang="en-US" sz="4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610" y="240030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method: upload the JSON template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308610" y="534924"/>
            <a:ext cx="8366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475569"/>
                </a:solidFill>
              </a:rPr>
              <a:t>Use this after students understand the manual version, or when class time is limited.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445770" y="85725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F172A"/>
                </a:solidFill>
              </a:rPr>
              <a:t>JSON 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5770" y="1131570"/>
            <a:ext cx="3017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en-US" sz="7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750" dirty="0"/>
          </a:p>
          <a:p>
            <a:r>
              <a:rPr lang="en-US" sz="7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"name": "My First AI Chatbot - OpenRouter Free",</a:t>
            </a:r>
            <a:endParaRPr lang="en-US" sz="750" dirty="0"/>
          </a:p>
          <a:p>
            <a:r>
              <a:rPr lang="en-US" sz="7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"nodes": [Chat Trigger, AI Chain, OpenRouter],</a:t>
            </a:r>
            <a:endParaRPr lang="en-US" sz="750" dirty="0"/>
          </a:p>
          <a:p>
            <a:r>
              <a:rPr lang="en-US" sz="7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"connections": {...}</a:t>
            </a:r>
            <a:endParaRPr lang="en-US" sz="750" dirty="0"/>
          </a:p>
          <a:p>
            <a:r>
              <a:rPr lang="en-US" sz="7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69030" y="1680210"/>
            <a:ext cx="5486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4286250" y="1474470"/>
            <a:ext cx="822960" cy="37719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Import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1680210"/>
            <a:ext cx="58293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5932170" y="1062990"/>
            <a:ext cx="264033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/>
            <a:r>
              <a:rPr lang="en-US" sz="1050" b="1" dirty="0">
                <a:solidFill>
                  <a:srgbClr val="0F172A"/>
                </a:solidFill>
              </a:rPr>
              <a:t>Working workflow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5770" y="2743200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172A"/>
                </a:solidFill>
              </a:rPr>
              <a:t>Upload steps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45770" y="3003804"/>
            <a:ext cx="2708910" cy="5143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528066" y="3099816"/>
            <a:ext cx="219456" cy="21945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1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816102" y="3086100"/>
            <a:ext cx="2194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Open n8n → Workflows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816102" y="3291840"/>
            <a:ext cx="2215134" cy="2057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Click the three dots (…) or Import button.</a:t>
            </a:r>
            <a:endParaRPr lang="en-US" sz="585" dirty="0"/>
          </a:p>
        </p:txBody>
      </p:sp>
      <p:sp>
        <p:nvSpPr>
          <p:cNvPr id="15" name="Shape 13"/>
          <p:cNvSpPr/>
          <p:nvPr/>
        </p:nvSpPr>
        <p:spPr>
          <a:xfrm>
            <a:off x="3326130" y="3003804"/>
            <a:ext cx="2708910" cy="5143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3408426" y="3099816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2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696462" y="3086100"/>
            <a:ext cx="2194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Import from file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3696462" y="3291840"/>
            <a:ext cx="2215134" cy="2057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Select my_first_ai_chatbot_openrouter_free.json.</a:t>
            </a:r>
            <a:endParaRPr lang="en-US" sz="585" dirty="0"/>
          </a:p>
        </p:txBody>
      </p:sp>
      <p:sp>
        <p:nvSpPr>
          <p:cNvPr id="19" name="Shape 17"/>
          <p:cNvSpPr/>
          <p:nvPr/>
        </p:nvSpPr>
        <p:spPr>
          <a:xfrm>
            <a:off x="6206490" y="3003804"/>
            <a:ext cx="2708910" cy="5143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6288786" y="3099816"/>
            <a:ext cx="219456" cy="219456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3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576822" y="3086100"/>
            <a:ext cx="2194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F172A"/>
                </a:solidFill>
              </a:rPr>
              <a:t>Reconnect credential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6576822" y="3291840"/>
            <a:ext cx="2215134" cy="2057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585" dirty="0">
                <a:solidFill>
                  <a:srgbClr val="475569"/>
                </a:solidFill>
              </a:rPr>
              <a:t>Open OpenRouter Chat Model and select/create your API credential.</a:t>
            </a:r>
            <a:endParaRPr lang="en-US" sz="585" dirty="0"/>
          </a:p>
        </p:txBody>
      </p:sp>
      <p:sp>
        <p:nvSpPr>
          <p:cNvPr id="23" name="Text 21"/>
          <p:cNvSpPr/>
          <p:nvPr/>
        </p:nvSpPr>
        <p:spPr>
          <a:xfrm>
            <a:off x="445770" y="3806190"/>
            <a:ext cx="8366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dirty="0">
                <a:solidFill>
                  <a:srgbClr val="0F172A"/>
                </a:solidFill>
              </a:rPr>
              <a:t>Then click Open chat and ask a simple question such as “What is machine learning?”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445770" y="4149090"/>
            <a:ext cx="8366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475569"/>
                </a:solidFill>
              </a:rPr>
              <a:t>Manual build teaches concepts. JSON import saves time and helps all students start from the same working template.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74320" y="4903470"/>
            <a:ext cx="85725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13" dirty="0">
                <a:solidFill>
                  <a:srgbClr val="94A3B8"/>
                </a:solidFill>
              </a:rPr>
              <a:t>n8n beginner AI workflow • OpenRouter Free • 6</a:t>
            </a:r>
            <a:endParaRPr lang="en-US" sz="4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65760"/>
            <a:ext cx="1097280" cy="109728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3657600"/>
            <a:ext cx="1463040" cy="146304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4206240"/>
            <a:ext cx="457200" cy="45720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 ·  AGENT SYSTEMS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783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Skywork Desktop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— an AI workspace that lives on your PC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3383280"/>
            <a:ext cx="5486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briefing for university students  ·  Windows · 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Wael  ·  AI Training Program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Skywork Desktop?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Windows-native AI agent that turns your local folders into a working studio.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3152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Windows-Native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desktop app on Windows 11 — no browser tab juggling. macOS not yet supported.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73152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745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First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6616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folder and the agent reads, indexes and reasons across your PDFs, docs, slides and data — no uploads.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1600200"/>
            <a:ext cx="73152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745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0080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sustained, repeatable workflows — research, draft, analyse, generate — not single-turn chat.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globally 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4, 2026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Mission:  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“AI version of Office”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Chatbot to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“agent mode” is a different way of using 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Chatbot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231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a browser tab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346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questions and answers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re-upload files every session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760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disappears when the tab closes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6908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task at a time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4663440" y="1600200"/>
            <a:ext cx="40233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0352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8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42316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6636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desktop workspace</a:t>
            </a:r>
            <a:endParaRPr lang="en-US" sz="12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34640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663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goal-driven workflows</a:t>
            </a:r>
            <a:endParaRPr lang="en-US" sz="12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246120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6636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local folders directly — no uploads</a:t>
            </a:r>
            <a:endParaRPr lang="en-US" sz="12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657600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6636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survives across sessions</a:t>
            </a:r>
            <a:endParaRPr lang="en-US" sz="12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069080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1663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 model + skill per task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Agent Mode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a folder full of files to a finished deliverable.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a Folder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project folder on your PC — papers, notes, datasets, slides.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907792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0" y="18288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88920" y="20574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88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4320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Indexes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4320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Skywork semantically indexes the contents locally, no cloud upload.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907792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63440" y="18288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92040" y="20574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8920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84632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Goal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“Summarise these 12 PDFs and draft a 10-slide deck with citations.”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907792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766560" y="18288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995160" y="20574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9951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94944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9494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multi-step task in an isolated local VM and saves outputs.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editable .docx, .pptx, .xlsx, images, web pages — generated locally.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Core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Agent Mode different from a chat tab.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F8FAFB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562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0391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treats your folder as persistent context. It can read across PDFs, Word, Excel, slides and images using one unified semantic layer.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2788920"/>
            <a:ext cx="640080" cy="640080"/>
          </a:xfrm>
          <a:prstGeom prst="ellipse">
            <a:avLst/>
          </a:prstGeom>
          <a:solidFill>
            <a:srgbClr val="F8FAFB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907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80" y="30906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processed on your machine inside an isolated virtual machine. No mass uploads to the cloud, lower risk of data leakage.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85800" y="3840480"/>
            <a:ext cx="640080" cy="640080"/>
          </a:xfrm>
          <a:prstGeom prst="ellipse">
            <a:avLst/>
          </a:prstGeom>
          <a:solidFill>
            <a:srgbClr val="F8FAFB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9593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Workflows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repeatable tasks survive across sessions — research → analyse → draft → polish — without losing project context.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Your Model — or Let It Pick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supports multiple frontier models and a smart Auto router.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058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deep reasoning, long-context analysis, careful writing.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7752" y="16002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70632" y="1783080"/>
            <a:ext cx="10058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70632" y="1783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7063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770632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speed and quality — strong default for everyday tasks.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18304" y="160020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01184" y="1783080"/>
            <a:ext cx="10058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01184" y="1783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01184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01184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multimodal — images, video understanding, fast generation.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48856" y="1600200"/>
            <a:ext cx="2011680" cy="1554480"/>
          </a:xfrm>
          <a:prstGeom prst="rect">
            <a:avLst/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31736" y="1783080"/>
            <a:ext cx="100584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31736" y="1783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31736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31736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selects the best model per task — speed, quality or modality.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640080" cy="6400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5448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554480" y="3886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parts of a project need different brains — Opus for synthesis, Gemini for multimodal output, Sonnet for fast drafts. Auto Mode routes each step to the right one so you don’t have to switch tools.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Skills in One Workspace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Auto-recommended for the task — or pick one manually.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essays, briefs, lit reviews, tables of contents.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624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0624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decks, project pitches, defense slides.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6002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74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04088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Diagrams, infographics, cover art, study visuals.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2004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474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456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explainers, animated study aids, clip edits.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32004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4747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06240" y="3456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20624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Portfolios, project landing pages, study sites.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2004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4747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3456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Sheets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04088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models, charts, quick analyses on local CSVs.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models are paired automatically per task to balance quality and speed.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University Students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 Mode genuinely changes how you study and produce 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3152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20+ papers into a folder. Ask for a thematic synthesis with citations across all of them — without uploading each 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5152" y="16002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1600200"/>
            <a:ext cx="73152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Building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59552" y="2240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notes and references into a draft slide deck — class talks, seminar presentations, thesis defence.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27832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3227832"/>
            <a:ext cx="73152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021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838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Data Work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8679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quick analyses on a local CSV: descriptive stats, charts, an Excel model — written back into your project folder.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45152" y="3227832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45152" y="3227832"/>
            <a:ext cx="73152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5021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9552" y="34838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Research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59552" y="38679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 lab notes, PDFs, screenshots and datasets into one synthesis you can keep iterating 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· Treat Agent outputs as drafts. Always verify facts, citations and code yourself before submitting.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and what you need to run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1985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Agent Mode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1246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 selection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0507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skill library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697480" y="1691640"/>
            <a:ext cx="2103120" cy="2743200"/>
          </a:xfrm>
          <a:prstGeom prst="rect">
            <a:avLst/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28803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88036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$49.99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288036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419856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0896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Basic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71246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08960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desktop usage*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4005072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108960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task throughput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5029200" y="16916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65960"/>
            <a:ext cx="502920" cy="5029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94360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6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743200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57784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(64-bit recommended)</a:t>
            </a:r>
            <a:endParaRPr lang="en-US" sz="11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054096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577840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for project folders</a:t>
            </a:r>
            <a:endParaRPr lang="en-US" sz="11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364992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57784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for cloud model calls</a:t>
            </a:r>
            <a:endParaRPr lang="en-US" sz="11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675888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57784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support not yet available</a:t>
            </a:r>
            <a:endParaRPr lang="en-US" sz="11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86784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577840" y="3941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tasks in a local virtual machine</a:t>
            </a:r>
            <a:endParaRPr lang="en-US" sz="1150" dirty="0"/>
          </a:p>
        </p:txBody>
      </p:sp>
      <p:sp>
        <p:nvSpPr>
          <p:cNvPr id="37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Plus includes unlimited use of the desktop client for eligible subscribers (per Skywork press materials, Feb 2026).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365760"/>
            <a:ext cx="1463040" cy="14630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65760" y="4206240"/>
            <a:ext cx="1280160" cy="128016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554480" y="2011680"/>
            <a:ext cx="2743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&gt; Chatbots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Skywork’s agent mode is built for sustained, multi-step work on your own files — not for single-turn questions.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1554480" y="2926080"/>
            <a:ext cx="2743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Private by Default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172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stay on your PC and tasks run in an isolated VM, which matters for thesis data, lab notes, and client work.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1554480" y="3840480"/>
            <a:ext cx="2743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703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Is Orchestration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4087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edge as a student is choosing the right model, skill, and folder structure — not just writing prompts.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Skywork Desktop · Agent Mode  ·  AI Training Program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1786</Words>
  <Application>Microsoft Office PowerPoint</Application>
  <PresentationFormat>On-screen Show (16:9)</PresentationFormat>
  <Paragraphs>253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Display</vt:lpstr>
      <vt:lpstr>Aptos Mono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Skywork Desktop · Agent Mode</dc:title>
  <dc:subject>PptxGenJS Presentation</dc:subject>
  <dc:creator>Wael · AI Training Program</dc:creator>
  <cp:lastModifiedBy>Wael Rahhal</cp:lastModifiedBy>
  <cp:revision>1</cp:revision>
  <dcterms:created xsi:type="dcterms:W3CDTF">2026-05-20T00:09:57Z</dcterms:created>
  <dcterms:modified xsi:type="dcterms:W3CDTF">2026-05-20T00:45:54Z</dcterms:modified>
</cp:coreProperties>
</file>
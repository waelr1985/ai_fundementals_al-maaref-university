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6" d="100"/>
          <a:sy n="46" d="100"/>
        </p:scale>
        <p:origin x="891"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el Rahhal" userId="afaccfd8e26ace3b" providerId="LiveId" clId="{462B6756-69BB-4E0B-B430-22A60DFF5832}"/>
    <pc:docChg chg="custSel delSld modSld">
      <pc:chgData name="Wael Rahhal" userId="afaccfd8e26ace3b" providerId="LiveId" clId="{462B6756-69BB-4E0B-B430-22A60DFF5832}" dt="2026-08-11T21:51:04.617" v="29" actId="47"/>
      <pc:docMkLst>
        <pc:docMk/>
      </pc:docMkLst>
      <pc:sldChg chg="delSp mod">
        <pc:chgData name="Wael Rahhal" userId="afaccfd8e26ace3b" providerId="LiveId" clId="{462B6756-69BB-4E0B-B430-22A60DFF5832}" dt="2026-08-11T20:50:02.526" v="2" actId="478"/>
        <pc:sldMkLst>
          <pc:docMk/>
          <pc:sldMk cId="0" sldId="257"/>
        </pc:sldMkLst>
        <pc:spChg chg="del">
          <ac:chgData name="Wael Rahhal" userId="afaccfd8e26ace3b" providerId="LiveId" clId="{462B6756-69BB-4E0B-B430-22A60DFF5832}" dt="2026-08-11T20:50:02.526" v="2" actId="478"/>
          <ac:spMkLst>
            <pc:docMk/>
            <pc:sldMk cId="0" sldId="257"/>
            <ac:spMk id="28" creationId="{00000000-0000-0000-0000-000000000000}"/>
          </ac:spMkLst>
        </pc:spChg>
      </pc:sldChg>
      <pc:sldChg chg="delSp mod">
        <pc:chgData name="Wael Rahhal" userId="afaccfd8e26ace3b" providerId="LiveId" clId="{462B6756-69BB-4E0B-B430-22A60DFF5832}" dt="2026-08-11T20:50:06.972" v="3" actId="478"/>
        <pc:sldMkLst>
          <pc:docMk/>
          <pc:sldMk cId="0" sldId="259"/>
        </pc:sldMkLst>
        <pc:spChg chg="del">
          <ac:chgData name="Wael Rahhal" userId="afaccfd8e26ace3b" providerId="LiveId" clId="{462B6756-69BB-4E0B-B430-22A60DFF5832}" dt="2026-08-11T20:50:06.972" v="3" actId="478"/>
          <ac:spMkLst>
            <pc:docMk/>
            <pc:sldMk cId="0" sldId="259"/>
            <ac:spMk id="16" creationId="{00000000-0000-0000-0000-000000000000}"/>
          </ac:spMkLst>
        </pc:spChg>
      </pc:sldChg>
      <pc:sldChg chg="delSp del mod">
        <pc:chgData name="Wael Rahhal" userId="afaccfd8e26ace3b" providerId="LiveId" clId="{462B6756-69BB-4E0B-B430-22A60DFF5832}" dt="2026-08-11T21:51:04.617" v="29" actId="47"/>
        <pc:sldMkLst>
          <pc:docMk/>
          <pc:sldMk cId="0" sldId="260"/>
        </pc:sldMkLst>
        <pc:spChg chg="del">
          <ac:chgData name="Wael Rahhal" userId="afaccfd8e26ace3b" providerId="LiveId" clId="{462B6756-69BB-4E0B-B430-22A60DFF5832}" dt="2026-08-11T20:50:09.925" v="4" actId="478"/>
          <ac:spMkLst>
            <pc:docMk/>
            <pc:sldMk cId="0" sldId="260"/>
            <ac:spMk id="14" creationId="{00000000-0000-0000-0000-000000000000}"/>
          </ac:spMkLst>
        </pc:spChg>
      </pc:sldChg>
      <pc:sldChg chg="delSp mod">
        <pc:chgData name="Wael Rahhal" userId="afaccfd8e26ace3b" providerId="LiveId" clId="{462B6756-69BB-4E0B-B430-22A60DFF5832}" dt="2026-08-11T20:50:12.903" v="5" actId="478"/>
        <pc:sldMkLst>
          <pc:docMk/>
          <pc:sldMk cId="0" sldId="261"/>
        </pc:sldMkLst>
        <pc:spChg chg="del">
          <ac:chgData name="Wael Rahhal" userId="afaccfd8e26ace3b" providerId="LiveId" clId="{462B6756-69BB-4E0B-B430-22A60DFF5832}" dt="2026-08-11T20:50:12.903" v="5" actId="478"/>
          <ac:spMkLst>
            <pc:docMk/>
            <pc:sldMk cId="0" sldId="261"/>
            <ac:spMk id="27" creationId="{00000000-0000-0000-0000-000000000000}"/>
          </ac:spMkLst>
        </pc:spChg>
      </pc:sldChg>
      <pc:sldChg chg="del">
        <pc:chgData name="Wael Rahhal" userId="afaccfd8e26ace3b" providerId="LiveId" clId="{462B6756-69BB-4E0B-B430-22A60DFF5832}" dt="2026-08-11T20:37:50.653" v="0" actId="47"/>
        <pc:sldMkLst>
          <pc:docMk/>
          <pc:sldMk cId="0" sldId="262"/>
        </pc:sldMkLst>
      </pc:sldChg>
      <pc:sldChg chg="delSp mod">
        <pc:chgData name="Wael Rahhal" userId="afaccfd8e26ace3b" providerId="LiveId" clId="{462B6756-69BB-4E0B-B430-22A60DFF5832}" dt="2026-08-11T20:50:17.194" v="6" actId="478"/>
        <pc:sldMkLst>
          <pc:docMk/>
          <pc:sldMk cId="0" sldId="263"/>
        </pc:sldMkLst>
        <pc:spChg chg="del">
          <ac:chgData name="Wael Rahhal" userId="afaccfd8e26ace3b" providerId="LiveId" clId="{462B6756-69BB-4E0B-B430-22A60DFF5832}" dt="2026-08-11T20:50:17.194" v="6" actId="478"/>
          <ac:spMkLst>
            <pc:docMk/>
            <pc:sldMk cId="0" sldId="263"/>
            <ac:spMk id="23" creationId="{00000000-0000-0000-0000-000000000000}"/>
          </ac:spMkLst>
        </pc:spChg>
      </pc:sldChg>
      <pc:sldChg chg="delSp mod">
        <pc:chgData name="Wael Rahhal" userId="afaccfd8e26ace3b" providerId="LiveId" clId="{462B6756-69BB-4E0B-B430-22A60DFF5832}" dt="2026-08-11T20:50:22.283" v="7" actId="478"/>
        <pc:sldMkLst>
          <pc:docMk/>
          <pc:sldMk cId="0" sldId="265"/>
        </pc:sldMkLst>
        <pc:spChg chg="del">
          <ac:chgData name="Wael Rahhal" userId="afaccfd8e26ace3b" providerId="LiveId" clId="{462B6756-69BB-4E0B-B430-22A60DFF5832}" dt="2026-08-11T20:50:22.283" v="7" actId="478"/>
          <ac:spMkLst>
            <pc:docMk/>
            <pc:sldMk cId="0" sldId="265"/>
            <ac:spMk id="21" creationId="{00000000-0000-0000-0000-000000000000}"/>
          </ac:spMkLst>
        </pc:spChg>
      </pc:sldChg>
      <pc:sldChg chg="delSp mod">
        <pc:chgData name="Wael Rahhal" userId="afaccfd8e26ace3b" providerId="LiveId" clId="{462B6756-69BB-4E0B-B430-22A60DFF5832}" dt="2026-08-11T20:50:24.803" v="8" actId="478"/>
        <pc:sldMkLst>
          <pc:docMk/>
          <pc:sldMk cId="0" sldId="266"/>
        </pc:sldMkLst>
        <pc:spChg chg="del">
          <ac:chgData name="Wael Rahhal" userId="afaccfd8e26ace3b" providerId="LiveId" clId="{462B6756-69BB-4E0B-B430-22A60DFF5832}" dt="2026-08-11T20:50:24.803" v="8" actId="478"/>
          <ac:spMkLst>
            <pc:docMk/>
            <pc:sldMk cId="0" sldId="266"/>
            <ac:spMk id="22" creationId="{00000000-0000-0000-0000-000000000000}"/>
          </ac:spMkLst>
        </pc:spChg>
      </pc:sldChg>
      <pc:sldChg chg="delSp mod">
        <pc:chgData name="Wael Rahhal" userId="afaccfd8e26ace3b" providerId="LiveId" clId="{462B6756-69BB-4E0B-B430-22A60DFF5832}" dt="2026-08-11T20:50:28.772" v="9" actId="478"/>
        <pc:sldMkLst>
          <pc:docMk/>
          <pc:sldMk cId="0" sldId="267"/>
        </pc:sldMkLst>
        <pc:spChg chg="del">
          <ac:chgData name="Wael Rahhal" userId="afaccfd8e26ace3b" providerId="LiveId" clId="{462B6756-69BB-4E0B-B430-22A60DFF5832}" dt="2026-08-11T20:50:28.772" v="9" actId="478"/>
          <ac:spMkLst>
            <pc:docMk/>
            <pc:sldMk cId="0" sldId="267"/>
            <ac:spMk id="21" creationId="{00000000-0000-0000-0000-000000000000}"/>
          </ac:spMkLst>
        </pc:spChg>
      </pc:sldChg>
      <pc:sldChg chg="delSp mod">
        <pc:chgData name="Wael Rahhal" userId="afaccfd8e26ace3b" providerId="LiveId" clId="{462B6756-69BB-4E0B-B430-22A60DFF5832}" dt="2026-08-11T20:50:31.478" v="10" actId="478"/>
        <pc:sldMkLst>
          <pc:docMk/>
          <pc:sldMk cId="0" sldId="268"/>
        </pc:sldMkLst>
        <pc:spChg chg="del">
          <ac:chgData name="Wael Rahhal" userId="afaccfd8e26ace3b" providerId="LiveId" clId="{462B6756-69BB-4E0B-B430-22A60DFF5832}" dt="2026-08-11T20:50:31.478" v="10" actId="478"/>
          <ac:spMkLst>
            <pc:docMk/>
            <pc:sldMk cId="0" sldId="268"/>
            <ac:spMk id="17" creationId="{00000000-0000-0000-0000-000000000000}"/>
          </ac:spMkLst>
        </pc:spChg>
      </pc:sldChg>
      <pc:sldChg chg="delSp mod">
        <pc:chgData name="Wael Rahhal" userId="afaccfd8e26ace3b" providerId="LiveId" clId="{462B6756-69BB-4E0B-B430-22A60DFF5832}" dt="2026-08-11T20:50:34.156" v="11" actId="478"/>
        <pc:sldMkLst>
          <pc:docMk/>
          <pc:sldMk cId="0" sldId="269"/>
        </pc:sldMkLst>
        <pc:spChg chg="del">
          <ac:chgData name="Wael Rahhal" userId="afaccfd8e26ace3b" providerId="LiveId" clId="{462B6756-69BB-4E0B-B430-22A60DFF5832}" dt="2026-08-11T20:50:34.156" v="11" actId="478"/>
          <ac:spMkLst>
            <pc:docMk/>
            <pc:sldMk cId="0" sldId="269"/>
            <ac:spMk id="32" creationId="{00000000-0000-0000-0000-000000000000}"/>
          </ac:spMkLst>
        </pc:spChg>
      </pc:sldChg>
      <pc:sldChg chg="delSp mod">
        <pc:chgData name="Wael Rahhal" userId="afaccfd8e26ace3b" providerId="LiveId" clId="{462B6756-69BB-4E0B-B430-22A60DFF5832}" dt="2026-08-11T20:50:38.782" v="12" actId="478"/>
        <pc:sldMkLst>
          <pc:docMk/>
          <pc:sldMk cId="0" sldId="271"/>
        </pc:sldMkLst>
        <pc:spChg chg="del">
          <ac:chgData name="Wael Rahhal" userId="afaccfd8e26ace3b" providerId="LiveId" clId="{462B6756-69BB-4E0B-B430-22A60DFF5832}" dt="2026-08-11T20:50:38.782" v="12" actId="478"/>
          <ac:spMkLst>
            <pc:docMk/>
            <pc:sldMk cId="0" sldId="271"/>
            <ac:spMk id="12" creationId="{00000000-0000-0000-0000-000000000000}"/>
          </ac:spMkLst>
        </pc:spChg>
      </pc:sldChg>
      <pc:sldChg chg="delSp mod">
        <pc:chgData name="Wael Rahhal" userId="afaccfd8e26ace3b" providerId="LiveId" clId="{462B6756-69BB-4E0B-B430-22A60DFF5832}" dt="2026-08-11T20:50:41.187" v="13" actId="478"/>
        <pc:sldMkLst>
          <pc:docMk/>
          <pc:sldMk cId="0" sldId="273"/>
        </pc:sldMkLst>
        <pc:spChg chg="del">
          <ac:chgData name="Wael Rahhal" userId="afaccfd8e26ace3b" providerId="LiveId" clId="{462B6756-69BB-4E0B-B430-22A60DFF5832}" dt="2026-08-11T20:50:41.187" v="13" actId="478"/>
          <ac:spMkLst>
            <pc:docMk/>
            <pc:sldMk cId="0" sldId="273"/>
            <ac:spMk id="25" creationId="{00000000-0000-0000-0000-000000000000}"/>
          </ac:spMkLst>
        </pc:spChg>
      </pc:sldChg>
      <pc:sldChg chg="delSp mod">
        <pc:chgData name="Wael Rahhal" userId="afaccfd8e26ace3b" providerId="LiveId" clId="{462B6756-69BB-4E0B-B430-22A60DFF5832}" dt="2026-08-11T20:50:45.716" v="14" actId="478"/>
        <pc:sldMkLst>
          <pc:docMk/>
          <pc:sldMk cId="0" sldId="274"/>
        </pc:sldMkLst>
        <pc:spChg chg="del">
          <ac:chgData name="Wael Rahhal" userId="afaccfd8e26ace3b" providerId="LiveId" clId="{462B6756-69BB-4E0B-B430-22A60DFF5832}" dt="2026-08-11T20:50:45.716" v="14" actId="478"/>
          <ac:spMkLst>
            <pc:docMk/>
            <pc:sldMk cId="0" sldId="274"/>
            <ac:spMk id="51" creationId="{00000000-0000-0000-0000-000000000000}"/>
          </ac:spMkLst>
        </pc:spChg>
      </pc:sldChg>
      <pc:sldChg chg="delSp mod">
        <pc:chgData name="Wael Rahhal" userId="afaccfd8e26ace3b" providerId="LiveId" clId="{462B6756-69BB-4E0B-B430-22A60DFF5832}" dt="2026-08-11T20:50:49.095" v="15" actId="478"/>
        <pc:sldMkLst>
          <pc:docMk/>
          <pc:sldMk cId="0" sldId="275"/>
        </pc:sldMkLst>
        <pc:spChg chg="del">
          <ac:chgData name="Wael Rahhal" userId="afaccfd8e26ace3b" providerId="LiveId" clId="{462B6756-69BB-4E0B-B430-22A60DFF5832}" dt="2026-08-11T20:50:49.095" v="15" actId="478"/>
          <ac:spMkLst>
            <pc:docMk/>
            <pc:sldMk cId="0" sldId="275"/>
            <ac:spMk id="27" creationId="{00000000-0000-0000-0000-000000000000}"/>
          </ac:spMkLst>
        </pc:spChg>
      </pc:sldChg>
      <pc:sldChg chg="delSp mod">
        <pc:chgData name="Wael Rahhal" userId="afaccfd8e26ace3b" providerId="LiveId" clId="{462B6756-69BB-4E0B-B430-22A60DFF5832}" dt="2026-08-11T20:50:51.694" v="16" actId="478"/>
        <pc:sldMkLst>
          <pc:docMk/>
          <pc:sldMk cId="0" sldId="276"/>
        </pc:sldMkLst>
        <pc:spChg chg="del">
          <ac:chgData name="Wael Rahhal" userId="afaccfd8e26ace3b" providerId="LiveId" clId="{462B6756-69BB-4E0B-B430-22A60DFF5832}" dt="2026-08-11T20:50:51.694" v="16" actId="478"/>
          <ac:spMkLst>
            <pc:docMk/>
            <pc:sldMk cId="0" sldId="276"/>
            <ac:spMk id="27" creationId="{00000000-0000-0000-0000-000000000000}"/>
          </ac:spMkLst>
        </pc:spChg>
      </pc:sldChg>
      <pc:sldChg chg="delSp mod">
        <pc:chgData name="Wael Rahhal" userId="afaccfd8e26ace3b" providerId="LiveId" clId="{462B6756-69BB-4E0B-B430-22A60DFF5832}" dt="2026-08-11T20:50:54.607" v="17" actId="478"/>
        <pc:sldMkLst>
          <pc:docMk/>
          <pc:sldMk cId="0" sldId="277"/>
        </pc:sldMkLst>
        <pc:spChg chg="del">
          <ac:chgData name="Wael Rahhal" userId="afaccfd8e26ace3b" providerId="LiveId" clId="{462B6756-69BB-4E0B-B430-22A60DFF5832}" dt="2026-08-11T20:50:54.607" v="17" actId="478"/>
          <ac:spMkLst>
            <pc:docMk/>
            <pc:sldMk cId="0" sldId="277"/>
            <ac:spMk id="32" creationId="{00000000-0000-0000-0000-000000000000}"/>
          </ac:spMkLst>
        </pc:spChg>
      </pc:sldChg>
      <pc:sldChg chg="delSp mod">
        <pc:chgData name="Wael Rahhal" userId="afaccfd8e26ace3b" providerId="LiveId" clId="{462B6756-69BB-4E0B-B430-22A60DFF5832}" dt="2026-08-11T20:50:56.898" v="18" actId="478"/>
        <pc:sldMkLst>
          <pc:docMk/>
          <pc:sldMk cId="0" sldId="278"/>
        </pc:sldMkLst>
        <pc:spChg chg="del">
          <ac:chgData name="Wael Rahhal" userId="afaccfd8e26ace3b" providerId="LiveId" clId="{462B6756-69BB-4E0B-B430-22A60DFF5832}" dt="2026-08-11T20:50:56.898" v="18" actId="478"/>
          <ac:spMkLst>
            <pc:docMk/>
            <pc:sldMk cId="0" sldId="278"/>
            <ac:spMk id="28" creationId="{00000000-0000-0000-0000-000000000000}"/>
          </ac:spMkLst>
        </pc:spChg>
      </pc:sldChg>
      <pc:sldChg chg="delSp mod">
        <pc:chgData name="Wael Rahhal" userId="afaccfd8e26ace3b" providerId="LiveId" clId="{462B6756-69BB-4E0B-B430-22A60DFF5832}" dt="2026-08-11T20:50:59.895" v="19" actId="478"/>
        <pc:sldMkLst>
          <pc:docMk/>
          <pc:sldMk cId="0" sldId="279"/>
        </pc:sldMkLst>
        <pc:spChg chg="del">
          <ac:chgData name="Wael Rahhal" userId="afaccfd8e26ace3b" providerId="LiveId" clId="{462B6756-69BB-4E0B-B430-22A60DFF5832}" dt="2026-08-11T20:50:59.895" v="19" actId="478"/>
          <ac:spMkLst>
            <pc:docMk/>
            <pc:sldMk cId="0" sldId="279"/>
            <ac:spMk id="35" creationId="{00000000-0000-0000-0000-000000000000}"/>
          </ac:spMkLst>
        </pc:spChg>
      </pc:sldChg>
      <pc:sldChg chg="delSp mod">
        <pc:chgData name="Wael Rahhal" userId="afaccfd8e26ace3b" providerId="LiveId" clId="{462B6756-69BB-4E0B-B430-22A60DFF5832}" dt="2026-08-11T20:51:02.953" v="20" actId="478"/>
        <pc:sldMkLst>
          <pc:docMk/>
          <pc:sldMk cId="0" sldId="280"/>
        </pc:sldMkLst>
        <pc:spChg chg="del">
          <ac:chgData name="Wael Rahhal" userId="afaccfd8e26ace3b" providerId="LiveId" clId="{462B6756-69BB-4E0B-B430-22A60DFF5832}" dt="2026-08-11T20:51:02.953" v="20" actId="478"/>
          <ac:spMkLst>
            <pc:docMk/>
            <pc:sldMk cId="0" sldId="280"/>
            <ac:spMk id="30" creationId="{00000000-0000-0000-0000-000000000000}"/>
          </ac:spMkLst>
        </pc:spChg>
      </pc:sldChg>
      <pc:sldChg chg="delSp mod">
        <pc:chgData name="Wael Rahhal" userId="afaccfd8e26ace3b" providerId="LiveId" clId="{462B6756-69BB-4E0B-B430-22A60DFF5832}" dt="2026-08-11T20:51:05.492" v="21" actId="478"/>
        <pc:sldMkLst>
          <pc:docMk/>
          <pc:sldMk cId="0" sldId="281"/>
        </pc:sldMkLst>
        <pc:spChg chg="del">
          <ac:chgData name="Wael Rahhal" userId="afaccfd8e26ace3b" providerId="LiveId" clId="{462B6756-69BB-4E0B-B430-22A60DFF5832}" dt="2026-08-11T20:51:05.492" v="21" actId="478"/>
          <ac:spMkLst>
            <pc:docMk/>
            <pc:sldMk cId="0" sldId="281"/>
            <ac:spMk id="15" creationId="{00000000-0000-0000-0000-000000000000}"/>
          </ac:spMkLst>
        </pc:spChg>
      </pc:sldChg>
      <pc:sldChg chg="delSp mod">
        <pc:chgData name="Wael Rahhal" userId="afaccfd8e26ace3b" providerId="LiveId" clId="{462B6756-69BB-4E0B-B430-22A60DFF5832}" dt="2026-08-11T20:51:08.504" v="22" actId="478"/>
        <pc:sldMkLst>
          <pc:docMk/>
          <pc:sldMk cId="0" sldId="282"/>
        </pc:sldMkLst>
        <pc:spChg chg="del">
          <ac:chgData name="Wael Rahhal" userId="afaccfd8e26ace3b" providerId="LiveId" clId="{462B6756-69BB-4E0B-B430-22A60DFF5832}" dt="2026-08-11T20:51:08.504" v="22" actId="478"/>
          <ac:spMkLst>
            <pc:docMk/>
            <pc:sldMk cId="0" sldId="282"/>
            <ac:spMk id="26" creationId="{00000000-0000-0000-0000-000000000000}"/>
          </ac:spMkLst>
        </pc:spChg>
      </pc:sldChg>
      <pc:sldChg chg="delSp mod">
        <pc:chgData name="Wael Rahhal" userId="afaccfd8e26ace3b" providerId="LiveId" clId="{462B6756-69BB-4E0B-B430-22A60DFF5832}" dt="2026-08-11T20:51:11.864" v="23" actId="478"/>
        <pc:sldMkLst>
          <pc:docMk/>
          <pc:sldMk cId="0" sldId="283"/>
        </pc:sldMkLst>
        <pc:spChg chg="del">
          <ac:chgData name="Wael Rahhal" userId="afaccfd8e26ace3b" providerId="LiveId" clId="{462B6756-69BB-4E0B-B430-22A60DFF5832}" dt="2026-08-11T20:51:11.864" v="23" actId="478"/>
          <ac:spMkLst>
            <pc:docMk/>
            <pc:sldMk cId="0" sldId="283"/>
            <ac:spMk id="16" creationId="{00000000-0000-0000-0000-000000000000}"/>
          </ac:spMkLst>
        </pc:spChg>
      </pc:sldChg>
      <pc:sldChg chg="delSp mod">
        <pc:chgData name="Wael Rahhal" userId="afaccfd8e26ace3b" providerId="LiveId" clId="{462B6756-69BB-4E0B-B430-22A60DFF5832}" dt="2026-08-11T20:51:16.536" v="24" actId="478"/>
        <pc:sldMkLst>
          <pc:docMk/>
          <pc:sldMk cId="0" sldId="284"/>
        </pc:sldMkLst>
        <pc:spChg chg="del">
          <ac:chgData name="Wael Rahhal" userId="afaccfd8e26ace3b" providerId="LiveId" clId="{462B6756-69BB-4E0B-B430-22A60DFF5832}" dt="2026-08-11T20:51:16.536" v="24" actId="478"/>
          <ac:spMkLst>
            <pc:docMk/>
            <pc:sldMk cId="0" sldId="284"/>
            <ac:spMk id="32" creationId="{00000000-0000-0000-0000-000000000000}"/>
          </ac:spMkLst>
        </pc:spChg>
      </pc:sldChg>
      <pc:sldChg chg="delSp del mod">
        <pc:chgData name="Wael Rahhal" userId="afaccfd8e26ace3b" providerId="LiveId" clId="{462B6756-69BB-4E0B-B430-22A60DFF5832}" dt="2026-08-11T21:37:43.500" v="28" actId="47"/>
        <pc:sldMkLst>
          <pc:docMk/>
          <pc:sldMk cId="0" sldId="285"/>
        </pc:sldMkLst>
        <pc:spChg chg="del">
          <ac:chgData name="Wael Rahhal" userId="afaccfd8e26ace3b" providerId="LiveId" clId="{462B6756-69BB-4E0B-B430-22A60DFF5832}" dt="2026-08-11T21:37:39.413" v="27" actId="478"/>
          <ac:spMkLst>
            <pc:docMk/>
            <pc:sldMk cId="0" sldId="285"/>
            <ac:spMk id="20" creationId="{00000000-0000-0000-0000-000000000000}"/>
          </ac:spMkLst>
        </pc:spChg>
        <pc:spChg chg="del">
          <ac:chgData name="Wael Rahhal" userId="afaccfd8e26ace3b" providerId="LiveId" clId="{462B6756-69BB-4E0B-B430-22A60DFF5832}" dt="2026-08-11T20:51:19.691" v="25" actId="478"/>
          <ac:spMkLst>
            <pc:docMk/>
            <pc:sldMk cId="0" sldId="285"/>
            <ac:spMk id="28" creationId="{00000000-0000-0000-0000-000000000000}"/>
          </ac:spMkLst>
        </pc:spChg>
      </pc:sldChg>
      <pc:sldChg chg="del">
        <pc:chgData name="Wael Rahhal" userId="afaccfd8e26ace3b" providerId="LiveId" clId="{462B6756-69BB-4E0B-B430-22A60DFF5832}" dt="2026-08-11T20:45:43.232" v="1" actId="47"/>
        <pc:sldMkLst>
          <pc:docMk/>
          <pc:sldMk cId="0" sldId="286"/>
        </pc:sldMkLst>
      </pc:sldChg>
      <pc:sldChg chg="del">
        <pc:chgData name="Wael Rahhal" userId="afaccfd8e26ace3b" providerId="LiveId" clId="{462B6756-69BB-4E0B-B430-22A60DFF5832}" dt="2026-08-11T21:37:08.602" v="26" actId="47"/>
        <pc:sldMkLst>
          <pc:docMk/>
          <pc:sldMk cId="0"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6769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goals today. First, understand what RAG is and the five words that appear in every RAG system. Second, connect n8n to Google Drive and prove it works by finding a real file. Everything we build in the next three lessons stands on this connection, so it is worth getting right. Ask students to open n8n and drive.google.com now so they are ready.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clearly. Half the session is concepts, half is clicking. Warn them that the Google Cloud part is fiddly the first time and that two specific errors are almost guaranteed — we will meet both and fix both.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Ask the room: has anyone asked ChatGPT about something inside their own university files and got a confident wrong answer? That is exactly the problem RAG solves.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out loud. Ask students whether they think a model could answer it. The point is not that models are unreliable, but that they were never given the document. Being helpful, a model may guess — that guess is what we are eliminating.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say the three words back to you in order. Order matters — retrieval happens before generation, which is why the quality of retrieval sets the ceiling on answer quality.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then walk it backwards: if the answer is wrong, which box do you inspect first? Context. Then retrieve. Almost never the model itself.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this is the vocabulary section and that these five words appear in every RAG job description they will ever read.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 size is a real engineering decision, not a default to ignore. Too small and a chunk loses its meaning; too large and retrieval loses precision. 1000/200 is a sensible starting point for prose.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shaded blocks. Without overlap the sentence is torn in two and neither half is retrievable as an answer. With overlap, chunk 2 contains the whole statement. This is the single most common cause of 'the answer is in the document but the system cannot find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needs the mathematics today. What they need is the intuition that an embedding is a position on a map of meaning, and that similarity is measured as distance on that map. The warning at the bottom prevents a real bug in Lesson 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embeddings click. Ask students to find a keyword shared between the question and the sentence — there isn't one. Then ask whether a human would say they mean the same thing. That gap between characters and meaning is exactly what embeddings close.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two phases run at different times. Indexing happens once, in advance. Answering happens on every question. Students who confuse the two end up re-indexing a document on every request, which is slow and expensive.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mode here: from concepts to clicking. Tell students to follow along and to say something the moment they get stuck rather than falling silently behind.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canvas and name the nodes left to right. Point out the round nodes hanging below the vector store — embeddings, data loader and text splitter are sub-nodes, which is why their connectors are dotted. Students often think a dotted line means broken.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hotel key card analogy is the one students remember. Make the revocation point explicit: they can go to their Google account security page right now and see n8n listed, and remove it with one click. That is the whole value of OAuth.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slide back up whenever someone asks whether they are finished. If the output panel shows a name and an id, they are done. If not, they are not — and Part 5 of the manual tells them which of nine things went wrong.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pace: steps 1 to 3 in fifteen minutes, then regroup. The consent screen and OAuth client are where the class will spread out most, so plan to circulate during steps 4 and 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exact file name; the search in step 9 will not forgive a typo. The project ID matters because Google’s error messages quote the ID, never the friendly name, and students cannot match them up otherwise.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have everyone read their own top bar aloud, or at least check it. Thirty seconds now saves a ten-minute debugging detour later — this single mistake accounts for most of the errors in this lab. The lower screenshot is what students should compare against: a green API Enabled badge and a Manage button, not an Enable button.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renamed and moved this page, so older tutorials point at a URL that no longer exists. If a student cannot find it, tell them to type “Google Auth Platform” into the console search bar. The four steps take about three minutes.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The 403 error message students will hit says nothing about test users, so they go hunting through the wrong settings for twenty minutes. Have every student confirm their own address is in the table before you move 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stress. First the order: students who work left-to-right through Google's form get stuck because they do not yet have the redirect URL. Second, Google's page says settings can take five minutes to a few hours to apply — so a mismatch error immediately after creating the client is sometimes just impatience.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anyone continue past this slide with a broken credential — every remaining step depends on it. Walk the room and check for the green tick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envelope analogy: the field name is the label printed on the envelope; the file name is the letter inside. You do not reprint the envelope to send a different letter. Also remind them an imported workflow never carries the author's credentials — that is a safety feature.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Execute step, not Execute workflow — running one node at a time is the habit you want them to build. Explain why the ID matters: it survives renaming and moving, which the name does not.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403 screen on the left and point out what it does NOT say: nothing about test users, nothing about the Audience page. That gap is why students go hunting in the wrong place. Then teach the habit of reading the project number out of the second error and comparing it to the project in the top bar — that single skill resolves four of the nine problems in the manual.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two minutes for the pair explanation. It surfaces misunderstandings faster than any question you could ask from the front, and it is the moment the OAuth flow usually clicks.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8595360" y="-1737360"/>
            <a:ext cx="5669280" cy="5669280"/>
          </a:xfrm>
          <a:prstGeom prst="ellipse">
            <a:avLst/>
          </a:prstGeom>
          <a:solidFill>
            <a:srgbClr val="1B2E4F"/>
          </a:solidFill>
          <a:ln w="12700">
            <a:solidFill>
              <a:srgbClr val="1B2E4F"/>
            </a:solidFill>
            <a:prstDash val="solid"/>
          </a:ln>
        </p:spPr>
        <p:txBody>
          <a:bodyPr/>
          <a:lstStyle/>
          <a:p>
            <a:endParaRPr lang="en-US"/>
          </a:p>
        </p:txBody>
      </p:sp>
      <p:sp>
        <p:nvSpPr>
          <p:cNvPr id="3" name="Shape 1"/>
          <p:cNvSpPr/>
          <p:nvPr/>
        </p:nvSpPr>
        <p:spPr>
          <a:xfrm>
            <a:off x="10241280" y="3383280"/>
            <a:ext cx="3291840" cy="3291840"/>
          </a:xfrm>
          <a:prstGeom prst="ellipse">
            <a:avLst/>
          </a:prstGeom>
          <a:solidFill>
            <a:srgbClr val="1A2C4C"/>
          </a:solidFill>
          <a:ln w="12700">
            <a:solidFill>
              <a:srgbClr val="1A2C4C"/>
            </a:solidFill>
            <a:prstDash val="solid"/>
          </a:ln>
        </p:spPr>
        <p:txBody>
          <a:bodyPr/>
          <a:lstStyle/>
          <a:p>
            <a:endParaRPr lang="en-US"/>
          </a:p>
        </p:txBody>
      </p:sp>
      <p:sp>
        <p:nvSpPr>
          <p:cNvPr id="4" name="Text 2"/>
          <p:cNvSpPr/>
          <p:nvPr/>
        </p:nvSpPr>
        <p:spPr>
          <a:xfrm>
            <a:off x="658368" y="1417320"/>
            <a:ext cx="8229600" cy="310896"/>
          </a:xfrm>
          <a:prstGeom prst="rect">
            <a:avLst/>
          </a:prstGeom>
          <a:noFill/>
          <a:ln/>
        </p:spPr>
        <p:txBody>
          <a:bodyPr wrap="square" lIns="0" tIns="0" rIns="0" bIns="0" rtlCol="0" anchor="ctr"/>
          <a:lstStyle/>
          <a:p>
            <a:pPr marL="0" indent="0" algn="l">
              <a:buNone/>
            </a:pPr>
            <a:r>
              <a:rPr lang="en-US" sz="1200" b="1" kern="0" spc="240" dirty="0">
                <a:solidFill>
                  <a:srgbClr val="F09CB0"/>
                </a:solidFill>
                <a:latin typeface="Calibri" pitchFamily="34" charset="0"/>
                <a:ea typeface="Calibri" pitchFamily="34" charset="-122"/>
                <a:cs typeface="Calibri" pitchFamily="34" charset="-120"/>
              </a:rPr>
              <a:t>AI AGENTS &amp; RAG   ·   MODULE 6   ·   LESSON 1 OF 4</a:t>
            </a:r>
            <a:endParaRPr lang="en-US" sz="1200" dirty="0"/>
          </a:p>
        </p:txBody>
      </p:sp>
      <p:sp>
        <p:nvSpPr>
          <p:cNvPr id="5" name="Text 3"/>
          <p:cNvSpPr/>
          <p:nvPr/>
        </p:nvSpPr>
        <p:spPr>
          <a:xfrm>
            <a:off x="658368" y="1828800"/>
            <a:ext cx="9326880" cy="105156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Building RAG with n8n</a:t>
            </a:r>
            <a:endParaRPr lang="en-US" sz="4800" dirty="0"/>
          </a:p>
        </p:txBody>
      </p:sp>
      <p:sp>
        <p:nvSpPr>
          <p:cNvPr id="6" name="Text 4"/>
          <p:cNvSpPr/>
          <p:nvPr/>
        </p:nvSpPr>
        <p:spPr>
          <a:xfrm>
            <a:off x="658368" y="2880360"/>
            <a:ext cx="9326880" cy="548640"/>
          </a:xfrm>
          <a:prstGeom prst="rect">
            <a:avLst/>
          </a:prstGeom>
          <a:noFill/>
          <a:ln/>
        </p:spPr>
        <p:txBody>
          <a:bodyPr wrap="square" lIns="0" tIns="0" rIns="0" bIns="0" rtlCol="0" anchor="ctr"/>
          <a:lstStyle/>
          <a:p>
            <a:pPr marL="0" indent="0" algn="l">
              <a:buNone/>
            </a:pPr>
            <a:r>
              <a:rPr lang="en-US" sz="2200" dirty="0">
                <a:solidFill>
                  <a:srgbClr val="C3D0E2"/>
                </a:solidFill>
                <a:latin typeface="Calibri" pitchFamily="34" charset="0"/>
                <a:ea typeface="Calibri" pitchFamily="34" charset="-122"/>
                <a:cs typeface="Calibri" pitchFamily="34" charset="-120"/>
              </a:rPr>
              <a:t>Lesson 1 — Connect, Authenticate &amp; Find a Real File</a:t>
            </a:r>
            <a:endParaRPr lang="en-US" sz="2200" dirty="0"/>
          </a:p>
        </p:txBody>
      </p:sp>
      <p:sp>
        <p:nvSpPr>
          <p:cNvPr id="7" name="Shape 5"/>
          <p:cNvSpPr/>
          <p:nvPr/>
        </p:nvSpPr>
        <p:spPr>
          <a:xfrm>
            <a:off x="658368" y="3886200"/>
            <a:ext cx="4937760" cy="566928"/>
          </a:xfrm>
          <a:prstGeom prst="roundRect">
            <a:avLst>
              <a:gd name="adj" fmla="val 16129"/>
            </a:avLst>
          </a:prstGeom>
          <a:solidFill>
            <a:srgbClr val="E04E6B"/>
          </a:solidFill>
          <a:ln w="12700">
            <a:solidFill>
              <a:srgbClr val="E04E6B"/>
            </a:solidFill>
            <a:prstDash val="solid"/>
          </a:ln>
        </p:spPr>
        <p:txBody>
          <a:bodyPr/>
          <a:lstStyle/>
          <a:p>
            <a:endParaRPr lang="en-US"/>
          </a:p>
        </p:txBody>
      </p:sp>
      <p:sp>
        <p:nvSpPr>
          <p:cNvPr id="8" name="Text 6"/>
          <p:cNvSpPr/>
          <p:nvPr/>
        </p:nvSpPr>
        <p:spPr>
          <a:xfrm>
            <a:off x="658368" y="3886200"/>
            <a:ext cx="493776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Today: from zero access to a real file ID</a:t>
            </a:r>
            <a:endParaRPr lang="en-US" sz="1400" dirty="0"/>
          </a:p>
        </p:txBody>
      </p:sp>
      <p:sp>
        <p:nvSpPr>
          <p:cNvPr id="9" name="Text 7"/>
          <p:cNvSpPr/>
          <p:nvPr/>
        </p:nvSpPr>
        <p:spPr>
          <a:xfrm>
            <a:off x="658368" y="4892040"/>
            <a:ext cx="8229600" cy="329184"/>
          </a:xfrm>
          <a:prstGeom prst="rect">
            <a:avLst/>
          </a:prstGeom>
          <a:noFill/>
          <a:ln/>
        </p:spPr>
        <p:txBody>
          <a:bodyPr wrap="square" lIns="0" tIns="0" rIns="0" bIns="0" rtlCol="0" anchor="ctr"/>
          <a:lstStyle/>
          <a:p>
            <a:pPr marL="0" indent="0" algn="l">
              <a:buNone/>
            </a:pPr>
            <a:r>
              <a:rPr lang="en-US" sz="1300" dirty="0">
                <a:solidFill>
                  <a:srgbClr val="8FA3BF"/>
                </a:solidFill>
                <a:latin typeface="Calibri" pitchFamily="34" charset="0"/>
                <a:ea typeface="Calibri" pitchFamily="34" charset="-122"/>
                <a:cs typeface="Calibri" pitchFamily="34" charset="-120"/>
              </a:rPr>
              <a:t>Beginner  ·  120 minutes  ·  No coding required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What we do today</a:t>
            </a:r>
            <a:endParaRPr lang="en-US" sz="3000" dirty="0"/>
          </a:p>
        </p:txBody>
      </p:sp>
      <p:sp>
        <p:nvSpPr>
          <p:cNvPr id="4" name="Shape 2"/>
          <p:cNvSpPr/>
          <p:nvPr/>
        </p:nvSpPr>
        <p:spPr>
          <a:xfrm>
            <a:off x="658368" y="1783080"/>
            <a:ext cx="2526716" cy="2468880"/>
          </a:xfrm>
          <a:prstGeom prst="roundRect">
            <a:avLst>
              <a:gd name="adj" fmla="val 3333"/>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5" name="Shape 3"/>
          <p:cNvSpPr/>
          <p:nvPr/>
        </p:nvSpPr>
        <p:spPr>
          <a:xfrm>
            <a:off x="914400" y="2020824"/>
            <a:ext cx="402336" cy="402336"/>
          </a:xfrm>
          <a:prstGeom prst="ellipse">
            <a:avLst/>
          </a:prstGeom>
          <a:solidFill>
            <a:srgbClr val="E04E6B"/>
          </a:solidFill>
          <a:ln w="12700">
            <a:solidFill>
              <a:srgbClr val="E04E6B"/>
            </a:solidFill>
            <a:prstDash val="solid"/>
          </a:ln>
        </p:spPr>
        <p:txBody>
          <a:bodyPr/>
          <a:lstStyle/>
          <a:p>
            <a:endParaRPr lang="en-US"/>
          </a:p>
        </p:txBody>
      </p:sp>
      <p:sp>
        <p:nvSpPr>
          <p:cNvPr id="6" name="Text 4"/>
          <p:cNvSpPr/>
          <p:nvPr/>
        </p:nvSpPr>
        <p:spPr>
          <a:xfrm>
            <a:off x="914400" y="20208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14400" y="2532888"/>
            <a:ext cx="2014652" cy="310896"/>
          </a:xfrm>
          <a:prstGeom prst="rect">
            <a:avLst/>
          </a:prstGeom>
          <a:noFill/>
          <a:ln/>
        </p:spPr>
        <p:txBody>
          <a:bodyPr wrap="square" lIns="0" tIns="0" rIns="0" bIns="0" rtlCol="0" anchor="ctr"/>
          <a:lstStyle/>
          <a:p>
            <a:pPr marL="0" indent="0" algn="l">
              <a:lnSpc>
                <a:spcPct val="102000"/>
              </a:lnSpc>
              <a:buNone/>
            </a:pPr>
            <a:r>
              <a:rPr lang="en-US" sz="1600" b="1" dirty="0">
                <a:solidFill>
                  <a:srgbClr val="13233F"/>
                </a:solidFill>
                <a:latin typeface="Calibri" pitchFamily="34" charset="0"/>
                <a:ea typeface="Calibri" pitchFamily="34" charset="-122"/>
                <a:cs typeface="Calibri" pitchFamily="34" charset="-120"/>
              </a:rPr>
              <a:t>The idea</a:t>
            </a:r>
            <a:endParaRPr lang="en-US" sz="1600" dirty="0"/>
          </a:p>
        </p:txBody>
      </p:sp>
      <p:sp>
        <p:nvSpPr>
          <p:cNvPr id="8" name="Text 6"/>
          <p:cNvSpPr/>
          <p:nvPr/>
        </p:nvSpPr>
        <p:spPr>
          <a:xfrm>
            <a:off x="914400" y="2898648"/>
            <a:ext cx="2014652" cy="1152144"/>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Why an AI model cannot answer from your files, and how RAG fixes it.</a:t>
            </a:r>
            <a:endParaRPr lang="en-US" sz="1350" dirty="0"/>
          </a:p>
        </p:txBody>
      </p:sp>
      <p:sp>
        <p:nvSpPr>
          <p:cNvPr id="9" name="Shape 7"/>
          <p:cNvSpPr/>
          <p:nvPr/>
        </p:nvSpPr>
        <p:spPr>
          <a:xfrm>
            <a:off x="3441116" y="1783080"/>
            <a:ext cx="2526716" cy="2468880"/>
          </a:xfrm>
          <a:prstGeom prst="roundRect">
            <a:avLst>
              <a:gd name="adj" fmla="val 3333"/>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10" name="Shape 8"/>
          <p:cNvSpPr/>
          <p:nvPr/>
        </p:nvSpPr>
        <p:spPr>
          <a:xfrm>
            <a:off x="3697148" y="2020824"/>
            <a:ext cx="402336" cy="402336"/>
          </a:xfrm>
          <a:prstGeom prst="ellipse">
            <a:avLst/>
          </a:prstGeom>
          <a:solidFill>
            <a:srgbClr val="2A6FB5"/>
          </a:solidFill>
          <a:ln w="12700">
            <a:solidFill>
              <a:srgbClr val="2A6FB5"/>
            </a:solidFill>
            <a:prstDash val="solid"/>
          </a:ln>
        </p:spPr>
        <p:txBody>
          <a:bodyPr/>
          <a:lstStyle/>
          <a:p>
            <a:endParaRPr lang="en-US"/>
          </a:p>
        </p:txBody>
      </p:sp>
      <p:sp>
        <p:nvSpPr>
          <p:cNvPr id="11" name="Text 9"/>
          <p:cNvSpPr/>
          <p:nvPr/>
        </p:nvSpPr>
        <p:spPr>
          <a:xfrm>
            <a:off x="3697148" y="20208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697148" y="2532888"/>
            <a:ext cx="2014652" cy="310896"/>
          </a:xfrm>
          <a:prstGeom prst="rect">
            <a:avLst/>
          </a:prstGeom>
          <a:noFill/>
          <a:ln/>
        </p:spPr>
        <p:txBody>
          <a:bodyPr wrap="square" lIns="0" tIns="0" rIns="0" bIns="0" rtlCol="0" anchor="ctr"/>
          <a:lstStyle/>
          <a:p>
            <a:pPr marL="0" indent="0" algn="l">
              <a:lnSpc>
                <a:spcPct val="102000"/>
              </a:lnSpc>
              <a:buNone/>
            </a:pPr>
            <a:r>
              <a:rPr lang="en-US" sz="1600" b="1" dirty="0">
                <a:solidFill>
                  <a:srgbClr val="13233F"/>
                </a:solidFill>
                <a:latin typeface="Calibri" pitchFamily="34" charset="0"/>
                <a:ea typeface="Calibri" pitchFamily="34" charset="-122"/>
                <a:cs typeface="Calibri" pitchFamily="34" charset="-120"/>
              </a:rPr>
              <a:t>The vocabulary</a:t>
            </a:r>
            <a:endParaRPr lang="en-US" sz="1600" dirty="0"/>
          </a:p>
        </p:txBody>
      </p:sp>
      <p:sp>
        <p:nvSpPr>
          <p:cNvPr id="13" name="Text 11"/>
          <p:cNvSpPr/>
          <p:nvPr/>
        </p:nvSpPr>
        <p:spPr>
          <a:xfrm>
            <a:off x="3697148" y="2898648"/>
            <a:ext cx="2014652" cy="1152144"/>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Document, chunk, embedding, vector store, semantic search.</a:t>
            </a:r>
            <a:endParaRPr lang="en-US" sz="1350" dirty="0"/>
          </a:p>
        </p:txBody>
      </p:sp>
      <p:sp>
        <p:nvSpPr>
          <p:cNvPr id="14" name="Shape 12"/>
          <p:cNvSpPr/>
          <p:nvPr/>
        </p:nvSpPr>
        <p:spPr>
          <a:xfrm>
            <a:off x="6223864" y="1783080"/>
            <a:ext cx="2526716" cy="2468880"/>
          </a:xfrm>
          <a:prstGeom prst="roundRect">
            <a:avLst>
              <a:gd name="adj" fmla="val 3333"/>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15" name="Shape 13"/>
          <p:cNvSpPr/>
          <p:nvPr/>
        </p:nvSpPr>
        <p:spPr>
          <a:xfrm>
            <a:off x="6479896" y="2020824"/>
            <a:ext cx="402336" cy="402336"/>
          </a:xfrm>
          <a:prstGeom prst="ellipse">
            <a:avLst/>
          </a:prstGeom>
          <a:solidFill>
            <a:srgbClr val="A85F12"/>
          </a:solidFill>
          <a:ln w="12700">
            <a:solidFill>
              <a:srgbClr val="A85F12"/>
            </a:solidFill>
            <a:prstDash val="solid"/>
          </a:ln>
        </p:spPr>
        <p:txBody>
          <a:bodyPr/>
          <a:lstStyle/>
          <a:p>
            <a:endParaRPr lang="en-US"/>
          </a:p>
        </p:txBody>
      </p:sp>
      <p:sp>
        <p:nvSpPr>
          <p:cNvPr id="16" name="Text 14"/>
          <p:cNvSpPr/>
          <p:nvPr/>
        </p:nvSpPr>
        <p:spPr>
          <a:xfrm>
            <a:off x="6479896" y="20208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479896" y="2532888"/>
            <a:ext cx="2014652" cy="310896"/>
          </a:xfrm>
          <a:prstGeom prst="rect">
            <a:avLst/>
          </a:prstGeom>
          <a:noFill/>
          <a:ln/>
        </p:spPr>
        <p:txBody>
          <a:bodyPr wrap="square" lIns="0" tIns="0" rIns="0" bIns="0" rtlCol="0" anchor="ctr"/>
          <a:lstStyle/>
          <a:p>
            <a:pPr marL="0" indent="0" algn="l">
              <a:lnSpc>
                <a:spcPct val="102000"/>
              </a:lnSpc>
              <a:buNone/>
            </a:pPr>
            <a:r>
              <a:rPr lang="en-US" sz="1600" b="1" dirty="0">
                <a:solidFill>
                  <a:srgbClr val="13233F"/>
                </a:solidFill>
                <a:latin typeface="Calibri" pitchFamily="34" charset="0"/>
                <a:ea typeface="Calibri" pitchFamily="34" charset="-122"/>
                <a:cs typeface="Calibri" pitchFamily="34" charset="-120"/>
              </a:rPr>
              <a:t>The lab</a:t>
            </a:r>
            <a:endParaRPr lang="en-US" sz="1600" dirty="0"/>
          </a:p>
        </p:txBody>
      </p:sp>
      <p:sp>
        <p:nvSpPr>
          <p:cNvPr id="18" name="Text 16"/>
          <p:cNvSpPr/>
          <p:nvPr/>
        </p:nvSpPr>
        <p:spPr>
          <a:xfrm>
            <a:off x="6479896" y="2898648"/>
            <a:ext cx="2014652" cy="1152144"/>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Google Cloud, the Drive API, OAuth, and the n8n workflow.</a:t>
            </a:r>
            <a:endParaRPr lang="en-US" sz="1350" dirty="0"/>
          </a:p>
        </p:txBody>
      </p:sp>
      <p:sp>
        <p:nvSpPr>
          <p:cNvPr id="19" name="Shape 17"/>
          <p:cNvSpPr/>
          <p:nvPr/>
        </p:nvSpPr>
        <p:spPr>
          <a:xfrm>
            <a:off x="9006611" y="1783080"/>
            <a:ext cx="2526716" cy="2468880"/>
          </a:xfrm>
          <a:prstGeom prst="roundRect">
            <a:avLst>
              <a:gd name="adj" fmla="val 3333"/>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20" name="Shape 18"/>
          <p:cNvSpPr/>
          <p:nvPr/>
        </p:nvSpPr>
        <p:spPr>
          <a:xfrm>
            <a:off x="9262643" y="2020824"/>
            <a:ext cx="402336" cy="402336"/>
          </a:xfrm>
          <a:prstGeom prst="ellipse">
            <a:avLst/>
          </a:prstGeom>
          <a:solidFill>
            <a:srgbClr val="1B8F62"/>
          </a:solidFill>
          <a:ln w="12700">
            <a:solidFill>
              <a:srgbClr val="1B8F62"/>
            </a:solidFill>
            <a:prstDash val="solid"/>
          </a:ln>
        </p:spPr>
        <p:txBody>
          <a:bodyPr/>
          <a:lstStyle/>
          <a:p>
            <a:endParaRPr lang="en-US"/>
          </a:p>
        </p:txBody>
      </p:sp>
      <p:sp>
        <p:nvSpPr>
          <p:cNvPr id="21" name="Text 19"/>
          <p:cNvSpPr/>
          <p:nvPr/>
        </p:nvSpPr>
        <p:spPr>
          <a:xfrm>
            <a:off x="9262643" y="202082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9262643" y="2532888"/>
            <a:ext cx="2014652" cy="310896"/>
          </a:xfrm>
          <a:prstGeom prst="rect">
            <a:avLst/>
          </a:prstGeom>
          <a:noFill/>
          <a:ln/>
        </p:spPr>
        <p:txBody>
          <a:bodyPr wrap="square" lIns="0" tIns="0" rIns="0" bIns="0" rtlCol="0" anchor="ctr"/>
          <a:lstStyle/>
          <a:p>
            <a:pPr marL="0" indent="0" algn="l">
              <a:lnSpc>
                <a:spcPct val="102000"/>
              </a:lnSpc>
              <a:buNone/>
            </a:pPr>
            <a:r>
              <a:rPr lang="en-US" sz="1600" b="1" dirty="0">
                <a:solidFill>
                  <a:srgbClr val="13233F"/>
                </a:solidFill>
                <a:latin typeface="Calibri" pitchFamily="34" charset="0"/>
                <a:ea typeface="Calibri" pitchFamily="34" charset="-122"/>
                <a:cs typeface="Calibri" pitchFamily="34" charset="-120"/>
              </a:rPr>
              <a:t>The proof</a:t>
            </a:r>
            <a:endParaRPr lang="en-US" sz="1600" dirty="0"/>
          </a:p>
        </p:txBody>
      </p:sp>
      <p:sp>
        <p:nvSpPr>
          <p:cNvPr id="23" name="Text 21"/>
          <p:cNvSpPr/>
          <p:nvPr/>
        </p:nvSpPr>
        <p:spPr>
          <a:xfrm>
            <a:off x="9262643" y="2898648"/>
            <a:ext cx="2014652" cy="1152144"/>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n8n returns a real file name and a real Google Drive file ID.</a:t>
            </a:r>
            <a:endParaRPr lang="en-US" sz="1350" dirty="0"/>
          </a:p>
        </p:txBody>
      </p:sp>
      <p:sp>
        <p:nvSpPr>
          <p:cNvPr id="24" name="Shape 22"/>
          <p:cNvSpPr/>
          <p:nvPr/>
        </p:nvSpPr>
        <p:spPr>
          <a:xfrm>
            <a:off x="658368" y="4480560"/>
            <a:ext cx="10874959" cy="1280160"/>
          </a:xfrm>
          <a:prstGeom prst="roundRect">
            <a:avLst>
              <a:gd name="adj" fmla="val 5714"/>
            </a:avLst>
          </a:prstGeom>
          <a:solidFill>
            <a:srgbClr val="E4EBF3"/>
          </a:solidFill>
          <a:ln w="12700">
            <a:solidFill>
              <a:srgbClr val="E4EBF3"/>
            </a:solidFill>
            <a:prstDash val="solid"/>
          </a:ln>
        </p:spPr>
        <p:txBody>
          <a:bodyPr/>
          <a:lstStyle/>
          <a:p>
            <a:endParaRPr lang="en-US"/>
          </a:p>
        </p:txBody>
      </p:sp>
      <p:sp>
        <p:nvSpPr>
          <p:cNvPr id="25" name="Text 23"/>
          <p:cNvSpPr/>
          <p:nvPr/>
        </p:nvSpPr>
        <p:spPr>
          <a:xfrm>
            <a:off x="932688" y="4626864"/>
            <a:ext cx="10326319" cy="219456"/>
          </a:xfrm>
          <a:prstGeom prst="rect">
            <a:avLst/>
          </a:prstGeom>
          <a:noFill/>
          <a:ln/>
        </p:spPr>
        <p:txBody>
          <a:bodyPr wrap="square" lIns="0" tIns="0" rIns="0" bIns="0" rtlCol="0" anchor="ctr"/>
          <a:lstStyle/>
          <a:p>
            <a:pPr marL="0" indent="0" algn="l">
              <a:buNone/>
            </a:pPr>
            <a:r>
              <a:rPr lang="en-US" sz="1050" b="1" kern="0" spc="160" dirty="0">
                <a:solidFill>
                  <a:srgbClr val="13233F"/>
                </a:solidFill>
                <a:latin typeface="Calibri" pitchFamily="34" charset="0"/>
                <a:ea typeface="Calibri" pitchFamily="34" charset="-122"/>
                <a:cs typeface="Calibri" pitchFamily="34" charset="-120"/>
              </a:rPr>
              <a:t>WHERE WE STOP</a:t>
            </a:r>
            <a:endParaRPr lang="en-US" sz="1050" dirty="0"/>
          </a:p>
        </p:txBody>
      </p:sp>
      <p:sp>
        <p:nvSpPr>
          <p:cNvPr id="26" name="Text 24"/>
          <p:cNvSpPr/>
          <p:nvPr/>
        </p:nvSpPr>
        <p:spPr>
          <a:xfrm>
            <a:off x="932688" y="4882896"/>
            <a:ext cx="10326319" cy="713232"/>
          </a:xfrm>
          <a:prstGeom prst="rect">
            <a:avLst/>
          </a:prstGeom>
          <a:noFill/>
          <a:ln/>
        </p:spPr>
        <p:txBody>
          <a:bodyPr wrap="square" lIns="0" tIns="0" rIns="0" bIns="0" rtlCol="0" anchor="t"/>
          <a:lstStyle/>
          <a:p>
            <a:pPr marL="0" indent="0" algn="l">
              <a:lnSpc>
                <a:spcPct val="110000"/>
              </a:lnSpc>
              <a:buNone/>
            </a:pPr>
            <a:r>
              <a:rPr lang="en-US" sz="1600" dirty="0">
                <a:solidFill>
                  <a:srgbClr val="1D2530"/>
                </a:solidFill>
                <a:latin typeface="Calibri" pitchFamily="34" charset="0"/>
                <a:ea typeface="Calibri" pitchFamily="34" charset="-122"/>
                <a:cs typeface="Calibri" pitchFamily="34" charset="-120"/>
              </a:rPr>
              <a:t>Lesson 1 ends the moment n8n can see a file in your Drive. Chunking, embeddings, the vector store and the AI agent are Lessons 2 to 4 — but you will understand all of them by the end of today.</a:t>
            </a:r>
            <a:endParaRPr lang="en-US" sz="1600" dirty="0"/>
          </a:p>
        </p:txBody>
      </p:sp>
      <p:sp>
        <p:nvSpPr>
          <p:cNvPr id="27" name="Text 25"/>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754880" cy="4754880"/>
          </a:xfrm>
          <a:prstGeom prst="ellipse">
            <a:avLst/>
          </a:prstGeom>
          <a:solidFill>
            <a:srgbClr val="1B2E4F"/>
          </a:solidFill>
          <a:ln w="12700">
            <a:solidFill>
              <a:srgbClr val="1B2E4F"/>
            </a:solidFill>
            <a:prstDash val="solid"/>
          </a:ln>
        </p:spPr>
        <p:txBody>
          <a:bodyPr/>
          <a:lstStyle/>
          <a:p>
            <a:endParaRPr lang="en-US"/>
          </a:p>
        </p:txBody>
      </p:sp>
      <p:sp>
        <p:nvSpPr>
          <p:cNvPr id="3" name="Text 1"/>
          <p:cNvSpPr/>
          <p:nvPr/>
        </p:nvSpPr>
        <p:spPr>
          <a:xfrm>
            <a:off x="658368" y="2240280"/>
            <a:ext cx="8778240" cy="310896"/>
          </a:xfrm>
          <a:prstGeom prst="rect">
            <a:avLst/>
          </a:prstGeom>
          <a:noFill/>
          <a:ln/>
        </p:spPr>
        <p:txBody>
          <a:bodyPr wrap="square" lIns="0" tIns="0" rIns="0" bIns="0" rtlCol="0" anchor="ctr"/>
          <a:lstStyle/>
          <a:p>
            <a:pPr marL="0" indent="0" algn="l">
              <a:buNone/>
            </a:pPr>
            <a:r>
              <a:rPr lang="en-US" sz="1200" b="1" kern="0" spc="240" dirty="0">
                <a:solidFill>
                  <a:srgbClr val="E04E6B"/>
                </a:solidFill>
                <a:latin typeface="Calibri" pitchFamily="34" charset="0"/>
                <a:ea typeface="Calibri" pitchFamily="34" charset="-122"/>
                <a:cs typeface="Calibri" pitchFamily="34" charset="-120"/>
              </a:rPr>
              <a:t>PART 1</a:t>
            </a:r>
            <a:endParaRPr lang="en-US" sz="1200" dirty="0"/>
          </a:p>
        </p:txBody>
      </p:sp>
      <p:sp>
        <p:nvSpPr>
          <p:cNvPr id="4" name="Text 2"/>
          <p:cNvSpPr/>
          <p:nvPr/>
        </p:nvSpPr>
        <p:spPr>
          <a:xfrm>
            <a:off x="658368" y="2651760"/>
            <a:ext cx="8778240" cy="86868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Why RAG exists</a:t>
            </a:r>
            <a:endParaRPr lang="en-US" sz="3800" dirty="0"/>
          </a:p>
        </p:txBody>
      </p:sp>
      <p:sp>
        <p:nvSpPr>
          <p:cNvPr id="5" name="Text 3"/>
          <p:cNvSpPr/>
          <p:nvPr/>
        </p:nvSpPr>
        <p:spPr>
          <a:xfrm>
            <a:off x="658368" y="3611880"/>
            <a:ext cx="8229600" cy="640080"/>
          </a:xfrm>
          <a:prstGeom prst="rect">
            <a:avLst/>
          </a:prstGeom>
          <a:noFill/>
          <a:ln/>
        </p:spPr>
        <p:txBody>
          <a:bodyPr wrap="square" lIns="0" tIns="0" rIns="0" bIns="0" rtlCol="0" anchor="t"/>
          <a:lstStyle/>
          <a:p>
            <a:pPr marL="0" indent="0" algn="l">
              <a:buNone/>
            </a:pPr>
            <a:r>
              <a:rPr lang="en-US" sz="1600" dirty="0">
                <a:solidFill>
                  <a:srgbClr val="C3D0E2"/>
                </a:solidFill>
                <a:latin typeface="Calibri" pitchFamily="34" charset="0"/>
                <a:ea typeface="Calibri" pitchFamily="34" charset="-122"/>
                <a:cs typeface="Calibri" pitchFamily="34" charset="-120"/>
              </a:rPr>
              <a:t>Before we click anything, we need to know what problem we are solving — and why the obvious fix is the wrong one.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Ask a language model this question</a:t>
            </a:r>
            <a:endParaRPr lang="en-US" sz="3000" dirty="0"/>
          </a:p>
        </p:txBody>
      </p:sp>
      <p:sp>
        <p:nvSpPr>
          <p:cNvPr id="4" name="Shape 2"/>
          <p:cNvSpPr/>
          <p:nvPr/>
        </p:nvSpPr>
        <p:spPr>
          <a:xfrm>
            <a:off x="658368" y="1554480"/>
            <a:ext cx="10874959" cy="914400"/>
          </a:xfrm>
          <a:prstGeom prst="roundRect">
            <a:avLst>
              <a:gd name="adj" fmla="val 10000"/>
            </a:avLst>
          </a:prstGeom>
          <a:solidFill>
            <a:srgbClr val="13233F"/>
          </a:solidFill>
          <a:ln w="12700">
            <a:solidFill>
              <a:srgbClr val="13233F"/>
            </a:solidFill>
            <a:prstDash val="solid"/>
          </a:ln>
        </p:spPr>
        <p:txBody>
          <a:bodyPr/>
          <a:lstStyle/>
          <a:p>
            <a:endParaRPr lang="en-US"/>
          </a:p>
        </p:txBody>
      </p:sp>
      <p:sp>
        <p:nvSpPr>
          <p:cNvPr id="5" name="Text 3"/>
          <p:cNvSpPr/>
          <p:nvPr/>
        </p:nvSpPr>
        <p:spPr>
          <a:xfrm>
            <a:off x="978408" y="1554480"/>
            <a:ext cx="10234879" cy="914400"/>
          </a:xfrm>
          <a:prstGeom prst="rect">
            <a:avLst/>
          </a:prstGeom>
          <a:noFill/>
          <a:ln/>
        </p:spPr>
        <p:txBody>
          <a:bodyPr wrap="square" lIns="0" tIns="0" rIns="0" bIns="0" rtlCol="0" anchor="ctr"/>
          <a:lstStyle/>
          <a:p>
            <a:pPr marL="0" indent="0" algn="l">
              <a:buNone/>
            </a:pPr>
            <a:r>
              <a:rPr lang="en-US" sz="1900" i="1" dirty="0">
                <a:solidFill>
                  <a:srgbClr val="FFFFFF"/>
                </a:solidFill>
                <a:latin typeface="Calibri" pitchFamily="34" charset="0"/>
                <a:ea typeface="Calibri" pitchFamily="34" charset="-122"/>
                <a:cs typeface="Calibri" pitchFamily="34" charset="-120"/>
              </a:rPr>
              <a:t>“How many students are registered in the AI program, and when is the final project due?”</a:t>
            </a:r>
            <a:endParaRPr lang="en-US" sz="1900" dirty="0"/>
          </a:p>
        </p:txBody>
      </p:sp>
      <p:sp>
        <p:nvSpPr>
          <p:cNvPr id="6" name="Shape 4"/>
          <p:cNvSpPr/>
          <p:nvPr/>
        </p:nvSpPr>
        <p:spPr>
          <a:xfrm>
            <a:off x="658368" y="2743200"/>
            <a:ext cx="5282032" cy="2011680"/>
          </a:xfrm>
          <a:prstGeom prst="roundRect">
            <a:avLst>
              <a:gd name="adj" fmla="val 4091"/>
            </a:avLst>
          </a:prstGeom>
          <a:solidFill>
            <a:srgbClr val="FBEBEE"/>
          </a:solidFill>
          <a:ln w="12700">
            <a:solidFill>
              <a:srgbClr val="FBEBEE"/>
            </a:solidFill>
            <a:prstDash val="solid"/>
          </a:ln>
          <a:effectLst>
            <a:outerShdw blurRad="127000" dist="25400" dir="5400000" algn="bl" rotWithShape="0">
              <a:srgbClr val="8496AC">
                <a:alpha val="18000"/>
              </a:srgbClr>
            </a:outerShdw>
          </a:effectLst>
        </p:spPr>
        <p:txBody>
          <a:bodyPr/>
          <a:lstStyle/>
          <a:p>
            <a:endParaRPr lang="en-US"/>
          </a:p>
        </p:txBody>
      </p:sp>
      <p:sp>
        <p:nvSpPr>
          <p:cNvPr id="7" name="Text 5"/>
          <p:cNvSpPr/>
          <p:nvPr/>
        </p:nvSpPr>
        <p:spPr>
          <a:xfrm>
            <a:off x="914400" y="2980944"/>
            <a:ext cx="4769968" cy="310896"/>
          </a:xfrm>
          <a:prstGeom prst="rect">
            <a:avLst/>
          </a:prstGeom>
          <a:noFill/>
          <a:ln/>
        </p:spPr>
        <p:txBody>
          <a:bodyPr wrap="square" lIns="0" tIns="0" rIns="0" bIns="0" rtlCol="0" anchor="ctr"/>
          <a:lstStyle/>
          <a:p>
            <a:pPr marL="0" indent="0" algn="l">
              <a:lnSpc>
                <a:spcPct val="102000"/>
              </a:lnSpc>
              <a:buNone/>
            </a:pPr>
            <a:r>
              <a:rPr lang="en-US" sz="1600" b="1" dirty="0">
                <a:solidFill>
                  <a:srgbClr val="B32E4C"/>
                </a:solidFill>
                <a:latin typeface="Calibri" pitchFamily="34" charset="0"/>
                <a:ea typeface="Calibri" pitchFamily="34" charset="-122"/>
                <a:cs typeface="Calibri" pitchFamily="34" charset="-120"/>
              </a:rPr>
              <a:t>It cannot answer</a:t>
            </a:r>
            <a:endParaRPr lang="en-US" sz="1600" dirty="0"/>
          </a:p>
        </p:txBody>
      </p:sp>
      <p:sp>
        <p:nvSpPr>
          <p:cNvPr id="8" name="Text 6"/>
          <p:cNvSpPr/>
          <p:nvPr/>
        </p:nvSpPr>
        <p:spPr>
          <a:xfrm>
            <a:off x="914400" y="3346704"/>
            <a:ext cx="4769968" cy="1207008"/>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Not because the model is weak. The answer lives in University_AI_Course.txt in your Google Drive, and nobody ever showed that file to the model.</a:t>
            </a:r>
            <a:endParaRPr lang="en-US" sz="1350" dirty="0"/>
          </a:p>
        </p:txBody>
      </p:sp>
      <p:sp>
        <p:nvSpPr>
          <p:cNvPr id="9" name="Shape 7"/>
          <p:cNvSpPr/>
          <p:nvPr/>
        </p:nvSpPr>
        <p:spPr>
          <a:xfrm>
            <a:off x="6251296" y="2743200"/>
            <a:ext cx="5282032" cy="2011680"/>
          </a:xfrm>
          <a:prstGeom prst="roundRect">
            <a:avLst>
              <a:gd name="adj" fmla="val 4091"/>
            </a:avLst>
          </a:prstGeom>
          <a:solidFill>
            <a:srgbClr val="EAF1FA"/>
          </a:solidFill>
          <a:ln w="12700">
            <a:solidFill>
              <a:srgbClr val="EAF1FA"/>
            </a:solidFill>
            <a:prstDash val="solid"/>
          </a:ln>
          <a:effectLst>
            <a:outerShdw blurRad="127000" dist="25400" dir="5400000" algn="bl" rotWithShape="0">
              <a:srgbClr val="8496AC">
                <a:alpha val="18000"/>
              </a:srgbClr>
            </a:outerShdw>
          </a:effectLst>
        </p:spPr>
        <p:txBody>
          <a:bodyPr/>
          <a:lstStyle/>
          <a:p>
            <a:endParaRPr lang="en-US"/>
          </a:p>
        </p:txBody>
      </p:sp>
      <p:sp>
        <p:nvSpPr>
          <p:cNvPr id="10" name="Text 8"/>
          <p:cNvSpPr/>
          <p:nvPr/>
        </p:nvSpPr>
        <p:spPr>
          <a:xfrm>
            <a:off x="6507328" y="2980944"/>
            <a:ext cx="4769968" cy="310896"/>
          </a:xfrm>
          <a:prstGeom prst="rect">
            <a:avLst/>
          </a:prstGeom>
          <a:noFill/>
          <a:ln/>
        </p:spPr>
        <p:txBody>
          <a:bodyPr wrap="square" lIns="0" tIns="0" rIns="0" bIns="0" rtlCol="0" anchor="ctr"/>
          <a:lstStyle/>
          <a:p>
            <a:pPr marL="0" indent="0" algn="l">
              <a:lnSpc>
                <a:spcPct val="102000"/>
              </a:lnSpc>
              <a:buNone/>
            </a:pPr>
            <a:r>
              <a:rPr lang="en-US" sz="1600" b="1" dirty="0">
                <a:solidFill>
                  <a:srgbClr val="2A6FB5"/>
                </a:solidFill>
                <a:latin typeface="Calibri" pitchFamily="34" charset="0"/>
                <a:ea typeface="Calibri" pitchFamily="34" charset="-122"/>
                <a:cs typeface="Calibri" pitchFamily="34" charset="-120"/>
              </a:rPr>
              <a:t>Two blind spots</a:t>
            </a:r>
            <a:endParaRPr lang="en-US" sz="1600" dirty="0"/>
          </a:p>
        </p:txBody>
      </p:sp>
      <p:sp>
        <p:nvSpPr>
          <p:cNvPr id="11" name="Text 9"/>
          <p:cNvSpPr/>
          <p:nvPr/>
        </p:nvSpPr>
        <p:spPr>
          <a:xfrm>
            <a:off x="6507328" y="3346704"/>
            <a:ext cx="4769968" cy="1207008"/>
          </a:xfrm>
          <a:prstGeom prst="rect">
            <a:avLst/>
          </a:prstGeom>
          <a:noFill/>
          <a:ln/>
        </p:spPr>
        <p:txBody>
          <a:bodyPr wrap="square" lIns="0" tIns="0" rIns="0" bIns="0" rtlCol="0" anchor="t"/>
          <a:lstStyle/>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1.  It does not know your private files — your Drive was never in its training data.</a:t>
            </a:r>
            <a:endParaRPr lang="en-US" sz="1350" dirty="0"/>
          </a:p>
          <a:p>
            <a:pPr marL="0" indent="0" algn="l">
              <a:lnSpc>
                <a:spcPct val="112000"/>
              </a:lnSpc>
              <a:buNone/>
            </a:pPr>
            <a:r>
              <a:rPr lang="en-US" sz="1350" dirty="0">
                <a:solidFill>
                  <a:srgbClr val="5C6B7A"/>
                </a:solidFill>
                <a:latin typeface="Calibri" pitchFamily="34" charset="0"/>
                <a:ea typeface="Calibri" pitchFamily="34" charset="-122"/>
                <a:cs typeface="Calibri" pitchFamily="34" charset="-120"/>
              </a:rPr>
              <a:t>2.  It does not know what changed after training.</a:t>
            </a:r>
            <a:endParaRPr lang="en-US" sz="1350" dirty="0"/>
          </a:p>
        </p:txBody>
      </p:sp>
      <p:sp>
        <p:nvSpPr>
          <p:cNvPr id="12" name="Shape 10"/>
          <p:cNvSpPr/>
          <p:nvPr/>
        </p:nvSpPr>
        <p:spPr>
          <a:xfrm>
            <a:off x="658368" y="4892040"/>
            <a:ext cx="10874959" cy="1051560"/>
          </a:xfrm>
          <a:prstGeom prst="roundRect">
            <a:avLst>
              <a:gd name="adj" fmla="val 6957"/>
            </a:avLst>
          </a:prstGeom>
          <a:solidFill>
            <a:srgbClr val="E4EBF3"/>
          </a:solidFill>
          <a:ln w="12700">
            <a:solidFill>
              <a:srgbClr val="E4EBF3"/>
            </a:solidFill>
            <a:prstDash val="solid"/>
          </a:ln>
        </p:spPr>
        <p:txBody>
          <a:bodyPr/>
          <a:lstStyle/>
          <a:p>
            <a:endParaRPr lang="en-US"/>
          </a:p>
        </p:txBody>
      </p:sp>
      <p:sp>
        <p:nvSpPr>
          <p:cNvPr id="13" name="Text 11"/>
          <p:cNvSpPr/>
          <p:nvPr/>
        </p:nvSpPr>
        <p:spPr>
          <a:xfrm>
            <a:off x="932688" y="5038344"/>
            <a:ext cx="10326319" cy="219456"/>
          </a:xfrm>
          <a:prstGeom prst="rect">
            <a:avLst/>
          </a:prstGeom>
          <a:noFill/>
          <a:ln/>
        </p:spPr>
        <p:txBody>
          <a:bodyPr wrap="square" lIns="0" tIns="0" rIns="0" bIns="0" rtlCol="0" anchor="ctr"/>
          <a:lstStyle/>
          <a:p>
            <a:pPr marL="0" indent="0" algn="l">
              <a:buNone/>
            </a:pPr>
            <a:r>
              <a:rPr lang="en-US" sz="1050" b="1" kern="0" spc="160" dirty="0">
                <a:solidFill>
                  <a:srgbClr val="13233F"/>
                </a:solidFill>
                <a:latin typeface="Calibri" pitchFamily="34" charset="0"/>
                <a:ea typeface="Calibri" pitchFamily="34" charset="-122"/>
                <a:cs typeface="Calibri" pitchFamily="34" charset="-120"/>
              </a:rPr>
              <a:t>REMEMBER</a:t>
            </a:r>
            <a:endParaRPr lang="en-US" sz="1050" dirty="0"/>
          </a:p>
        </p:txBody>
      </p:sp>
      <p:sp>
        <p:nvSpPr>
          <p:cNvPr id="14" name="Text 12"/>
          <p:cNvSpPr/>
          <p:nvPr/>
        </p:nvSpPr>
        <p:spPr>
          <a:xfrm>
            <a:off x="932688" y="5294376"/>
            <a:ext cx="10326319" cy="48463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A brilliant graduate who read everything public up to a date, then locked in a room with no internet and no access to your files. Ask general knowledge — excellent. Ask your attendance policy — they guess.</a:t>
            </a:r>
            <a:endParaRPr lang="en-US" sz="1400" dirty="0"/>
          </a:p>
        </p:txBody>
      </p:sp>
      <p:sp>
        <p:nvSpPr>
          <p:cNvPr id="15" name="Text 13"/>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DEFINITION</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RAG = Retrieval-Augmented Generation</a:t>
            </a:r>
            <a:endParaRPr lang="en-US" sz="3000" dirty="0"/>
          </a:p>
        </p:txBody>
      </p:sp>
      <p:sp>
        <p:nvSpPr>
          <p:cNvPr id="4" name="Shape 2"/>
          <p:cNvSpPr/>
          <p:nvPr/>
        </p:nvSpPr>
        <p:spPr>
          <a:xfrm>
            <a:off x="658368" y="1572768"/>
            <a:ext cx="3442106" cy="2148840"/>
          </a:xfrm>
          <a:prstGeom prst="roundRect">
            <a:avLst>
              <a:gd name="adj" fmla="val 3830"/>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5" name="Shape 3"/>
          <p:cNvSpPr/>
          <p:nvPr/>
        </p:nvSpPr>
        <p:spPr>
          <a:xfrm>
            <a:off x="914400" y="1810512"/>
            <a:ext cx="402336" cy="402336"/>
          </a:xfrm>
          <a:prstGeom prst="ellipse">
            <a:avLst/>
          </a:prstGeom>
          <a:solidFill>
            <a:srgbClr val="E04E6B"/>
          </a:solidFill>
          <a:ln w="12700">
            <a:solidFill>
              <a:srgbClr val="E04E6B"/>
            </a:solidFill>
            <a:prstDash val="solid"/>
          </a:ln>
        </p:spPr>
        <p:txBody>
          <a:bodyPr/>
          <a:lstStyle/>
          <a:p>
            <a:endParaRPr lang="en-US"/>
          </a:p>
        </p:txBody>
      </p:sp>
      <p:sp>
        <p:nvSpPr>
          <p:cNvPr id="6" name="Text 4"/>
          <p:cNvSpPr/>
          <p:nvPr/>
        </p:nvSpPr>
        <p:spPr>
          <a:xfrm>
            <a:off x="914400" y="18105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14400" y="2322576"/>
            <a:ext cx="2930042" cy="310896"/>
          </a:xfrm>
          <a:prstGeom prst="rect">
            <a:avLst/>
          </a:prstGeom>
          <a:noFill/>
          <a:ln/>
        </p:spPr>
        <p:txBody>
          <a:bodyPr wrap="square" lIns="0" tIns="0" rIns="0" bIns="0" rtlCol="0" anchor="ctr"/>
          <a:lstStyle/>
          <a:p>
            <a:pPr marL="0" indent="0" algn="l">
              <a:lnSpc>
                <a:spcPct val="102000"/>
              </a:lnSpc>
              <a:buNone/>
            </a:pPr>
            <a:r>
              <a:rPr lang="en-US" sz="2000" b="1" dirty="0">
                <a:solidFill>
                  <a:srgbClr val="13233F"/>
                </a:solidFill>
                <a:latin typeface="Calibri" pitchFamily="34" charset="0"/>
                <a:ea typeface="Calibri" pitchFamily="34" charset="-122"/>
                <a:cs typeface="Calibri" pitchFamily="34" charset="-120"/>
              </a:rPr>
              <a:t>Retrieval</a:t>
            </a:r>
            <a:endParaRPr lang="en-US" sz="2000" dirty="0"/>
          </a:p>
        </p:txBody>
      </p:sp>
      <p:sp>
        <p:nvSpPr>
          <p:cNvPr id="8" name="Text 6"/>
          <p:cNvSpPr/>
          <p:nvPr/>
        </p:nvSpPr>
        <p:spPr>
          <a:xfrm>
            <a:off x="914400" y="2688336"/>
            <a:ext cx="2930042" cy="832104"/>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Search a knowledge source and pull out the passages related to the question.</a:t>
            </a:r>
            <a:endParaRPr lang="en-US" sz="1400" dirty="0"/>
          </a:p>
        </p:txBody>
      </p:sp>
      <p:sp>
        <p:nvSpPr>
          <p:cNvPr id="9" name="Shape 7"/>
          <p:cNvSpPr/>
          <p:nvPr/>
        </p:nvSpPr>
        <p:spPr>
          <a:xfrm>
            <a:off x="4374794" y="1572768"/>
            <a:ext cx="3442106" cy="2148840"/>
          </a:xfrm>
          <a:prstGeom prst="roundRect">
            <a:avLst>
              <a:gd name="adj" fmla="val 3830"/>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10" name="Shape 8"/>
          <p:cNvSpPr/>
          <p:nvPr/>
        </p:nvSpPr>
        <p:spPr>
          <a:xfrm>
            <a:off x="4630826" y="1810512"/>
            <a:ext cx="402336" cy="402336"/>
          </a:xfrm>
          <a:prstGeom prst="ellipse">
            <a:avLst/>
          </a:prstGeom>
          <a:solidFill>
            <a:srgbClr val="2A6FB5"/>
          </a:solidFill>
          <a:ln w="12700">
            <a:solidFill>
              <a:srgbClr val="2A6FB5"/>
            </a:solidFill>
            <a:prstDash val="solid"/>
          </a:ln>
        </p:spPr>
        <p:txBody>
          <a:bodyPr/>
          <a:lstStyle/>
          <a:p>
            <a:endParaRPr lang="en-US"/>
          </a:p>
        </p:txBody>
      </p:sp>
      <p:sp>
        <p:nvSpPr>
          <p:cNvPr id="11" name="Text 9"/>
          <p:cNvSpPr/>
          <p:nvPr/>
        </p:nvSpPr>
        <p:spPr>
          <a:xfrm>
            <a:off x="4630826" y="18105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630826" y="2322576"/>
            <a:ext cx="2930042" cy="310896"/>
          </a:xfrm>
          <a:prstGeom prst="rect">
            <a:avLst/>
          </a:prstGeom>
          <a:noFill/>
          <a:ln/>
        </p:spPr>
        <p:txBody>
          <a:bodyPr wrap="square" lIns="0" tIns="0" rIns="0" bIns="0" rtlCol="0" anchor="ctr"/>
          <a:lstStyle/>
          <a:p>
            <a:pPr marL="0" indent="0" algn="l">
              <a:lnSpc>
                <a:spcPct val="102000"/>
              </a:lnSpc>
              <a:buNone/>
            </a:pPr>
            <a:r>
              <a:rPr lang="en-US" sz="2000" b="1" dirty="0">
                <a:solidFill>
                  <a:srgbClr val="13233F"/>
                </a:solidFill>
                <a:latin typeface="Calibri" pitchFamily="34" charset="0"/>
                <a:ea typeface="Calibri" pitchFamily="34" charset="-122"/>
                <a:cs typeface="Calibri" pitchFamily="34" charset="-120"/>
              </a:rPr>
              <a:t>Augmented</a:t>
            </a:r>
            <a:endParaRPr lang="en-US" sz="2000" dirty="0"/>
          </a:p>
        </p:txBody>
      </p:sp>
      <p:sp>
        <p:nvSpPr>
          <p:cNvPr id="13" name="Text 11"/>
          <p:cNvSpPr/>
          <p:nvPr/>
        </p:nvSpPr>
        <p:spPr>
          <a:xfrm>
            <a:off x="4630826" y="2688336"/>
            <a:ext cx="2930042" cy="832104"/>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Add those passages to the prompt, so the model sees them next to the question.</a:t>
            </a:r>
            <a:endParaRPr lang="en-US" sz="1400" dirty="0"/>
          </a:p>
        </p:txBody>
      </p:sp>
      <p:sp>
        <p:nvSpPr>
          <p:cNvPr id="14" name="Shape 12"/>
          <p:cNvSpPr/>
          <p:nvPr/>
        </p:nvSpPr>
        <p:spPr>
          <a:xfrm>
            <a:off x="8091221" y="1572768"/>
            <a:ext cx="3442106" cy="2148840"/>
          </a:xfrm>
          <a:prstGeom prst="roundRect">
            <a:avLst>
              <a:gd name="adj" fmla="val 3830"/>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15" name="Shape 13"/>
          <p:cNvSpPr/>
          <p:nvPr/>
        </p:nvSpPr>
        <p:spPr>
          <a:xfrm>
            <a:off x="8347253" y="1810512"/>
            <a:ext cx="402336" cy="402336"/>
          </a:xfrm>
          <a:prstGeom prst="ellipse">
            <a:avLst/>
          </a:prstGeom>
          <a:solidFill>
            <a:srgbClr val="1B8F62"/>
          </a:solidFill>
          <a:ln w="12700">
            <a:solidFill>
              <a:srgbClr val="1B8F62"/>
            </a:solidFill>
            <a:prstDash val="solid"/>
          </a:ln>
        </p:spPr>
        <p:txBody>
          <a:bodyPr/>
          <a:lstStyle/>
          <a:p>
            <a:endParaRPr lang="en-US"/>
          </a:p>
        </p:txBody>
      </p:sp>
      <p:sp>
        <p:nvSpPr>
          <p:cNvPr id="16" name="Text 14"/>
          <p:cNvSpPr/>
          <p:nvPr/>
        </p:nvSpPr>
        <p:spPr>
          <a:xfrm>
            <a:off x="8347253" y="18105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347253" y="2322576"/>
            <a:ext cx="2930042" cy="310896"/>
          </a:xfrm>
          <a:prstGeom prst="rect">
            <a:avLst/>
          </a:prstGeom>
          <a:noFill/>
          <a:ln/>
        </p:spPr>
        <p:txBody>
          <a:bodyPr wrap="square" lIns="0" tIns="0" rIns="0" bIns="0" rtlCol="0" anchor="ctr"/>
          <a:lstStyle/>
          <a:p>
            <a:pPr marL="0" indent="0" algn="l">
              <a:lnSpc>
                <a:spcPct val="102000"/>
              </a:lnSpc>
              <a:buNone/>
            </a:pPr>
            <a:r>
              <a:rPr lang="en-US" sz="2000" b="1" dirty="0">
                <a:solidFill>
                  <a:srgbClr val="13233F"/>
                </a:solidFill>
                <a:latin typeface="Calibri" pitchFamily="34" charset="0"/>
                <a:ea typeface="Calibri" pitchFamily="34" charset="-122"/>
                <a:cs typeface="Calibri" pitchFamily="34" charset="-120"/>
              </a:rPr>
              <a:t>Generation</a:t>
            </a:r>
            <a:endParaRPr lang="en-US" sz="2000" dirty="0"/>
          </a:p>
        </p:txBody>
      </p:sp>
      <p:sp>
        <p:nvSpPr>
          <p:cNvPr id="18" name="Text 16"/>
          <p:cNvSpPr/>
          <p:nvPr/>
        </p:nvSpPr>
        <p:spPr>
          <a:xfrm>
            <a:off x="8347253" y="2688336"/>
            <a:ext cx="2930042" cy="832104"/>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The model writes the answer using the passages it was given.</a:t>
            </a:r>
            <a:endParaRPr lang="en-US" sz="1400" dirty="0"/>
          </a:p>
        </p:txBody>
      </p:sp>
      <p:sp>
        <p:nvSpPr>
          <p:cNvPr id="19" name="Text 17"/>
          <p:cNvSpPr/>
          <p:nvPr/>
        </p:nvSpPr>
        <p:spPr>
          <a:xfrm>
            <a:off x="658368" y="3931920"/>
            <a:ext cx="10874959" cy="256032"/>
          </a:xfrm>
          <a:prstGeom prst="rect">
            <a:avLst/>
          </a:prstGeom>
          <a:noFill/>
          <a:ln/>
        </p:spPr>
        <p:txBody>
          <a:bodyPr wrap="square" lIns="0" tIns="0" rIns="0" bIns="0" rtlCol="0" anchor="ctr"/>
          <a:lstStyle/>
          <a:p>
            <a:pPr marL="0" indent="0" algn="l">
              <a:buNone/>
            </a:pPr>
            <a:r>
              <a:rPr lang="en-US" sz="1050" b="1" kern="0" spc="160" dirty="0">
                <a:solidFill>
                  <a:srgbClr val="2A6FB5"/>
                </a:solidFill>
                <a:latin typeface="Calibri" pitchFamily="34" charset="0"/>
                <a:ea typeface="Calibri" pitchFamily="34" charset="-122"/>
                <a:cs typeface="Calibri" pitchFamily="34" charset="-120"/>
              </a:rPr>
              <a:t>IN OUR PROJECT</a:t>
            </a:r>
            <a:endParaRPr lang="en-US" sz="1050" dirty="0"/>
          </a:p>
        </p:txBody>
      </p:sp>
      <p:sp>
        <p:nvSpPr>
          <p:cNvPr id="20" name="Shape 18"/>
          <p:cNvSpPr/>
          <p:nvPr/>
        </p:nvSpPr>
        <p:spPr>
          <a:xfrm>
            <a:off x="658368" y="4251960"/>
            <a:ext cx="10874959" cy="448056"/>
          </a:xfrm>
          <a:prstGeom prst="roundRect">
            <a:avLst>
              <a:gd name="adj" fmla="val 14286"/>
            </a:avLst>
          </a:prstGeom>
          <a:solidFill>
            <a:srgbClr val="EAF1FA"/>
          </a:solidFill>
          <a:ln w="12700">
            <a:solidFill>
              <a:srgbClr val="EAF1FA"/>
            </a:solidFill>
            <a:prstDash val="solid"/>
          </a:ln>
        </p:spPr>
        <p:txBody>
          <a:bodyPr/>
          <a:lstStyle/>
          <a:p>
            <a:endParaRPr lang="en-US"/>
          </a:p>
        </p:txBody>
      </p:sp>
      <p:sp>
        <p:nvSpPr>
          <p:cNvPr id="21" name="Text 19"/>
          <p:cNvSpPr/>
          <p:nvPr/>
        </p:nvSpPr>
        <p:spPr>
          <a:xfrm>
            <a:off x="896112" y="4251960"/>
            <a:ext cx="10399471" cy="448056"/>
          </a:xfrm>
          <a:prstGeom prst="rect">
            <a:avLst/>
          </a:prstGeom>
          <a:noFill/>
          <a:ln/>
        </p:spPr>
        <p:txBody>
          <a:bodyPr wrap="square" lIns="0" tIns="0" rIns="0" bIns="0" rtlCol="0" anchor="ctr"/>
          <a:lstStyle/>
          <a:p>
            <a:pPr marL="0" indent="0" algn="l">
              <a:lnSpc>
                <a:spcPct val="108000"/>
              </a:lnSpc>
              <a:buNone/>
            </a:pPr>
            <a:r>
              <a:rPr lang="en-US" sz="1450" b="1" dirty="0">
                <a:solidFill>
                  <a:srgbClr val="2A6FB5"/>
                </a:solidFill>
                <a:latin typeface="Calibri" pitchFamily="34" charset="0"/>
                <a:ea typeface="Calibri" pitchFamily="34" charset="-122"/>
                <a:cs typeface="Calibri" pitchFamily="34" charset="-120"/>
              </a:rPr>
              <a:t>Retrieval</a:t>
            </a:r>
            <a:r>
              <a:rPr lang="en-US" sz="1450" dirty="0">
                <a:solidFill>
                  <a:srgbClr val="5C6B7A"/>
                </a:solidFill>
                <a:latin typeface="Calibri" pitchFamily="34" charset="0"/>
                <a:ea typeface="Calibri" pitchFamily="34" charset="-122"/>
                <a:cs typeface="Calibri" pitchFamily="34" charset="-120"/>
              </a:rPr>
              <a:t>   search a vector store built from your Google Drive documents</a:t>
            </a:r>
            <a:endParaRPr lang="en-US" sz="1450" dirty="0"/>
          </a:p>
        </p:txBody>
      </p:sp>
      <p:sp>
        <p:nvSpPr>
          <p:cNvPr id="22" name="Shape 20"/>
          <p:cNvSpPr/>
          <p:nvPr/>
        </p:nvSpPr>
        <p:spPr>
          <a:xfrm>
            <a:off x="658368" y="4782312"/>
            <a:ext cx="10874959" cy="448056"/>
          </a:xfrm>
          <a:prstGeom prst="roundRect">
            <a:avLst>
              <a:gd name="adj" fmla="val 14286"/>
            </a:avLst>
          </a:prstGeom>
          <a:solidFill>
            <a:srgbClr val="EAF1FA"/>
          </a:solidFill>
          <a:ln w="12700">
            <a:solidFill>
              <a:srgbClr val="EAF1FA"/>
            </a:solidFill>
            <a:prstDash val="solid"/>
          </a:ln>
        </p:spPr>
        <p:txBody>
          <a:bodyPr/>
          <a:lstStyle/>
          <a:p>
            <a:endParaRPr lang="en-US"/>
          </a:p>
        </p:txBody>
      </p:sp>
      <p:sp>
        <p:nvSpPr>
          <p:cNvPr id="23" name="Text 21"/>
          <p:cNvSpPr/>
          <p:nvPr/>
        </p:nvSpPr>
        <p:spPr>
          <a:xfrm>
            <a:off x="896112" y="4782312"/>
            <a:ext cx="10399471" cy="448056"/>
          </a:xfrm>
          <a:prstGeom prst="rect">
            <a:avLst/>
          </a:prstGeom>
          <a:noFill/>
          <a:ln/>
        </p:spPr>
        <p:txBody>
          <a:bodyPr wrap="square" lIns="0" tIns="0" rIns="0" bIns="0" rtlCol="0" anchor="ctr"/>
          <a:lstStyle/>
          <a:p>
            <a:pPr marL="0" indent="0" algn="l">
              <a:lnSpc>
                <a:spcPct val="108000"/>
              </a:lnSpc>
              <a:buNone/>
            </a:pPr>
            <a:r>
              <a:rPr lang="en-US" sz="1450" b="1" dirty="0">
                <a:solidFill>
                  <a:srgbClr val="2A6FB5"/>
                </a:solidFill>
                <a:latin typeface="Calibri" pitchFamily="34" charset="0"/>
                <a:ea typeface="Calibri" pitchFamily="34" charset="-122"/>
                <a:cs typeface="Calibri" pitchFamily="34" charset="-120"/>
              </a:rPr>
              <a:t>Augmented</a:t>
            </a:r>
            <a:r>
              <a:rPr lang="en-US" sz="1450" dirty="0">
                <a:solidFill>
                  <a:srgbClr val="5C6B7A"/>
                </a:solidFill>
                <a:latin typeface="Calibri" pitchFamily="34" charset="0"/>
                <a:ea typeface="Calibri" pitchFamily="34" charset="-122"/>
                <a:cs typeface="Calibri" pitchFamily="34" charset="-120"/>
              </a:rPr>
              <a:t>   n8n assembles the question and the retrieved chunks into one prompt</a:t>
            </a:r>
            <a:endParaRPr lang="en-US" sz="1450" dirty="0"/>
          </a:p>
        </p:txBody>
      </p:sp>
      <p:sp>
        <p:nvSpPr>
          <p:cNvPr id="24" name="Shape 22"/>
          <p:cNvSpPr/>
          <p:nvPr/>
        </p:nvSpPr>
        <p:spPr>
          <a:xfrm>
            <a:off x="658368" y="5312664"/>
            <a:ext cx="10874959" cy="448056"/>
          </a:xfrm>
          <a:prstGeom prst="roundRect">
            <a:avLst>
              <a:gd name="adj" fmla="val 14286"/>
            </a:avLst>
          </a:prstGeom>
          <a:solidFill>
            <a:srgbClr val="EAF1FA"/>
          </a:solidFill>
          <a:ln w="12700">
            <a:solidFill>
              <a:srgbClr val="EAF1FA"/>
            </a:solidFill>
            <a:prstDash val="solid"/>
          </a:ln>
        </p:spPr>
        <p:txBody>
          <a:bodyPr/>
          <a:lstStyle/>
          <a:p>
            <a:endParaRPr lang="en-US"/>
          </a:p>
        </p:txBody>
      </p:sp>
      <p:sp>
        <p:nvSpPr>
          <p:cNvPr id="25" name="Text 23"/>
          <p:cNvSpPr/>
          <p:nvPr/>
        </p:nvSpPr>
        <p:spPr>
          <a:xfrm>
            <a:off x="896112" y="5312664"/>
            <a:ext cx="10399471" cy="448056"/>
          </a:xfrm>
          <a:prstGeom prst="rect">
            <a:avLst/>
          </a:prstGeom>
          <a:noFill/>
          <a:ln/>
        </p:spPr>
        <p:txBody>
          <a:bodyPr wrap="square" lIns="0" tIns="0" rIns="0" bIns="0" rtlCol="0" anchor="ctr"/>
          <a:lstStyle/>
          <a:p>
            <a:pPr marL="0" indent="0" algn="l">
              <a:lnSpc>
                <a:spcPct val="108000"/>
              </a:lnSpc>
              <a:buNone/>
            </a:pPr>
            <a:r>
              <a:rPr lang="en-US" sz="1450" b="1" dirty="0">
                <a:solidFill>
                  <a:srgbClr val="2A6FB5"/>
                </a:solidFill>
                <a:latin typeface="Calibri" pitchFamily="34" charset="0"/>
                <a:ea typeface="Calibri" pitchFamily="34" charset="-122"/>
                <a:cs typeface="Calibri" pitchFamily="34" charset="-120"/>
              </a:rPr>
              <a:t>Generation</a:t>
            </a:r>
            <a:r>
              <a:rPr lang="en-US" sz="1450" dirty="0">
                <a:solidFill>
                  <a:srgbClr val="5C6B7A"/>
                </a:solidFill>
                <a:latin typeface="Calibri" pitchFamily="34" charset="0"/>
                <a:ea typeface="Calibri" pitchFamily="34" charset="-122"/>
                <a:cs typeface="Calibri" pitchFamily="34" charset="-120"/>
              </a:rPr>
              <a:t>   Gemini writes the final answer from what it was given</a:t>
            </a:r>
            <a:endParaRPr lang="en-US" sz="1450" dirty="0"/>
          </a:p>
        </p:txBody>
      </p:sp>
      <p:sp>
        <p:nvSpPr>
          <p:cNvPr id="26" name="Text 24"/>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MENTAL MODEL</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What happens when someone asks a question</a:t>
            </a:r>
            <a:endParaRPr lang="en-US" sz="3000" dirty="0"/>
          </a:p>
        </p:txBody>
      </p:sp>
      <p:sp>
        <p:nvSpPr>
          <p:cNvPr id="4" name="Shape 2"/>
          <p:cNvSpPr/>
          <p:nvPr/>
        </p:nvSpPr>
        <p:spPr>
          <a:xfrm>
            <a:off x="658368" y="1920240"/>
            <a:ext cx="2101840" cy="1051560"/>
          </a:xfrm>
          <a:prstGeom prst="roundRect">
            <a:avLst>
              <a:gd name="adj" fmla="val 6957"/>
            </a:avLst>
          </a:prstGeom>
          <a:solidFill>
            <a:srgbClr val="13233F"/>
          </a:solidFill>
          <a:ln w="12700">
            <a:solidFill>
              <a:srgbClr val="13233F"/>
            </a:solidFill>
            <a:prstDash val="solid"/>
          </a:ln>
        </p:spPr>
        <p:txBody>
          <a:bodyPr/>
          <a:lstStyle/>
          <a:p>
            <a:endParaRPr lang="en-US"/>
          </a:p>
        </p:txBody>
      </p:sp>
      <p:sp>
        <p:nvSpPr>
          <p:cNvPr id="5" name="Text 3"/>
          <p:cNvSpPr/>
          <p:nvPr/>
        </p:nvSpPr>
        <p:spPr>
          <a:xfrm>
            <a:off x="749808" y="1920240"/>
            <a:ext cx="1918960"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p>
        </p:txBody>
      </p:sp>
      <p:sp>
        <p:nvSpPr>
          <p:cNvPr id="6" name="Shape 4"/>
          <p:cNvSpPr/>
          <p:nvPr/>
        </p:nvSpPr>
        <p:spPr>
          <a:xfrm>
            <a:off x="2851648" y="1920240"/>
            <a:ext cx="2101840" cy="1051560"/>
          </a:xfrm>
          <a:prstGeom prst="chevron">
            <a:avLst>
              <a:gd name="adj" fmla="val 6957"/>
            </a:avLst>
          </a:prstGeom>
          <a:solidFill>
            <a:srgbClr val="1E3357"/>
          </a:solidFill>
          <a:ln w="12700">
            <a:solidFill>
              <a:srgbClr val="1E3357"/>
            </a:solidFill>
            <a:prstDash val="solid"/>
          </a:ln>
        </p:spPr>
        <p:txBody>
          <a:bodyPr/>
          <a:lstStyle/>
          <a:p>
            <a:endParaRPr lang="en-US"/>
          </a:p>
        </p:txBody>
      </p:sp>
      <p:sp>
        <p:nvSpPr>
          <p:cNvPr id="7" name="Text 5"/>
          <p:cNvSpPr/>
          <p:nvPr/>
        </p:nvSpPr>
        <p:spPr>
          <a:xfrm>
            <a:off x="3125968" y="1920240"/>
            <a:ext cx="1717792"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Retrieve</a:t>
            </a:r>
            <a:endParaRPr lang="en-US" sz="1600" dirty="0"/>
          </a:p>
        </p:txBody>
      </p:sp>
      <p:sp>
        <p:nvSpPr>
          <p:cNvPr id="8" name="Shape 6"/>
          <p:cNvSpPr/>
          <p:nvPr/>
        </p:nvSpPr>
        <p:spPr>
          <a:xfrm>
            <a:off x="5044928" y="1920240"/>
            <a:ext cx="2101840" cy="1051560"/>
          </a:xfrm>
          <a:prstGeom prst="chevron">
            <a:avLst>
              <a:gd name="adj" fmla="val 6957"/>
            </a:avLst>
          </a:prstGeom>
          <a:solidFill>
            <a:srgbClr val="2A5089"/>
          </a:solidFill>
          <a:ln w="12700">
            <a:solidFill>
              <a:srgbClr val="2A5089"/>
            </a:solidFill>
            <a:prstDash val="solid"/>
          </a:ln>
        </p:spPr>
        <p:txBody>
          <a:bodyPr/>
          <a:lstStyle/>
          <a:p>
            <a:endParaRPr lang="en-US"/>
          </a:p>
        </p:txBody>
      </p:sp>
      <p:sp>
        <p:nvSpPr>
          <p:cNvPr id="9" name="Text 7"/>
          <p:cNvSpPr/>
          <p:nvPr/>
        </p:nvSpPr>
        <p:spPr>
          <a:xfrm>
            <a:off x="5319248" y="1920240"/>
            <a:ext cx="1717792"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Context</a:t>
            </a:r>
            <a:endParaRPr lang="en-US" sz="1600" dirty="0"/>
          </a:p>
        </p:txBody>
      </p:sp>
      <p:sp>
        <p:nvSpPr>
          <p:cNvPr id="10" name="Shape 8"/>
          <p:cNvSpPr/>
          <p:nvPr/>
        </p:nvSpPr>
        <p:spPr>
          <a:xfrm>
            <a:off x="7238208" y="1920240"/>
            <a:ext cx="2101840" cy="1051560"/>
          </a:xfrm>
          <a:prstGeom prst="chevron">
            <a:avLst>
              <a:gd name="adj" fmla="val 6957"/>
            </a:avLst>
          </a:prstGeom>
          <a:solidFill>
            <a:srgbClr val="8C2340"/>
          </a:solidFill>
          <a:ln w="12700">
            <a:solidFill>
              <a:srgbClr val="8C2340"/>
            </a:solidFill>
            <a:prstDash val="solid"/>
          </a:ln>
        </p:spPr>
        <p:txBody>
          <a:bodyPr/>
          <a:lstStyle/>
          <a:p>
            <a:endParaRPr lang="en-US"/>
          </a:p>
        </p:txBody>
      </p:sp>
      <p:sp>
        <p:nvSpPr>
          <p:cNvPr id="11" name="Text 9"/>
          <p:cNvSpPr/>
          <p:nvPr/>
        </p:nvSpPr>
        <p:spPr>
          <a:xfrm>
            <a:off x="7512528" y="1920240"/>
            <a:ext cx="1717792"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LLM</a:t>
            </a:r>
            <a:endParaRPr lang="en-US" sz="1600" dirty="0"/>
          </a:p>
        </p:txBody>
      </p:sp>
      <p:sp>
        <p:nvSpPr>
          <p:cNvPr id="12" name="Shape 10"/>
          <p:cNvSpPr/>
          <p:nvPr/>
        </p:nvSpPr>
        <p:spPr>
          <a:xfrm>
            <a:off x="9431487" y="1920240"/>
            <a:ext cx="2101840" cy="1051560"/>
          </a:xfrm>
          <a:prstGeom prst="chevron">
            <a:avLst>
              <a:gd name="adj" fmla="val 6957"/>
            </a:avLst>
          </a:prstGeom>
          <a:solidFill>
            <a:srgbClr val="C13A5E"/>
          </a:solidFill>
          <a:ln w="12700">
            <a:solidFill>
              <a:srgbClr val="C13A5E"/>
            </a:solidFill>
            <a:prstDash val="solid"/>
          </a:ln>
        </p:spPr>
        <p:txBody>
          <a:bodyPr/>
          <a:lstStyle/>
          <a:p>
            <a:endParaRPr lang="en-US"/>
          </a:p>
        </p:txBody>
      </p:sp>
      <p:sp>
        <p:nvSpPr>
          <p:cNvPr id="13" name="Text 11"/>
          <p:cNvSpPr/>
          <p:nvPr/>
        </p:nvSpPr>
        <p:spPr>
          <a:xfrm>
            <a:off x="9705807" y="1920240"/>
            <a:ext cx="1717792" cy="10515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Answer</a:t>
            </a:r>
            <a:endParaRPr lang="en-US" sz="1600" dirty="0"/>
          </a:p>
        </p:txBody>
      </p:sp>
      <p:sp>
        <p:nvSpPr>
          <p:cNvPr id="14" name="Text 12"/>
          <p:cNvSpPr/>
          <p:nvPr/>
        </p:nvSpPr>
        <p:spPr>
          <a:xfrm>
            <a:off x="658368" y="3154680"/>
            <a:ext cx="2057949" cy="914400"/>
          </a:xfrm>
          <a:prstGeom prst="rect">
            <a:avLst/>
          </a:prstGeom>
          <a:noFill/>
          <a:ln/>
        </p:spPr>
        <p:txBody>
          <a:bodyPr wrap="square" lIns="0" tIns="0" rIns="0" bIns="0" rtlCol="0" anchor="t"/>
          <a:lstStyle/>
          <a:p>
            <a:pPr marL="0" indent="0" algn="l">
              <a:lnSpc>
                <a:spcPct val="110000"/>
              </a:lnSpc>
              <a:buNone/>
            </a:pPr>
            <a:r>
              <a:rPr lang="en-US" sz="1200" dirty="0">
                <a:solidFill>
                  <a:srgbClr val="5C6B7A"/>
                </a:solidFill>
                <a:latin typeface="Calibri" pitchFamily="34" charset="0"/>
                <a:ea typeface="Calibri" pitchFamily="34" charset="-122"/>
                <a:cs typeface="Calibri" pitchFamily="34" charset="-120"/>
              </a:rPr>
              <a:t>A student types something in plain language.</a:t>
            </a:r>
            <a:endParaRPr lang="en-US" sz="1200" dirty="0"/>
          </a:p>
        </p:txBody>
      </p:sp>
      <p:sp>
        <p:nvSpPr>
          <p:cNvPr id="15" name="Text 13"/>
          <p:cNvSpPr/>
          <p:nvPr/>
        </p:nvSpPr>
        <p:spPr>
          <a:xfrm>
            <a:off x="2862621" y="3154680"/>
            <a:ext cx="2057949" cy="914400"/>
          </a:xfrm>
          <a:prstGeom prst="rect">
            <a:avLst/>
          </a:prstGeom>
          <a:noFill/>
          <a:ln/>
        </p:spPr>
        <p:txBody>
          <a:bodyPr wrap="square" lIns="0" tIns="0" rIns="0" bIns="0" rtlCol="0" anchor="t"/>
          <a:lstStyle/>
          <a:p>
            <a:pPr marL="0" indent="0" algn="l">
              <a:lnSpc>
                <a:spcPct val="110000"/>
              </a:lnSpc>
              <a:buNone/>
            </a:pPr>
            <a:r>
              <a:rPr lang="en-US" sz="1200" dirty="0">
                <a:solidFill>
                  <a:srgbClr val="5C6B7A"/>
                </a:solidFill>
                <a:latin typeface="Calibri" pitchFamily="34" charset="0"/>
                <a:ea typeface="Calibri" pitchFamily="34" charset="-122"/>
                <a:cs typeface="Calibri" pitchFamily="34" charset="-120"/>
              </a:rPr>
              <a:t>The system searches the store for related chunks.</a:t>
            </a:r>
            <a:endParaRPr lang="en-US" sz="1200" dirty="0"/>
          </a:p>
        </p:txBody>
      </p:sp>
      <p:sp>
        <p:nvSpPr>
          <p:cNvPr id="16" name="Text 14"/>
          <p:cNvSpPr/>
          <p:nvPr/>
        </p:nvSpPr>
        <p:spPr>
          <a:xfrm>
            <a:off x="5066873" y="3154680"/>
            <a:ext cx="2057949" cy="914400"/>
          </a:xfrm>
          <a:prstGeom prst="rect">
            <a:avLst/>
          </a:prstGeom>
          <a:noFill/>
          <a:ln/>
        </p:spPr>
        <p:txBody>
          <a:bodyPr wrap="square" lIns="0" tIns="0" rIns="0" bIns="0" rtlCol="0" anchor="t"/>
          <a:lstStyle/>
          <a:p>
            <a:pPr marL="0" indent="0" algn="l">
              <a:lnSpc>
                <a:spcPct val="110000"/>
              </a:lnSpc>
              <a:buNone/>
            </a:pPr>
            <a:r>
              <a:rPr lang="en-US" sz="1200" dirty="0">
                <a:solidFill>
                  <a:srgbClr val="5C6B7A"/>
                </a:solidFill>
                <a:latin typeface="Calibri" pitchFamily="34" charset="0"/>
                <a:ea typeface="Calibri" pitchFamily="34" charset="-122"/>
                <a:cs typeface="Calibri" pitchFamily="34" charset="-120"/>
              </a:rPr>
              <a:t>The best chunks are pasted into the prompt.</a:t>
            </a:r>
            <a:endParaRPr lang="en-US" sz="1200" dirty="0"/>
          </a:p>
        </p:txBody>
      </p:sp>
      <p:sp>
        <p:nvSpPr>
          <p:cNvPr id="17" name="Text 15"/>
          <p:cNvSpPr/>
          <p:nvPr/>
        </p:nvSpPr>
        <p:spPr>
          <a:xfrm>
            <a:off x="7271126" y="3154680"/>
            <a:ext cx="2057949" cy="914400"/>
          </a:xfrm>
          <a:prstGeom prst="rect">
            <a:avLst/>
          </a:prstGeom>
          <a:noFill/>
          <a:ln/>
        </p:spPr>
        <p:txBody>
          <a:bodyPr wrap="square" lIns="0" tIns="0" rIns="0" bIns="0" rtlCol="0" anchor="t"/>
          <a:lstStyle/>
          <a:p>
            <a:pPr marL="0" indent="0" algn="l">
              <a:lnSpc>
                <a:spcPct val="110000"/>
              </a:lnSpc>
              <a:buNone/>
            </a:pPr>
            <a:r>
              <a:rPr lang="en-US" sz="1200" dirty="0">
                <a:solidFill>
                  <a:srgbClr val="5C6B7A"/>
                </a:solidFill>
                <a:latin typeface="Calibri" pitchFamily="34" charset="0"/>
                <a:ea typeface="Calibri" pitchFamily="34" charset="-122"/>
                <a:cs typeface="Calibri" pitchFamily="34" charset="-120"/>
              </a:rPr>
              <a:t>The model reads question + chunks together.</a:t>
            </a:r>
            <a:endParaRPr lang="en-US" sz="1200" dirty="0"/>
          </a:p>
        </p:txBody>
      </p:sp>
      <p:sp>
        <p:nvSpPr>
          <p:cNvPr id="18" name="Text 16"/>
          <p:cNvSpPr/>
          <p:nvPr/>
        </p:nvSpPr>
        <p:spPr>
          <a:xfrm>
            <a:off x="9475379" y="3154680"/>
            <a:ext cx="2057949" cy="914400"/>
          </a:xfrm>
          <a:prstGeom prst="rect">
            <a:avLst/>
          </a:prstGeom>
          <a:noFill/>
          <a:ln/>
        </p:spPr>
        <p:txBody>
          <a:bodyPr wrap="square" lIns="0" tIns="0" rIns="0" bIns="0" rtlCol="0" anchor="t"/>
          <a:lstStyle/>
          <a:p>
            <a:pPr marL="0" indent="0" algn="l">
              <a:lnSpc>
                <a:spcPct val="110000"/>
              </a:lnSpc>
              <a:buNone/>
            </a:pPr>
            <a:r>
              <a:rPr lang="en-US" sz="1200" dirty="0">
                <a:solidFill>
                  <a:srgbClr val="5C6B7A"/>
                </a:solidFill>
                <a:latin typeface="Calibri" pitchFamily="34" charset="0"/>
                <a:ea typeface="Calibri" pitchFamily="34" charset="-122"/>
                <a:cs typeface="Calibri" pitchFamily="34" charset="-120"/>
              </a:rPr>
              <a:t>A grounded answer, traceable to a source.</a:t>
            </a:r>
            <a:endParaRPr lang="en-US" sz="1200" dirty="0"/>
          </a:p>
        </p:txBody>
      </p:sp>
      <p:sp>
        <p:nvSpPr>
          <p:cNvPr id="19" name="Shape 17"/>
          <p:cNvSpPr/>
          <p:nvPr/>
        </p:nvSpPr>
        <p:spPr>
          <a:xfrm>
            <a:off x="658368" y="4434840"/>
            <a:ext cx="10874959" cy="1325880"/>
          </a:xfrm>
          <a:prstGeom prst="roundRect">
            <a:avLst>
              <a:gd name="adj" fmla="val 5517"/>
            </a:avLst>
          </a:prstGeom>
          <a:solidFill>
            <a:srgbClr val="EAF1FA"/>
          </a:solidFill>
          <a:ln w="12700">
            <a:solidFill>
              <a:srgbClr val="EAF1FA"/>
            </a:solidFill>
            <a:prstDash val="solid"/>
          </a:ln>
        </p:spPr>
        <p:txBody>
          <a:bodyPr/>
          <a:lstStyle/>
          <a:p>
            <a:endParaRPr lang="en-US"/>
          </a:p>
        </p:txBody>
      </p:sp>
      <p:sp>
        <p:nvSpPr>
          <p:cNvPr id="20" name="Text 18"/>
          <p:cNvSpPr/>
          <p:nvPr/>
        </p:nvSpPr>
        <p:spPr>
          <a:xfrm>
            <a:off x="932688" y="4581144"/>
            <a:ext cx="10326319" cy="219456"/>
          </a:xfrm>
          <a:prstGeom prst="rect">
            <a:avLst/>
          </a:prstGeom>
          <a:noFill/>
          <a:ln/>
        </p:spPr>
        <p:txBody>
          <a:bodyPr wrap="square" lIns="0" tIns="0" rIns="0" bIns="0" rtlCol="0" anchor="ctr"/>
          <a:lstStyle/>
          <a:p>
            <a:pPr marL="0" indent="0" algn="l">
              <a:buNone/>
            </a:pPr>
            <a:r>
              <a:rPr lang="en-US" sz="1050" b="1" kern="0" spc="160" dirty="0">
                <a:solidFill>
                  <a:srgbClr val="2A6FB5"/>
                </a:solidFill>
                <a:latin typeface="Calibri" pitchFamily="34" charset="0"/>
                <a:ea typeface="Calibri" pitchFamily="34" charset="-122"/>
                <a:cs typeface="Calibri" pitchFamily="34" charset="-120"/>
              </a:rPr>
              <a:t>KEY IDEA</a:t>
            </a:r>
            <a:endParaRPr lang="en-US" sz="1050" dirty="0"/>
          </a:p>
        </p:txBody>
      </p:sp>
      <p:sp>
        <p:nvSpPr>
          <p:cNvPr id="21" name="Text 19"/>
          <p:cNvSpPr/>
          <p:nvPr/>
        </p:nvSpPr>
        <p:spPr>
          <a:xfrm>
            <a:off x="932688" y="4837176"/>
            <a:ext cx="10326319" cy="758952"/>
          </a:xfrm>
          <a:prstGeom prst="rect">
            <a:avLst/>
          </a:prstGeom>
          <a:noFill/>
          <a:ln/>
        </p:spPr>
        <p:txBody>
          <a:bodyPr wrap="square" lIns="0" tIns="0" rIns="0" bIns="0" rtlCol="0" anchor="t"/>
          <a:lstStyle/>
          <a:p>
            <a:pPr marL="0" indent="0" algn="l">
              <a:lnSpc>
                <a:spcPct val="110000"/>
              </a:lnSpc>
              <a:buNone/>
            </a:pPr>
            <a:r>
              <a:rPr lang="en-US" sz="1500" dirty="0">
                <a:solidFill>
                  <a:srgbClr val="1D2530"/>
                </a:solidFill>
                <a:latin typeface="Calibri" pitchFamily="34" charset="0"/>
                <a:ea typeface="Calibri" pitchFamily="34" charset="-122"/>
                <a:cs typeface="Calibri" pitchFamily="34" charset="-120"/>
              </a:rPr>
              <a:t>The model is never modified. The only thing that changes between a bad answer and a good one is what we put in the Context box — and that is entirely under our control.</a:t>
            </a:r>
            <a:endParaRPr lang="en-US" sz="1500" dirty="0"/>
          </a:p>
        </p:txBody>
      </p:sp>
      <p:sp>
        <p:nvSpPr>
          <p:cNvPr id="22" name="Text 20"/>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754880" cy="4754880"/>
          </a:xfrm>
          <a:prstGeom prst="ellipse">
            <a:avLst/>
          </a:prstGeom>
          <a:solidFill>
            <a:srgbClr val="1B2E4F"/>
          </a:solidFill>
          <a:ln w="12700">
            <a:solidFill>
              <a:srgbClr val="1B2E4F"/>
            </a:solidFill>
            <a:prstDash val="solid"/>
          </a:ln>
        </p:spPr>
        <p:txBody>
          <a:bodyPr/>
          <a:lstStyle/>
          <a:p>
            <a:endParaRPr lang="en-US"/>
          </a:p>
        </p:txBody>
      </p:sp>
      <p:sp>
        <p:nvSpPr>
          <p:cNvPr id="3" name="Text 1"/>
          <p:cNvSpPr/>
          <p:nvPr/>
        </p:nvSpPr>
        <p:spPr>
          <a:xfrm>
            <a:off x="658368" y="2240280"/>
            <a:ext cx="8778240" cy="310896"/>
          </a:xfrm>
          <a:prstGeom prst="rect">
            <a:avLst/>
          </a:prstGeom>
          <a:noFill/>
          <a:ln/>
        </p:spPr>
        <p:txBody>
          <a:bodyPr wrap="square" lIns="0" tIns="0" rIns="0" bIns="0" rtlCol="0" anchor="ctr"/>
          <a:lstStyle/>
          <a:p>
            <a:pPr marL="0" indent="0" algn="l">
              <a:buNone/>
            </a:pPr>
            <a:r>
              <a:rPr lang="en-US" sz="1200" b="1" kern="0" spc="240" dirty="0">
                <a:solidFill>
                  <a:srgbClr val="E04E6B"/>
                </a:solidFill>
                <a:latin typeface="Calibri" pitchFamily="34" charset="0"/>
                <a:ea typeface="Calibri" pitchFamily="34" charset="-122"/>
                <a:cs typeface="Calibri" pitchFamily="34" charset="-120"/>
              </a:rPr>
              <a:t>PART 2</a:t>
            </a:r>
            <a:endParaRPr lang="en-US" sz="1200" dirty="0"/>
          </a:p>
        </p:txBody>
      </p:sp>
      <p:sp>
        <p:nvSpPr>
          <p:cNvPr id="4" name="Text 2"/>
          <p:cNvSpPr/>
          <p:nvPr/>
        </p:nvSpPr>
        <p:spPr>
          <a:xfrm>
            <a:off x="658368" y="2651760"/>
            <a:ext cx="8778240" cy="86868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The five words</a:t>
            </a:r>
            <a:endParaRPr lang="en-US" sz="3800" dirty="0"/>
          </a:p>
        </p:txBody>
      </p:sp>
      <p:sp>
        <p:nvSpPr>
          <p:cNvPr id="5" name="Text 3"/>
          <p:cNvSpPr/>
          <p:nvPr/>
        </p:nvSpPr>
        <p:spPr>
          <a:xfrm>
            <a:off x="658368" y="3611880"/>
            <a:ext cx="8229600" cy="640080"/>
          </a:xfrm>
          <a:prstGeom prst="rect">
            <a:avLst/>
          </a:prstGeom>
          <a:noFill/>
          <a:ln/>
        </p:spPr>
        <p:txBody>
          <a:bodyPr wrap="square" lIns="0" tIns="0" rIns="0" bIns="0" rtlCol="0" anchor="t"/>
          <a:lstStyle/>
          <a:p>
            <a:pPr marL="0" indent="0" algn="l">
              <a:buNone/>
            </a:pPr>
            <a:r>
              <a:rPr lang="en-US" sz="1600" dirty="0">
                <a:solidFill>
                  <a:srgbClr val="C3D0E2"/>
                </a:solidFill>
                <a:latin typeface="Calibri" pitchFamily="34" charset="0"/>
                <a:ea typeface="Calibri" pitchFamily="34" charset="-122"/>
                <a:cs typeface="Calibri" pitchFamily="34" charset="-120"/>
              </a:rPr>
              <a:t>Document · chunk · embedding · vector store · semantic search. Every node you will see in n8n is one of these.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WORDS 1 AND 2</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Document and chunk</a:t>
            </a:r>
            <a:endParaRPr lang="en-US" sz="3000" dirty="0"/>
          </a:p>
        </p:txBody>
      </p:sp>
      <p:sp>
        <p:nvSpPr>
          <p:cNvPr id="4" name="Shape 2"/>
          <p:cNvSpPr/>
          <p:nvPr/>
        </p:nvSpPr>
        <p:spPr>
          <a:xfrm>
            <a:off x="658368" y="1645920"/>
            <a:ext cx="5254600" cy="1371600"/>
          </a:xfrm>
          <a:prstGeom prst="roundRect">
            <a:avLst>
              <a:gd name="adj" fmla="val 6000"/>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5" name="Text 3"/>
          <p:cNvSpPr/>
          <p:nvPr/>
        </p:nvSpPr>
        <p:spPr>
          <a:xfrm>
            <a:off x="914400" y="1883664"/>
            <a:ext cx="4742536" cy="310896"/>
          </a:xfrm>
          <a:prstGeom prst="rect">
            <a:avLst/>
          </a:prstGeom>
          <a:noFill/>
          <a:ln/>
        </p:spPr>
        <p:txBody>
          <a:bodyPr wrap="square" lIns="0" tIns="0" rIns="0" bIns="0" rtlCol="0" anchor="ctr"/>
          <a:lstStyle/>
          <a:p>
            <a:pPr marL="0" indent="0" algn="l">
              <a:lnSpc>
                <a:spcPct val="102000"/>
              </a:lnSpc>
              <a:buNone/>
            </a:pPr>
            <a:r>
              <a:rPr lang="en-US" sz="1900" b="1" dirty="0">
                <a:solidFill>
                  <a:srgbClr val="13233F"/>
                </a:solidFill>
                <a:latin typeface="Calibri" pitchFamily="34" charset="0"/>
                <a:ea typeface="Calibri" pitchFamily="34" charset="-122"/>
                <a:cs typeface="Calibri" pitchFamily="34" charset="-120"/>
              </a:rPr>
              <a:t>Document</a:t>
            </a:r>
            <a:endParaRPr lang="en-US" sz="1900" dirty="0"/>
          </a:p>
        </p:txBody>
      </p:sp>
      <p:sp>
        <p:nvSpPr>
          <p:cNvPr id="6" name="Text 4"/>
          <p:cNvSpPr/>
          <p:nvPr/>
        </p:nvSpPr>
        <p:spPr>
          <a:xfrm>
            <a:off x="914400" y="2249424"/>
            <a:ext cx="4742536" cy="566928"/>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The original file, exactly as it exists. Ours: University_AI_Course.txt</a:t>
            </a:r>
            <a:endParaRPr lang="en-US" sz="1400" dirty="0"/>
          </a:p>
        </p:txBody>
      </p:sp>
      <p:sp>
        <p:nvSpPr>
          <p:cNvPr id="7" name="Shape 5"/>
          <p:cNvSpPr/>
          <p:nvPr/>
        </p:nvSpPr>
        <p:spPr>
          <a:xfrm>
            <a:off x="6278728" y="1645920"/>
            <a:ext cx="5254600" cy="1371600"/>
          </a:xfrm>
          <a:prstGeom prst="roundRect">
            <a:avLst>
              <a:gd name="adj" fmla="val 6000"/>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8" name="Text 6"/>
          <p:cNvSpPr/>
          <p:nvPr/>
        </p:nvSpPr>
        <p:spPr>
          <a:xfrm>
            <a:off x="6534760" y="1883664"/>
            <a:ext cx="4742536" cy="310896"/>
          </a:xfrm>
          <a:prstGeom prst="rect">
            <a:avLst/>
          </a:prstGeom>
          <a:noFill/>
          <a:ln/>
        </p:spPr>
        <p:txBody>
          <a:bodyPr wrap="square" lIns="0" tIns="0" rIns="0" bIns="0" rtlCol="0" anchor="ctr"/>
          <a:lstStyle/>
          <a:p>
            <a:pPr marL="0" indent="0" algn="l">
              <a:lnSpc>
                <a:spcPct val="102000"/>
              </a:lnSpc>
              <a:buNone/>
            </a:pPr>
            <a:r>
              <a:rPr lang="en-US" sz="1900" b="1" dirty="0">
                <a:solidFill>
                  <a:srgbClr val="13233F"/>
                </a:solidFill>
                <a:latin typeface="Calibri" pitchFamily="34" charset="0"/>
                <a:ea typeface="Calibri" pitchFamily="34" charset="-122"/>
                <a:cs typeface="Calibri" pitchFamily="34" charset="-120"/>
              </a:rPr>
              <a:t>Chunk</a:t>
            </a:r>
            <a:endParaRPr lang="en-US" sz="1900" dirty="0"/>
          </a:p>
        </p:txBody>
      </p:sp>
      <p:sp>
        <p:nvSpPr>
          <p:cNvPr id="9" name="Text 7"/>
          <p:cNvSpPr/>
          <p:nvPr/>
        </p:nvSpPr>
        <p:spPr>
          <a:xfrm>
            <a:off x="6534760" y="2249424"/>
            <a:ext cx="4742536" cy="566928"/>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A small slice of that document — roughly a paragraph — retrievable on its own.</a:t>
            </a:r>
            <a:endParaRPr lang="en-US" sz="1400" dirty="0"/>
          </a:p>
        </p:txBody>
      </p:sp>
      <p:sp>
        <p:nvSpPr>
          <p:cNvPr id="10" name="Text 8"/>
          <p:cNvSpPr/>
          <p:nvPr/>
        </p:nvSpPr>
        <p:spPr>
          <a:xfrm>
            <a:off x="658368" y="3246120"/>
            <a:ext cx="10874959" cy="365760"/>
          </a:xfrm>
          <a:prstGeom prst="rect">
            <a:avLst/>
          </a:prstGeom>
          <a:noFill/>
          <a:ln/>
        </p:spPr>
        <p:txBody>
          <a:bodyPr wrap="square" lIns="0" tIns="0" rIns="0" bIns="0" rtlCol="0" anchor="ctr"/>
          <a:lstStyle/>
          <a:p>
            <a:pPr marL="0" indent="0" algn="l">
              <a:buNone/>
            </a:pPr>
            <a:r>
              <a:rPr lang="en-US" sz="1700" b="1" dirty="0">
                <a:solidFill>
                  <a:srgbClr val="13233F"/>
                </a:solidFill>
                <a:latin typeface="Calibri" pitchFamily="34" charset="0"/>
                <a:ea typeface="Calibri" pitchFamily="34" charset="-122"/>
                <a:cs typeface="Calibri" pitchFamily="34" charset="-120"/>
              </a:rPr>
              <a:t>Why not just use the whole document?</a:t>
            </a:r>
            <a:endParaRPr lang="en-US" sz="1700" dirty="0"/>
          </a:p>
        </p:txBody>
      </p:sp>
      <p:sp>
        <p:nvSpPr>
          <p:cNvPr id="11" name="Shape 9"/>
          <p:cNvSpPr/>
          <p:nvPr/>
        </p:nvSpPr>
        <p:spPr>
          <a:xfrm>
            <a:off x="658368" y="3703320"/>
            <a:ext cx="10874959" cy="813816"/>
          </a:xfrm>
          <a:prstGeom prst="roundRect">
            <a:avLst>
              <a:gd name="adj" fmla="val 7865"/>
            </a:avLst>
          </a:prstGeom>
          <a:solidFill>
            <a:srgbClr val="F2F5F9"/>
          </a:solidFill>
          <a:ln w="12700">
            <a:solidFill>
              <a:srgbClr val="F2F5F9"/>
            </a:solidFill>
            <a:prstDash val="solid"/>
          </a:ln>
        </p:spPr>
        <p:txBody>
          <a:bodyPr/>
          <a:lstStyle/>
          <a:p>
            <a:endParaRPr lang="en-US"/>
          </a:p>
        </p:txBody>
      </p:sp>
      <p:sp>
        <p:nvSpPr>
          <p:cNvPr id="12" name="Shape 10"/>
          <p:cNvSpPr/>
          <p:nvPr/>
        </p:nvSpPr>
        <p:spPr>
          <a:xfrm>
            <a:off x="859536" y="3936492"/>
            <a:ext cx="347472" cy="347472"/>
          </a:xfrm>
          <a:prstGeom prst="ellipse">
            <a:avLst/>
          </a:prstGeom>
          <a:solidFill>
            <a:srgbClr val="2A6FB5"/>
          </a:solidFill>
          <a:ln w="12700">
            <a:solidFill>
              <a:srgbClr val="2A6FB5"/>
            </a:solidFill>
            <a:prstDash val="solid"/>
          </a:ln>
        </p:spPr>
        <p:txBody>
          <a:bodyPr/>
          <a:lstStyle/>
          <a:p>
            <a:endParaRPr lang="en-US"/>
          </a:p>
        </p:txBody>
      </p:sp>
      <p:sp>
        <p:nvSpPr>
          <p:cNvPr id="13" name="Text 11"/>
          <p:cNvSpPr/>
          <p:nvPr/>
        </p:nvSpPr>
        <p:spPr>
          <a:xfrm>
            <a:off x="859536" y="393649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2"/>
          <p:cNvSpPr/>
          <p:nvPr/>
        </p:nvSpPr>
        <p:spPr>
          <a:xfrm>
            <a:off x="1353312" y="3703320"/>
            <a:ext cx="9942271" cy="813816"/>
          </a:xfrm>
          <a:prstGeom prst="rect">
            <a:avLst/>
          </a:prstGeom>
          <a:noFill/>
          <a:ln/>
        </p:spPr>
        <p:txBody>
          <a:bodyPr wrap="square" lIns="0" tIns="0" rIns="0" bIns="0" rtlCol="0" anchor="ctr"/>
          <a:lstStyle/>
          <a:p>
            <a:pPr marL="0" indent="0" algn="l">
              <a:lnSpc>
                <a:spcPct val="108000"/>
              </a:lnSpc>
              <a:buNone/>
            </a:pPr>
            <a:r>
              <a:rPr lang="en-US" sz="1400" b="1" dirty="0">
                <a:solidFill>
                  <a:srgbClr val="13233F"/>
                </a:solidFill>
                <a:latin typeface="Calibri" pitchFamily="34" charset="0"/>
                <a:ea typeface="Calibri" pitchFamily="34" charset="-122"/>
                <a:cs typeface="Calibri" pitchFamily="34" charset="-120"/>
              </a:rPr>
              <a:t>Context is limited.</a:t>
            </a:r>
            <a:r>
              <a:rPr lang="en-US" sz="1400" dirty="0">
                <a:solidFill>
                  <a:srgbClr val="5C6B7A"/>
                </a:solidFill>
                <a:latin typeface="Calibri" pitchFamily="34" charset="0"/>
                <a:ea typeface="Calibri" pitchFamily="34" charset="-122"/>
                <a:cs typeface="Calibri" pitchFamily="34" charset="-120"/>
              </a:rPr>
              <a:t>   A model reads only so much text at once. A fifty-page handbook will not fit.</a:t>
            </a:r>
            <a:endParaRPr lang="en-US" sz="1400" dirty="0"/>
          </a:p>
        </p:txBody>
      </p:sp>
      <p:sp>
        <p:nvSpPr>
          <p:cNvPr id="15" name="Shape 13"/>
          <p:cNvSpPr/>
          <p:nvPr/>
        </p:nvSpPr>
        <p:spPr>
          <a:xfrm>
            <a:off x="658368" y="4626864"/>
            <a:ext cx="10874959" cy="813816"/>
          </a:xfrm>
          <a:prstGeom prst="roundRect">
            <a:avLst>
              <a:gd name="adj" fmla="val 7865"/>
            </a:avLst>
          </a:prstGeom>
          <a:solidFill>
            <a:srgbClr val="F2F5F9"/>
          </a:solidFill>
          <a:ln w="12700">
            <a:solidFill>
              <a:srgbClr val="F2F5F9"/>
            </a:solidFill>
            <a:prstDash val="solid"/>
          </a:ln>
        </p:spPr>
        <p:txBody>
          <a:bodyPr/>
          <a:lstStyle/>
          <a:p>
            <a:endParaRPr lang="en-US"/>
          </a:p>
        </p:txBody>
      </p:sp>
      <p:sp>
        <p:nvSpPr>
          <p:cNvPr id="16" name="Shape 14"/>
          <p:cNvSpPr/>
          <p:nvPr/>
        </p:nvSpPr>
        <p:spPr>
          <a:xfrm>
            <a:off x="859536" y="4860036"/>
            <a:ext cx="347472" cy="347472"/>
          </a:xfrm>
          <a:prstGeom prst="ellipse">
            <a:avLst/>
          </a:prstGeom>
          <a:solidFill>
            <a:srgbClr val="2A6FB5"/>
          </a:solidFill>
          <a:ln w="12700">
            <a:solidFill>
              <a:srgbClr val="2A6FB5"/>
            </a:solidFill>
            <a:prstDash val="solid"/>
          </a:ln>
        </p:spPr>
        <p:txBody>
          <a:bodyPr/>
          <a:lstStyle/>
          <a:p>
            <a:endParaRPr lang="en-US"/>
          </a:p>
        </p:txBody>
      </p:sp>
      <p:sp>
        <p:nvSpPr>
          <p:cNvPr id="17" name="Text 15"/>
          <p:cNvSpPr/>
          <p:nvPr/>
        </p:nvSpPr>
        <p:spPr>
          <a:xfrm>
            <a:off x="859536" y="48600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1353312" y="4626864"/>
            <a:ext cx="9942271" cy="813816"/>
          </a:xfrm>
          <a:prstGeom prst="rect">
            <a:avLst/>
          </a:prstGeom>
          <a:noFill/>
          <a:ln/>
        </p:spPr>
        <p:txBody>
          <a:bodyPr wrap="square" lIns="0" tIns="0" rIns="0" bIns="0" rtlCol="0" anchor="ctr"/>
          <a:lstStyle/>
          <a:p>
            <a:pPr marL="0" indent="0" algn="l">
              <a:lnSpc>
                <a:spcPct val="108000"/>
              </a:lnSpc>
              <a:buNone/>
            </a:pPr>
            <a:r>
              <a:rPr lang="en-US" sz="1400" b="1" dirty="0">
                <a:solidFill>
                  <a:srgbClr val="13233F"/>
                </a:solidFill>
                <a:latin typeface="Calibri" pitchFamily="34" charset="0"/>
                <a:ea typeface="Calibri" pitchFamily="34" charset="-122"/>
                <a:cs typeface="Calibri" pitchFamily="34" charset="-120"/>
              </a:rPr>
              <a:t>Precision.</a:t>
            </a:r>
            <a:r>
              <a:rPr lang="en-US" sz="1400" dirty="0">
                <a:solidFill>
                  <a:srgbClr val="5C6B7A"/>
                </a:solidFill>
                <a:latin typeface="Calibri" pitchFamily="34" charset="0"/>
                <a:ea typeface="Calibri" pitchFamily="34" charset="-122"/>
                <a:cs typeface="Calibri" pitchFamily="34" charset="-120"/>
              </a:rPr>
              <a:t>   Retrieve a whole handbook and the one useful sentence drowns in noise — the answer gets worse.</a:t>
            </a:r>
            <a:endParaRPr lang="en-US" sz="1400" dirty="0"/>
          </a:p>
        </p:txBody>
      </p:sp>
      <p:sp>
        <p:nvSpPr>
          <p:cNvPr id="19" name="Text 17"/>
          <p:cNvSpPr/>
          <p:nvPr/>
        </p:nvSpPr>
        <p:spPr>
          <a:xfrm>
            <a:off x="658368" y="5623560"/>
            <a:ext cx="10874959" cy="329184"/>
          </a:xfrm>
          <a:prstGeom prst="rect">
            <a:avLst/>
          </a:prstGeom>
          <a:noFill/>
          <a:ln/>
        </p:spPr>
        <p:txBody>
          <a:bodyPr wrap="square" lIns="0" tIns="0" rIns="0" bIns="0" rtlCol="0" anchor="ctr"/>
          <a:lstStyle/>
          <a:p>
            <a:pPr marL="0" indent="0" algn="l">
              <a:buNone/>
            </a:pPr>
            <a:r>
              <a:rPr lang="en-US" sz="1350" b="1" dirty="0">
                <a:solidFill>
                  <a:srgbClr val="B32E4C"/>
                </a:solidFill>
                <a:latin typeface="Calibri" pitchFamily="34" charset="0"/>
                <a:ea typeface="Calibri" pitchFamily="34" charset="-122"/>
                <a:cs typeface="Calibri" pitchFamily="34" charset="-120"/>
              </a:rPr>
              <a:t>Our workflow: 1,000 characters per chunk, 200 characters of overlap.</a:t>
            </a:r>
            <a:endParaRPr lang="en-US" sz="1350" dirty="0"/>
          </a:p>
        </p:txBody>
      </p:sp>
      <p:sp>
        <p:nvSpPr>
          <p:cNvPr id="20" name="Text 18"/>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WHY CHUNKS OVERLAP</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A cut can land in the middle of an idea</a:t>
            </a:r>
            <a:endParaRPr lang="en-US" sz="3000" dirty="0"/>
          </a:p>
        </p:txBody>
      </p:sp>
      <p:sp>
        <p:nvSpPr>
          <p:cNvPr id="4" name="Shape 2"/>
          <p:cNvSpPr/>
          <p:nvPr/>
        </p:nvSpPr>
        <p:spPr>
          <a:xfrm>
            <a:off x="658368" y="1691640"/>
            <a:ext cx="10874959"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5" name="Text 3"/>
          <p:cNvSpPr/>
          <p:nvPr/>
        </p:nvSpPr>
        <p:spPr>
          <a:xfrm>
            <a:off x="886968" y="1691640"/>
            <a:ext cx="10417759" cy="566928"/>
          </a:xfrm>
          <a:prstGeom prst="rect">
            <a:avLst/>
          </a:prstGeom>
          <a:noFill/>
          <a:ln/>
        </p:spPr>
        <p:txBody>
          <a:bodyPr wrap="square" lIns="0" tIns="0" rIns="0" bIns="0" rtlCol="0" anchor="ctr"/>
          <a:lstStyle/>
          <a:p>
            <a:pPr marL="0" indent="0" algn="l">
              <a:buNone/>
            </a:pPr>
            <a:r>
              <a:rPr lang="en-US" sz="1300" dirty="0">
                <a:solidFill>
                  <a:srgbClr val="1D2530"/>
                </a:solidFill>
                <a:latin typeface="Courier New" pitchFamily="34" charset="0"/>
                <a:ea typeface="Courier New" pitchFamily="34" charset="-122"/>
                <a:cs typeface="Courier New" pitchFamily="34" charset="-120"/>
              </a:rPr>
              <a:t>Students must achieve at least 70% to successfully complete the program.</a:t>
            </a:r>
            <a:endParaRPr lang="en-US" sz="1300" dirty="0"/>
          </a:p>
        </p:txBody>
      </p:sp>
      <p:sp>
        <p:nvSpPr>
          <p:cNvPr id="6" name="Text 4"/>
          <p:cNvSpPr/>
          <p:nvPr/>
        </p:nvSpPr>
        <p:spPr>
          <a:xfrm>
            <a:off x="658368" y="2450592"/>
            <a:ext cx="4572000" cy="292608"/>
          </a:xfrm>
          <a:prstGeom prst="rect">
            <a:avLst/>
          </a:prstGeom>
          <a:noFill/>
          <a:ln/>
        </p:spPr>
        <p:txBody>
          <a:bodyPr wrap="square" lIns="0" tIns="0" rIns="0" bIns="0" rtlCol="0" anchor="ctr"/>
          <a:lstStyle/>
          <a:p>
            <a:pPr marL="0" indent="0" algn="l">
              <a:buNone/>
            </a:pPr>
            <a:r>
              <a:rPr lang="en-US" sz="1300" b="1" dirty="0">
                <a:solidFill>
                  <a:srgbClr val="B32E4C"/>
                </a:solidFill>
                <a:latin typeface="Calibri" pitchFamily="34" charset="0"/>
                <a:ea typeface="Calibri" pitchFamily="34" charset="-122"/>
                <a:cs typeface="Calibri" pitchFamily="34" charset="-120"/>
              </a:rPr>
              <a:t>Split with no overlap</a:t>
            </a:r>
            <a:endParaRPr lang="en-US" sz="1300" dirty="0"/>
          </a:p>
        </p:txBody>
      </p:sp>
      <p:sp>
        <p:nvSpPr>
          <p:cNvPr id="7" name="Shape 5"/>
          <p:cNvSpPr/>
          <p:nvPr/>
        </p:nvSpPr>
        <p:spPr>
          <a:xfrm>
            <a:off x="658368" y="2788920"/>
            <a:ext cx="4114800" cy="548640"/>
          </a:xfrm>
          <a:prstGeom prst="roundRect">
            <a:avLst>
              <a:gd name="adj" fmla="val 10000"/>
            </a:avLst>
          </a:prstGeom>
          <a:solidFill>
            <a:srgbClr val="F3D7DD"/>
          </a:solidFill>
          <a:ln w="12700">
            <a:solidFill>
              <a:srgbClr val="F3D7DD"/>
            </a:solidFill>
            <a:prstDash val="solid"/>
          </a:ln>
        </p:spPr>
        <p:txBody>
          <a:bodyPr/>
          <a:lstStyle/>
          <a:p>
            <a:endParaRPr lang="en-US"/>
          </a:p>
        </p:txBody>
      </p:sp>
      <p:sp>
        <p:nvSpPr>
          <p:cNvPr id="8" name="Text 6"/>
          <p:cNvSpPr/>
          <p:nvPr/>
        </p:nvSpPr>
        <p:spPr>
          <a:xfrm>
            <a:off x="822960" y="2788920"/>
            <a:ext cx="3785616" cy="548640"/>
          </a:xfrm>
          <a:prstGeom prst="rect">
            <a:avLst/>
          </a:prstGeom>
          <a:noFill/>
          <a:ln/>
        </p:spPr>
        <p:txBody>
          <a:bodyPr wrap="square" lIns="0" tIns="0" rIns="0" bIns="0" rtlCol="0" anchor="ctr"/>
          <a:lstStyle/>
          <a:p>
            <a:pPr marL="0" indent="0" algn="l">
              <a:buNone/>
            </a:pPr>
            <a:r>
              <a:rPr lang="en-US" sz="1150" dirty="0">
                <a:solidFill>
                  <a:srgbClr val="1D2530"/>
                </a:solidFill>
                <a:latin typeface="Courier New" pitchFamily="34" charset="0"/>
                <a:ea typeface="Courier New" pitchFamily="34" charset="-122"/>
                <a:cs typeface="Courier New" pitchFamily="34" charset="-120"/>
              </a:rPr>
              <a:t>…must achieve at least</a:t>
            </a:r>
            <a:endParaRPr lang="en-US" sz="1150" dirty="0"/>
          </a:p>
        </p:txBody>
      </p:sp>
      <p:sp>
        <p:nvSpPr>
          <p:cNvPr id="9" name="Shape 7"/>
          <p:cNvSpPr/>
          <p:nvPr/>
        </p:nvSpPr>
        <p:spPr>
          <a:xfrm>
            <a:off x="4974336" y="2788920"/>
            <a:ext cx="4480560" cy="548640"/>
          </a:xfrm>
          <a:prstGeom prst="roundRect">
            <a:avLst>
              <a:gd name="adj" fmla="val 10000"/>
            </a:avLst>
          </a:prstGeom>
          <a:solidFill>
            <a:srgbClr val="F3D7DD"/>
          </a:solidFill>
          <a:ln w="12700">
            <a:solidFill>
              <a:srgbClr val="F3D7DD"/>
            </a:solidFill>
            <a:prstDash val="solid"/>
          </a:ln>
        </p:spPr>
        <p:txBody>
          <a:bodyPr/>
          <a:lstStyle/>
          <a:p>
            <a:endParaRPr lang="en-US"/>
          </a:p>
        </p:txBody>
      </p:sp>
      <p:sp>
        <p:nvSpPr>
          <p:cNvPr id="10" name="Text 8"/>
          <p:cNvSpPr/>
          <p:nvPr/>
        </p:nvSpPr>
        <p:spPr>
          <a:xfrm>
            <a:off x="5138928" y="2788920"/>
            <a:ext cx="4151376" cy="548640"/>
          </a:xfrm>
          <a:prstGeom prst="rect">
            <a:avLst/>
          </a:prstGeom>
          <a:noFill/>
          <a:ln/>
        </p:spPr>
        <p:txBody>
          <a:bodyPr wrap="square" lIns="0" tIns="0" rIns="0" bIns="0" rtlCol="0" anchor="ctr"/>
          <a:lstStyle/>
          <a:p>
            <a:pPr marL="0" indent="0" algn="l">
              <a:buNone/>
            </a:pPr>
            <a:r>
              <a:rPr lang="en-US" sz="1150" dirty="0">
                <a:solidFill>
                  <a:srgbClr val="1D2530"/>
                </a:solidFill>
                <a:latin typeface="Courier New" pitchFamily="34" charset="0"/>
                <a:ea typeface="Courier New" pitchFamily="34" charset="-122"/>
                <a:cs typeface="Courier New" pitchFamily="34" charset="-120"/>
              </a:rPr>
              <a:t>70% to complete the program</a:t>
            </a:r>
            <a:endParaRPr lang="en-US" sz="1150" dirty="0"/>
          </a:p>
        </p:txBody>
      </p:sp>
      <p:sp>
        <p:nvSpPr>
          <p:cNvPr id="11" name="Text 9"/>
          <p:cNvSpPr/>
          <p:nvPr/>
        </p:nvSpPr>
        <p:spPr>
          <a:xfrm>
            <a:off x="9665208" y="2697480"/>
            <a:ext cx="274320" cy="731520"/>
          </a:xfrm>
          <a:prstGeom prst="rect">
            <a:avLst/>
          </a:prstGeom>
          <a:noFill/>
          <a:ln/>
        </p:spPr>
        <p:txBody>
          <a:bodyPr wrap="square" lIns="0" tIns="0" rIns="0" bIns="0" rtlCol="0" anchor="ctr"/>
          <a:lstStyle/>
          <a:p>
            <a:pPr marL="0" indent="0" algn="l">
              <a:buNone/>
            </a:pPr>
            <a:r>
              <a:rPr lang="en-US" sz="1300" b="1" dirty="0">
                <a:solidFill>
                  <a:srgbClr val="B32E4C"/>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9985248" y="2697480"/>
            <a:ext cx="1965960" cy="731520"/>
          </a:xfrm>
          <a:prstGeom prst="rect">
            <a:avLst/>
          </a:prstGeom>
          <a:noFill/>
          <a:ln/>
        </p:spPr>
        <p:txBody>
          <a:bodyPr wrap="square" lIns="0" tIns="0" rIns="0" bIns="0" rtlCol="0" anchor="ctr"/>
          <a:lstStyle/>
          <a:p>
            <a:pPr marL="0" indent="0" algn="l">
              <a:lnSpc>
                <a:spcPct val="105000"/>
              </a:lnSpc>
              <a:buNone/>
            </a:pPr>
            <a:r>
              <a:rPr lang="en-US" sz="1200" b="1" dirty="0">
                <a:solidFill>
                  <a:srgbClr val="B32E4C"/>
                </a:solidFill>
                <a:latin typeface="Calibri" pitchFamily="34" charset="0"/>
                <a:ea typeface="Calibri" pitchFamily="34" charset="-122"/>
                <a:cs typeface="Calibri" pitchFamily="34" charset="-120"/>
              </a:rPr>
              <a:t>Neither chunk answers the question</a:t>
            </a:r>
            <a:endParaRPr lang="en-US" sz="1200" dirty="0"/>
          </a:p>
        </p:txBody>
      </p:sp>
      <p:sp>
        <p:nvSpPr>
          <p:cNvPr id="13" name="Text 11"/>
          <p:cNvSpPr/>
          <p:nvPr/>
        </p:nvSpPr>
        <p:spPr>
          <a:xfrm>
            <a:off x="658368" y="3611880"/>
            <a:ext cx="5486400" cy="292608"/>
          </a:xfrm>
          <a:prstGeom prst="rect">
            <a:avLst/>
          </a:prstGeom>
          <a:noFill/>
          <a:ln/>
        </p:spPr>
        <p:txBody>
          <a:bodyPr wrap="square" lIns="0" tIns="0" rIns="0" bIns="0" rtlCol="0" anchor="ctr"/>
          <a:lstStyle/>
          <a:p>
            <a:pPr marL="0" indent="0" algn="l">
              <a:buNone/>
            </a:pPr>
            <a:r>
              <a:rPr lang="en-US" sz="1300" b="1" dirty="0">
                <a:solidFill>
                  <a:srgbClr val="1B8F62"/>
                </a:solidFill>
                <a:latin typeface="Calibri" pitchFamily="34" charset="0"/>
                <a:ea typeface="Calibri" pitchFamily="34" charset="-122"/>
                <a:cs typeface="Calibri" pitchFamily="34" charset="-120"/>
              </a:rPr>
              <a:t>Split with 200 characters of overlap</a:t>
            </a:r>
            <a:endParaRPr lang="en-US" sz="1300" dirty="0"/>
          </a:p>
        </p:txBody>
      </p:sp>
      <p:sp>
        <p:nvSpPr>
          <p:cNvPr id="14" name="Shape 12"/>
          <p:cNvSpPr/>
          <p:nvPr/>
        </p:nvSpPr>
        <p:spPr>
          <a:xfrm>
            <a:off x="658368" y="3950208"/>
            <a:ext cx="5120640" cy="548640"/>
          </a:xfrm>
          <a:prstGeom prst="roundRect">
            <a:avLst>
              <a:gd name="adj" fmla="val 10000"/>
            </a:avLst>
          </a:prstGeom>
          <a:solidFill>
            <a:srgbClr val="D6EEE1"/>
          </a:solidFill>
          <a:ln w="12700">
            <a:solidFill>
              <a:srgbClr val="D6EEE1"/>
            </a:solidFill>
            <a:prstDash val="solid"/>
          </a:ln>
        </p:spPr>
        <p:txBody>
          <a:bodyPr/>
          <a:lstStyle/>
          <a:p>
            <a:endParaRPr lang="en-US"/>
          </a:p>
        </p:txBody>
      </p:sp>
      <p:sp>
        <p:nvSpPr>
          <p:cNvPr id="15" name="Text 13"/>
          <p:cNvSpPr/>
          <p:nvPr/>
        </p:nvSpPr>
        <p:spPr>
          <a:xfrm>
            <a:off x="822960" y="3950208"/>
            <a:ext cx="4791456" cy="548640"/>
          </a:xfrm>
          <a:prstGeom prst="rect">
            <a:avLst/>
          </a:prstGeom>
          <a:noFill/>
          <a:ln/>
        </p:spPr>
        <p:txBody>
          <a:bodyPr wrap="square" lIns="0" tIns="0" rIns="0" bIns="0" rtlCol="0" anchor="ctr"/>
          <a:lstStyle/>
          <a:p>
            <a:pPr marL="0" indent="0" algn="l">
              <a:buNone/>
            </a:pPr>
            <a:r>
              <a:rPr lang="en-US" sz="1150" dirty="0">
                <a:solidFill>
                  <a:srgbClr val="1D2530"/>
                </a:solidFill>
                <a:latin typeface="Courier New" pitchFamily="34" charset="0"/>
                <a:ea typeface="Courier New" pitchFamily="34" charset="-122"/>
                <a:cs typeface="Courier New" pitchFamily="34" charset="-120"/>
              </a:rPr>
              <a:t>…must achieve at least 70% to</a:t>
            </a:r>
            <a:endParaRPr lang="en-US" sz="1150" dirty="0"/>
          </a:p>
        </p:txBody>
      </p:sp>
      <p:sp>
        <p:nvSpPr>
          <p:cNvPr id="16" name="Shape 14"/>
          <p:cNvSpPr/>
          <p:nvPr/>
        </p:nvSpPr>
        <p:spPr>
          <a:xfrm>
            <a:off x="3858768" y="4590288"/>
            <a:ext cx="5596128" cy="548640"/>
          </a:xfrm>
          <a:prstGeom prst="roundRect">
            <a:avLst>
              <a:gd name="adj" fmla="val 10000"/>
            </a:avLst>
          </a:prstGeom>
          <a:solidFill>
            <a:srgbClr val="D6EEE1"/>
          </a:solidFill>
          <a:ln w="12700">
            <a:solidFill>
              <a:srgbClr val="D6EEE1"/>
            </a:solidFill>
            <a:prstDash val="solid"/>
          </a:ln>
        </p:spPr>
        <p:txBody>
          <a:bodyPr/>
          <a:lstStyle/>
          <a:p>
            <a:endParaRPr lang="en-US"/>
          </a:p>
        </p:txBody>
      </p:sp>
      <p:sp>
        <p:nvSpPr>
          <p:cNvPr id="17" name="Text 15"/>
          <p:cNvSpPr/>
          <p:nvPr/>
        </p:nvSpPr>
        <p:spPr>
          <a:xfrm>
            <a:off x="4023360" y="4590288"/>
            <a:ext cx="5266944" cy="548640"/>
          </a:xfrm>
          <a:prstGeom prst="rect">
            <a:avLst/>
          </a:prstGeom>
          <a:noFill/>
          <a:ln/>
        </p:spPr>
        <p:txBody>
          <a:bodyPr wrap="square" lIns="0" tIns="0" rIns="0" bIns="0" rtlCol="0" anchor="ctr"/>
          <a:lstStyle/>
          <a:p>
            <a:pPr marL="0" indent="0" algn="l">
              <a:buNone/>
            </a:pPr>
            <a:r>
              <a:rPr lang="en-US" sz="1150" dirty="0">
                <a:solidFill>
                  <a:srgbClr val="1D2530"/>
                </a:solidFill>
                <a:latin typeface="Courier New" pitchFamily="34" charset="0"/>
                <a:ea typeface="Courier New" pitchFamily="34" charset="-122"/>
                <a:cs typeface="Courier New" pitchFamily="34" charset="-120"/>
              </a:rPr>
              <a:t>achieve at least 70% to complete the program.</a:t>
            </a:r>
            <a:endParaRPr lang="en-US" sz="1150" dirty="0"/>
          </a:p>
        </p:txBody>
      </p:sp>
      <p:sp>
        <p:nvSpPr>
          <p:cNvPr id="18" name="Text 16"/>
          <p:cNvSpPr/>
          <p:nvPr/>
        </p:nvSpPr>
        <p:spPr>
          <a:xfrm>
            <a:off x="9665208" y="4224528"/>
            <a:ext cx="274320" cy="731520"/>
          </a:xfrm>
          <a:prstGeom prst="rect">
            <a:avLst/>
          </a:prstGeom>
          <a:noFill/>
          <a:ln/>
        </p:spPr>
        <p:txBody>
          <a:bodyPr wrap="square" lIns="0" tIns="0" rIns="0" bIns="0" rtlCol="0" anchor="ctr"/>
          <a:lstStyle/>
          <a:p>
            <a:pPr marL="0" indent="0" algn="l">
              <a:buNone/>
            </a:pPr>
            <a:r>
              <a:rPr lang="en-US" sz="1300" b="1" dirty="0">
                <a:solidFill>
                  <a:srgbClr val="1B8F62"/>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9985248" y="4224528"/>
            <a:ext cx="1965960" cy="731520"/>
          </a:xfrm>
          <a:prstGeom prst="rect">
            <a:avLst/>
          </a:prstGeom>
          <a:noFill/>
          <a:ln/>
        </p:spPr>
        <p:txBody>
          <a:bodyPr wrap="square" lIns="0" tIns="0" rIns="0" bIns="0" rtlCol="0" anchor="ctr"/>
          <a:lstStyle/>
          <a:p>
            <a:pPr marL="0" indent="0" algn="l">
              <a:lnSpc>
                <a:spcPct val="105000"/>
              </a:lnSpc>
              <a:buNone/>
            </a:pPr>
            <a:r>
              <a:rPr lang="en-US" sz="1200" b="1" dirty="0">
                <a:solidFill>
                  <a:srgbClr val="1B8F62"/>
                </a:solidFill>
                <a:latin typeface="Calibri" pitchFamily="34" charset="0"/>
                <a:ea typeface="Calibri" pitchFamily="34" charset="-122"/>
                <a:cs typeface="Calibri" pitchFamily="34" charset="-120"/>
              </a:rPr>
              <a:t>The full sentence survives in chunk 2</a:t>
            </a:r>
            <a:endParaRPr lang="en-US" sz="1200" dirty="0"/>
          </a:p>
        </p:txBody>
      </p:sp>
      <p:sp>
        <p:nvSpPr>
          <p:cNvPr id="20" name="Text 18"/>
          <p:cNvSpPr/>
          <p:nvPr/>
        </p:nvSpPr>
        <p:spPr>
          <a:xfrm>
            <a:off x="658368" y="5440680"/>
            <a:ext cx="10874959" cy="365760"/>
          </a:xfrm>
          <a:prstGeom prst="rect">
            <a:avLst/>
          </a:prstGeom>
          <a:noFill/>
          <a:ln/>
        </p:spPr>
        <p:txBody>
          <a:bodyPr wrap="square" lIns="0" tIns="0" rIns="0" bIns="0" rtlCol="0" anchor="ctr"/>
          <a:lstStyle/>
          <a:p>
            <a:pPr marL="0" indent="0" algn="l">
              <a:buNone/>
            </a:pPr>
            <a:r>
              <a:rPr lang="en-US" sz="1350" dirty="0">
                <a:solidFill>
                  <a:srgbClr val="5C6B7A"/>
                </a:solidFill>
                <a:latin typeface="Calibri" pitchFamily="34" charset="0"/>
                <a:ea typeface="Calibri" pitchFamily="34" charset="-122"/>
                <a:cs typeface="Calibri" pitchFamily="34" charset="-120"/>
              </a:rPr>
              <a:t>Overlap is cheap insurance: the boundary sentence appears at the end of one chunk and the start of the next.</a:t>
            </a:r>
            <a:endParaRPr lang="en-US" sz="1350" dirty="0"/>
          </a:p>
        </p:txBody>
      </p:sp>
      <p:sp>
        <p:nvSpPr>
          <p:cNvPr id="21" name="Text 19"/>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WORD 3</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Embedding — meaning turned into numbers</a:t>
            </a:r>
            <a:endParaRPr lang="en-US" sz="3000" dirty="0"/>
          </a:p>
        </p:txBody>
      </p:sp>
      <p:sp>
        <p:nvSpPr>
          <p:cNvPr id="4" name="Shape 2"/>
          <p:cNvSpPr/>
          <p:nvPr/>
        </p:nvSpPr>
        <p:spPr>
          <a:xfrm>
            <a:off x="658368" y="1645920"/>
            <a:ext cx="10874959" cy="1051560"/>
          </a:xfrm>
          <a:prstGeom prst="roundRect">
            <a:avLst>
              <a:gd name="adj" fmla="val 7826"/>
            </a:avLst>
          </a:prstGeom>
          <a:solidFill>
            <a:srgbClr val="EAF1FA"/>
          </a:solidFill>
          <a:ln w="12700">
            <a:solidFill>
              <a:srgbClr val="EAF1FA"/>
            </a:solidFill>
            <a:prstDash val="solid"/>
          </a:ln>
          <a:effectLst>
            <a:outerShdw blurRad="127000" dist="25400" dir="5400000" algn="bl" rotWithShape="0">
              <a:srgbClr val="8496AC">
                <a:alpha val="18000"/>
              </a:srgbClr>
            </a:outerShdw>
          </a:effectLst>
        </p:spPr>
        <p:txBody>
          <a:bodyPr/>
          <a:lstStyle/>
          <a:p>
            <a:endParaRPr lang="en-US"/>
          </a:p>
        </p:txBody>
      </p:sp>
      <p:sp>
        <p:nvSpPr>
          <p:cNvPr id="5" name="Text 3"/>
          <p:cNvSpPr/>
          <p:nvPr/>
        </p:nvSpPr>
        <p:spPr>
          <a:xfrm>
            <a:off x="914400" y="1883664"/>
            <a:ext cx="10362895" cy="310896"/>
          </a:xfrm>
          <a:prstGeom prst="rect">
            <a:avLst/>
          </a:prstGeom>
          <a:noFill/>
          <a:ln/>
        </p:spPr>
        <p:txBody>
          <a:bodyPr wrap="square" lIns="0" tIns="0" rIns="0" bIns="0" rtlCol="0" anchor="ctr"/>
          <a:lstStyle/>
          <a:p>
            <a:pPr marL="0" indent="0" algn="l">
              <a:lnSpc>
                <a:spcPct val="102000"/>
              </a:lnSpc>
              <a:buNone/>
            </a:pPr>
            <a:r>
              <a:rPr lang="en-US" sz="1800" b="1" dirty="0">
                <a:solidFill>
                  <a:srgbClr val="2A6FB5"/>
                </a:solidFill>
                <a:latin typeface="Calibri" pitchFamily="34" charset="0"/>
                <a:ea typeface="Calibri" pitchFamily="34" charset="-122"/>
                <a:cs typeface="Calibri" pitchFamily="34" charset="-120"/>
              </a:rPr>
              <a:t>An embedding is a list of numbers that represents the meaning of a piece of text.</a:t>
            </a:r>
            <a:endParaRPr lang="en-US" sz="1800" dirty="0"/>
          </a:p>
        </p:txBody>
      </p:sp>
      <p:sp>
        <p:nvSpPr>
          <p:cNvPr id="6" name="Text 4"/>
          <p:cNvSpPr/>
          <p:nvPr/>
        </p:nvSpPr>
        <p:spPr>
          <a:xfrm>
            <a:off x="914400" y="2249424"/>
            <a:ext cx="10362895" cy="246888"/>
          </a:xfrm>
          <a:prstGeom prst="rect">
            <a:avLst/>
          </a:prstGeom>
          <a:noFill/>
          <a:ln/>
        </p:spPr>
        <p:txBody>
          <a:bodyPr wrap="square" lIns="0" tIns="0" rIns="0" bIns="0" rtlCol="0" anchor="t"/>
          <a:lstStyle/>
          <a:p>
            <a:pPr marL="0" indent="0" algn="l">
              <a:lnSpc>
                <a:spcPct val="112000"/>
              </a:lnSpc>
              <a:buNone/>
            </a:pPr>
            <a:r>
              <a:rPr lang="en-US" sz="1400" dirty="0">
                <a:solidFill>
                  <a:srgbClr val="1D2530"/>
                </a:solidFill>
                <a:latin typeface="Calibri" pitchFamily="34" charset="0"/>
                <a:ea typeface="Calibri" pitchFamily="34" charset="-122"/>
                <a:cs typeface="Calibri" pitchFamily="34" charset="-120"/>
              </a:rPr>
              <a:t>Text with similar meaning produces numbers that sit close together.</a:t>
            </a:r>
            <a:endParaRPr lang="en-US" sz="1400" dirty="0"/>
          </a:p>
        </p:txBody>
      </p:sp>
      <p:sp>
        <p:nvSpPr>
          <p:cNvPr id="7" name="Text 5"/>
          <p:cNvSpPr/>
          <p:nvPr/>
        </p:nvSpPr>
        <p:spPr>
          <a:xfrm>
            <a:off x="658368" y="2880360"/>
            <a:ext cx="10874959" cy="365760"/>
          </a:xfrm>
          <a:prstGeom prst="rect">
            <a:avLst/>
          </a:prstGeom>
          <a:noFill/>
          <a:ln/>
        </p:spPr>
        <p:txBody>
          <a:bodyPr wrap="square" lIns="0" tIns="0" rIns="0" bIns="0" rtlCol="0" anchor="ctr"/>
          <a:lstStyle/>
          <a:p>
            <a:pPr marL="0" indent="0" algn="l">
              <a:buNone/>
            </a:pPr>
            <a:r>
              <a:rPr lang="en-US" sz="1700" b="1" dirty="0">
                <a:solidFill>
                  <a:srgbClr val="13233F"/>
                </a:solidFill>
                <a:latin typeface="Calibri" pitchFamily="34" charset="0"/>
                <a:ea typeface="Calibri" pitchFamily="34" charset="-122"/>
                <a:cs typeface="Calibri" pitchFamily="34" charset="-120"/>
              </a:rPr>
              <a:t>Think of it as a map of meaning</a:t>
            </a:r>
            <a:endParaRPr lang="en-US" sz="1700" dirty="0"/>
          </a:p>
        </p:txBody>
      </p:sp>
      <p:sp>
        <p:nvSpPr>
          <p:cNvPr id="8" name="Shape 6"/>
          <p:cNvSpPr/>
          <p:nvPr/>
        </p:nvSpPr>
        <p:spPr>
          <a:xfrm>
            <a:off x="658368" y="3337560"/>
            <a:ext cx="3442106" cy="1371600"/>
          </a:xfrm>
          <a:prstGeom prst="roundRect">
            <a:avLst>
              <a:gd name="adj" fmla="val 6000"/>
            </a:avLst>
          </a:prstGeom>
          <a:solidFill>
            <a:srgbClr val="E7F5EE"/>
          </a:solidFill>
          <a:ln w="12700">
            <a:solidFill>
              <a:srgbClr val="E7F5EE"/>
            </a:solidFill>
            <a:prstDash val="solid"/>
          </a:ln>
        </p:spPr>
        <p:txBody>
          <a:bodyPr/>
          <a:lstStyle/>
          <a:p>
            <a:endParaRPr lang="en-US"/>
          </a:p>
        </p:txBody>
      </p:sp>
      <p:sp>
        <p:nvSpPr>
          <p:cNvPr id="9" name="Text 7"/>
          <p:cNvSpPr/>
          <p:nvPr/>
        </p:nvSpPr>
        <p:spPr>
          <a:xfrm>
            <a:off x="914400" y="3575304"/>
            <a:ext cx="2930042" cy="566928"/>
          </a:xfrm>
          <a:prstGeom prst="rect">
            <a:avLst/>
          </a:prstGeom>
          <a:noFill/>
          <a:ln/>
        </p:spPr>
        <p:txBody>
          <a:bodyPr wrap="square" lIns="0" tIns="0" rIns="0" bIns="0" rtlCol="0" anchor="t"/>
          <a:lstStyle/>
          <a:p>
            <a:pPr marL="0" indent="0" algn="l">
              <a:lnSpc>
                <a:spcPct val="102000"/>
              </a:lnSpc>
              <a:buNone/>
            </a:pPr>
            <a:r>
              <a:rPr lang="en-US" sz="1450" b="1" dirty="0">
                <a:solidFill>
                  <a:srgbClr val="1B8F62"/>
                </a:solidFill>
                <a:latin typeface="Calibri" pitchFamily="34" charset="0"/>
                <a:ea typeface="Calibri" pitchFamily="34" charset="-122"/>
                <a:cs typeface="Calibri" pitchFamily="34" charset="-120"/>
              </a:rPr>
              <a:t>“I need to pass the course”</a:t>
            </a:r>
            <a:endParaRPr lang="en-US" sz="1450" dirty="0"/>
          </a:p>
        </p:txBody>
      </p:sp>
      <p:sp>
        <p:nvSpPr>
          <p:cNvPr id="10" name="Text 8"/>
          <p:cNvSpPr/>
          <p:nvPr/>
        </p:nvSpPr>
        <p:spPr>
          <a:xfrm>
            <a:off x="914400" y="4197096"/>
            <a:ext cx="2930042" cy="310896"/>
          </a:xfrm>
          <a:prstGeom prst="rect">
            <a:avLst/>
          </a:prstGeom>
          <a:noFill/>
          <a:ln/>
        </p:spPr>
        <p:txBody>
          <a:bodyPr wrap="square" lIns="0" tIns="0" rIns="0" bIns="0" rtlCol="0" anchor="t"/>
          <a:lstStyle/>
          <a:p>
            <a:pPr marL="0" indent="0" algn="l">
              <a:lnSpc>
                <a:spcPct val="112000"/>
              </a:lnSpc>
              <a:buNone/>
            </a:pPr>
            <a:r>
              <a:rPr lang="en-US" sz="1250" dirty="0">
                <a:solidFill>
                  <a:srgbClr val="5C6B7A"/>
                </a:solidFill>
                <a:latin typeface="Calibri" pitchFamily="34" charset="0"/>
                <a:ea typeface="Calibri" pitchFamily="34" charset="-122"/>
                <a:cs typeface="Calibri" pitchFamily="34" charset="-120"/>
              </a:rPr>
              <a:t>lands here</a:t>
            </a:r>
            <a:endParaRPr lang="en-US" sz="1250" dirty="0"/>
          </a:p>
        </p:txBody>
      </p:sp>
      <p:sp>
        <p:nvSpPr>
          <p:cNvPr id="11" name="Shape 9"/>
          <p:cNvSpPr/>
          <p:nvPr/>
        </p:nvSpPr>
        <p:spPr>
          <a:xfrm>
            <a:off x="4374794" y="3337560"/>
            <a:ext cx="3442106" cy="1371600"/>
          </a:xfrm>
          <a:prstGeom prst="roundRect">
            <a:avLst>
              <a:gd name="adj" fmla="val 6000"/>
            </a:avLst>
          </a:prstGeom>
          <a:solidFill>
            <a:srgbClr val="E7F5EE"/>
          </a:solidFill>
          <a:ln w="12700">
            <a:solidFill>
              <a:srgbClr val="E7F5EE"/>
            </a:solidFill>
            <a:prstDash val="solid"/>
          </a:ln>
        </p:spPr>
        <p:txBody>
          <a:bodyPr/>
          <a:lstStyle/>
          <a:p>
            <a:endParaRPr lang="en-US"/>
          </a:p>
        </p:txBody>
      </p:sp>
      <p:sp>
        <p:nvSpPr>
          <p:cNvPr id="12" name="Text 10"/>
          <p:cNvSpPr/>
          <p:nvPr/>
        </p:nvSpPr>
        <p:spPr>
          <a:xfrm>
            <a:off x="4630826" y="3575304"/>
            <a:ext cx="2930042" cy="566928"/>
          </a:xfrm>
          <a:prstGeom prst="rect">
            <a:avLst/>
          </a:prstGeom>
          <a:noFill/>
          <a:ln/>
        </p:spPr>
        <p:txBody>
          <a:bodyPr wrap="square" lIns="0" tIns="0" rIns="0" bIns="0" rtlCol="0" anchor="t"/>
          <a:lstStyle/>
          <a:p>
            <a:pPr marL="0" indent="0" algn="l">
              <a:lnSpc>
                <a:spcPct val="102000"/>
              </a:lnSpc>
              <a:buNone/>
            </a:pPr>
            <a:r>
              <a:rPr lang="en-US" sz="1450" b="1" dirty="0">
                <a:solidFill>
                  <a:srgbClr val="1B8F62"/>
                </a:solidFill>
                <a:latin typeface="Calibri" pitchFamily="34" charset="0"/>
                <a:ea typeface="Calibri" pitchFamily="34" charset="-122"/>
                <a:cs typeface="Calibri" pitchFamily="34" charset="-120"/>
              </a:rPr>
              <a:t>“The minimum grade to complete the program”</a:t>
            </a:r>
            <a:endParaRPr lang="en-US" sz="1450" dirty="0"/>
          </a:p>
        </p:txBody>
      </p:sp>
      <p:sp>
        <p:nvSpPr>
          <p:cNvPr id="13" name="Text 11"/>
          <p:cNvSpPr/>
          <p:nvPr/>
        </p:nvSpPr>
        <p:spPr>
          <a:xfrm>
            <a:off x="4630826" y="4197096"/>
            <a:ext cx="2930042" cy="310896"/>
          </a:xfrm>
          <a:prstGeom prst="rect">
            <a:avLst/>
          </a:prstGeom>
          <a:noFill/>
          <a:ln/>
        </p:spPr>
        <p:txBody>
          <a:bodyPr wrap="square" lIns="0" tIns="0" rIns="0" bIns="0" rtlCol="0" anchor="t"/>
          <a:lstStyle/>
          <a:p>
            <a:pPr marL="0" indent="0" algn="l">
              <a:lnSpc>
                <a:spcPct val="112000"/>
              </a:lnSpc>
              <a:buNone/>
            </a:pPr>
            <a:r>
              <a:rPr lang="en-US" sz="1250" dirty="0">
                <a:solidFill>
                  <a:srgbClr val="5C6B7A"/>
                </a:solidFill>
                <a:latin typeface="Calibri" pitchFamily="34" charset="0"/>
                <a:ea typeface="Calibri" pitchFamily="34" charset="-122"/>
                <a:cs typeface="Calibri" pitchFamily="34" charset="-120"/>
              </a:rPr>
              <a:t>lands right next to it</a:t>
            </a:r>
            <a:endParaRPr lang="en-US" sz="1250" dirty="0"/>
          </a:p>
        </p:txBody>
      </p:sp>
      <p:sp>
        <p:nvSpPr>
          <p:cNvPr id="14" name="Shape 12"/>
          <p:cNvSpPr/>
          <p:nvPr/>
        </p:nvSpPr>
        <p:spPr>
          <a:xfrm>
            <a:off x="8091221" y="3337560"/>
            <a:ext cx="3442106" cy="1371600"/>
          </a:xfrm>
          <a:prstGeom prst="roundRect">
            <a:avLst>
              <a:gd name="adj" fmla="val 6000"/>
            </a:avLst>
          </a:prstGeom>
          <a:solidFill>
            <a:srgbClr val="F2F5F9"/>
          </a:solidFill>
          <a:ln w="12700">
            <a:solidFill>
              <a:srgbClr val="F2F5F9"/>
            </a:solidFill>
            <a:prstDash val="solid"/>
          </a:ln>
        </p:spPr>
        <p:txBody>
          <a:bodyPr/>
          <a:lstStyle/>
          <a:p>
            <a:endParaRPr lang="en-US"/>
          </a:p>
        </p:txBody>
      </p:sp>
      <p:sp>
        <p:nvSpPr>
          <p:cNvPr id="15" name="Text 13"/>
          <p:cNvSpPr/>
          <p:nvPr/>
        </p:nvSpPr>
        <p:spPr>
          <a:xfrm>
            <a:off x="8347253" y="3575304"/>
            <a:ext cx="2930042" cy="566928"/>
          </a:xfrm>
          <a:prstGeom prst="rect">
            <a:avLst/>
          </a:prstGeom>
          <a:noFill/>
          <a:ln/>
        </p:spPr>
        <p:txBody>
          <a:bodyPr wrap="square" lIns="0" tIns="0" rIns="0" bIns="0" rtlCol="0" anchor="t"/>
          <a:lstStyle/>
          <a:p>
            <a:pPr marL="0" indent="0" algn="l">
              <a:lnSpc>
                <a:spcPct val="102000"/>
              </a:lnSpc>
              <a:buNone/>
            </a:pPr>
            <a:r>
              <a:rPr lang="en-US" sz="1450" b="1" dirty="0">
                <a:solidFill>
                  <a:srgbClr val="5C6B7A"/>
                </a:solidFill>
                <a:latin typeface="Calibri" pitchFamily="34" charset="0"/>
                <a:ea typeface="Calibri" pitchFamily="34" charset="-122"/>
                <a:cs typeface="Calibri" pitchFamily="34" charset="-120"/>
              </a:rPr>
              <a:t>“The weather in Istanbul”</a:t>
            </a:r>
            <a:endParaRPr lang="en-US" sz="1450" dirty="0"/>
          </a:p>
        </p:txBody>
      </p:sp>
      <p:sp>
        <p:nvSpPr>
          <p:cNvPr id="16" name="Text 14"/>
          <p:cNvSpPr/>
          <p:nvPr/>
        </p:nvSpPr>
        <p:spPr>
          <a:xfrm>
            <a:off x="8347253" y="4197096"/>
            <a:ext cx="2930042" cy="310896"/>
          </a:xfrm>
          <a:prstGeom prst="rect">
            <a:avLst/>
          </a:prstGeom>
          <a:noFill/>
          <a:ln/>
        </p:spPr>
        <p:txBody>
          <a:bodyPr wrap="square" lIns="0" tIns="0" rIns="0" bIns="0" rtlCol="0" anchor="t"/>
          <a:lstStyle/>
          <a:p>
            <a:pPr marL="0" indent="0" algn="l">
              <a:lnSpc>
                <a:spcPct val="112000"/>
              </a:lnSpc>
              <a:buNone/>
            </a:pPr>
            <a:r>
              <a:rPr lang="en-US" sz="1250" dirty="0">
                <a:solidFill>
                  <a:srgbClr val="5C6B7A"/>
                </a:solidFill>
                <a:latin typeface="Calibri" pitchFamily="34" charset="0"/>
                <a:ea typeface="Calibri" pitchFamily="34" charset="-122"/>
                <a:cs typeface="Calibri" pitchFamily="34" charset="-120"/>
              </a:rPr>
              <a:t>lands on the other side of the map</a:t>
            </a:r>
            <a:endParaRPr lang="en-US" sz="1250" dirty="0"/>
          </a:p>
        </p:txBody>
      </p:sp>
      <p:sp>
        <p:nvSpPr>
          <p:cNvPr id="17" name="Shape 15"/>
          <p:cNvSpPr/>
          <p:nvPr/>
        </p:nvSpPr>
        <p:spPr>
          <a:xfrm>
            <a:off x="658368" y="4846320"/>
            <a:ext cx="10874959" cy="1097280"/>
          </a:xfrm>
          <a:prstGeom prst="roundRect">
            <a:avLst>
              <a:gd name="adj" fmla="val 6667"/>
            </a:avLst>
          </a:prstGeom>
          <a:solidFill>
            <a:srgbClr val="FCF2E4"/>
          </a:solidFill>
          <a:ln w="12700">
            <a:solidFill>
              <a:srgbClr val="FCF2E4"/>
            </a:solidFill>
            <a:prstDash val="solid"/>
          </a:ln>
        </p:spPr>
        <p:txBody>
          <a:bodyPr/>
          <a:lstStyle/>
          <a:p>
            <a:endParaRPr lang="en-US"/>
          </a:p>
        </p:txBody>
      </p:sp>
      <p:sp>
        <p:nvSpPr>
          <p:cNvPr id="18" name="Text 16"/>
          <p:cNvSpPr/>
          <p:nvPr/>
        </p:nvSpPr>
        <p:spPr>
          <a:xfrm>
            <a:off x="932688" y="4992624"/>
            <a:ext cx="10326319" cy="219456"/>
          </a:xfrm>
          <a:prstGeom prst="rect">
            <a:avLst/>
          </a:prstGeom>
          <a:noFill/>
          <a:ln/>
        </p:spPr>
        <p:txBody>
          <a:bodyPr wrap="square" lIns="0" tIns="0" rIns="0" bIns="0" rtlCol="0" anchor="ctr"/>
          <a:lstStyle/>
          <a:p>
            <a:pPr marL="0" indent="0" algn="l">
              <a:buNone/>
            </a:pPr>
            <a:r>
              <a:rPr lang="en-US" sz="1050" b="1" kern="0" spc="160" dirty="0">
                <a:solidFill>
                  <a:srgbClr val="A85F12"/>
                </a:solidFill>
                <a:latin typeface="Calibri" pitchFamily="34" charset="0"/>
                <a:ea typeface="Calibri" pitchFamily="34" charset="-122"/>
                <a:cs typeface="Calibri" pitchFamily="34" charset="-120"/>
              </a:rPr>
              <a:t>RULE FOR THE REST OF THE COURSE</a:t>
            </a:r>
            <a:endParaRPr lang="en-US" sz="1050" dirty="0"/>
          </a:p>
        </p:txBody>
      </p:sp>
      <p:sp>
        <p:nvSpPr>
          <p:cNvPr id="19" name="Text 17"/>
          <p:cNvSpPr/>
          <p:nvPr/>
        </p:nvSpPr>
        <p:spPr>
          <a:xfrm>
            <a:off x="932688" y="5248656"/>
            <a:ext cx="10326319" cy="53035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The question and the documents must be embedded by the same model. Two models draw two different maps, and coordinates from one map mean nothing on the other.</a:t>
            </a:r>
            <a:endParaRPr lang="en-US" sz="1400" dirty="0"/>
          </a:p>
        </p:txBody>
      </p:sp>
      <p:sp>
        <p:nvSpPr>
          <p:cNvPr id="20" name="Text 18"/>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WHY EMBEDDINGS BEAT KEYWORDS</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A student asks: “What score do I need to pass?”</a:t>
            </a:r>
            <a:endParaRPr lang="en-US" sz="3000" dirty="0"/>
          </a:p>
        </p:txBody>
      </p:sp>
      <p:sp>
        <p:nvSpPr>
          <p:cNvPr id="4" name="Shape 2"/>
          <p:cNvSpPr/>
          <p:nvPr/>
        </p:nvSpPr>
        <p:spPr>
          <a:xfrm>
            <a:off x="658368" y="1600200"/>
            <a:ext cx="10874959" cy="566928"/>
          </a:xfrm>
          <a:prstGeom prst="roundRect">
            <a:avLst>
              <a:gd name="adj" fmla="val 9677"/>
            </a:avLst>
          </a:prstGeom>
          <a:solidFill>
            <a:srgbClr val="F2F5F9"/>
          </a:solidFill>
          <a:ln w="12700">
            <a:solidFill>
              <a:srgbClr val="F2F5F9"/>
            </a:solidFill>
            <a:prstDash val="solid"/>
          </a:ln>
        </p:spPr>
        <p:txBody>
          <a:bodyPr/>
          <a:lstStyle/>
          <a:p>
            <a:endParaRPr lang="en-US"/>
          </a:p>
        </p:txBody>
      </p:sp>
      <p:sp>
        <p:nvSpPr>
          <p:cNvPr id="5" name="Text 3"/>
          <p:cNvSpPr/>
          <p:nvPr/>
        </p:nvSpPr>
        <p:spPr>
          <a:xfrm>
            <a:off x="886968" y="1600200"/>
            <a:ext cx="10417759" cy="566928"/>
          </a:xfrm>
          <a:prstGeom prst="rect">
            <a:avLst/>
          </a:prstGeom>
          <a:noFill/>
          <a:ln/>
        </p:spPr>
        <p:txBody>
          <a:bodyPr wrap="square" lIns="0" tIns="0" rIns="0" bIns="0" rtlCol="0" anchor="ctr"/>
          <a:lstStyle/>
          <a:p>
            <a:pPr marL="0" indent="0" algn="l">
              <a:buNone/>
            </a:pPr>
            <a:r>
              <a:rPr lang="en-US" sz="1400" dirty="0">
                <a:solidFill>
                  <a:srgbClr val="1D2530"/>
                </a:solidFill>
                <a:latin typeface="Calibri" pitchFamily="34" charset="0"/>
                <a:ea typeface="Calibri" pitchFamily="34" charset="-122"/>
                <a:cs typeface="Calibri" pitchFamily="34" charset="-120"/>
              </a:rPr>
              <a:t>The document says:   “Students must achieve at least 70% to successfully complete the program.”</a:t>
            </a:r>
            <a:endParaRPr lang="en-US" sz="1400" dirty="0"/>
          </a:p>
        </p:txBody>
      </p:sp>
      <p:sp>
        <p:nvSpPr>
          <p:cNvPr id="6" name="Shape 4"/>
          <p:cNvSpPr/>
          <p:nvPr/>
        </p:nvSpPr>
        <p:spPr>
          <a:xfrm>
            <a:off x="658368" y="2377440"/>
            <a:ext cx="5254600" cy="1874520"/>
          </a:xfrm>
          <a:prstGeom prst="roundRect">
            <a:avLst>
              <a:gd name="adj" fmla="val 4390"/>
            </a:avLst>
          </a:prstGeom>
          <a:solidFill>
            <a:srgbClr val="FBEBEE"/>
          </a:solidFill>
          <a:ln w="12700">
            <a:solidFill>
              <a:srgbClr val="FBEBEE"/>
            </a:solidFill>
            <a:prstDash val="solid"/>
          </a:ln>
          <a:effectLst>
            <a:outerShdw blurRad="127000" dist="25400" dir="5400000" algn="bl" rotWithShape="0">
              <a:srgbClr val="8496AC">
                <a:alpha val="18000"/>
              </a:srgbClr>
            </a:outerShdw>
          </a:effectLst>
        </p:spPr>
        <p:txBody>
          <a:bodyPr/>
          <a:lstStyle/>
          <a:p>
            <a:endParaRPr lang="en-US"/>
          </a:p>
        </p:txBody>
      </p:sp>
      <p:sp>
        <p:nvSpPr>
          <p:cNvPr id="7" name="Text 5"/>
          <p:cNvSpPr/>
          <p:nvPr/>
        </p:nvSpPr>
        <p:spPr>
          <a:xfrm>
            <a:off x="914400" y="2615184"/>
            <a:ext cx="4742536" cy="310896"/>
          </a:xfrm>
          <a:prstGeom prst="rect">
            <a:avLst/>
          </a:prstGeom>
          <a:noFill/>
          <a:ln/>
        </p:spPr>
        <p:txBody>
          <a:bodyPr wrap="square" lIns="0" tIns="0" rIns="0" bIns="0" rtlCol="0" anchor="ctr"/>
          <a:lstStyle/>
          <a:p>
            <a:pPr marL="0" indent="0" algn="l">
              <a:lnSpc>
                <a:spcPct val="102000"/>
              </a:lnSpc>
              <a:buNone/>
            </a:pPr>
            <a:r>
              <a:rPr lang="en-US" sz="1800" b="1" dirty="0">
                <a:solidFill>
                  <a:srgbClr val="B32E4C"/>
                </a:solidFill>
                <a:latin typeface="Calibri" pitchFamily="34" charset="0"/>
                <a:ea typeface="Calibri" pitchFamily="34" charset="-122"/>
                <a:cs typeface="Calibri" pitchFamily="34" charset="-120"/>
              </a:rPr>
              <a:t>✕   Keyword search finds nothing</a:t>
            </a:r>
            <a:endParaRPr lang="en-US" sz="1800" dirty="0"/>
          </a:p>
        </p:txBody>
      </p:sp>
      <p:sp>
        <p:nvSpPr>
          <p:cNvPr id="8" name="Text 6"/>
          <p:cNvSpPr/>
          <p:nvPr/>
        </p:nvSpPr>
        <p:spPr>
          <a:xfrm>
            <a:off x="914400" y="2980944"/>
            <a:ext cx="4742536" cy="1069848"/>
          </a:xfrm>
          <a:prstGeom prst="rect">
            <a:avLst/>
          </a:prstGeom>
          <a:noFill/>
          <a:ln/>
        </p:spPr>
        <p:txBody>
          <a:bodyPr wrap="square" lIns="0" tIns="0" rIns="0" bIns="0" rtlCol="0" anchor="t"/>
          <a:lstStyle/>
          <a:p>
            <a:pPr marL="0" indent="0" algn="l">
              <a:lnSpc>
                <a:spcPct val="112000"/>
              </a:lnSpc>
              <a:buNone/>
            </a:pPr>
            <a:r>
              <a:rPr lang="en-US" sz="1500" dirty="0">
                <a:solidFill>
                  <a:srgbClr val="1D2530"/>
                </a:solidFill>
                <a:latin typeface="Calibri" pitchFamily="34" charset="0"/>
                <a:ea typeface="Calibri" pitchFamily="34" charset="-122"/>
                <a:cs typeface="Calibri" pitchFamily="34" charset="-120"/>
              </a:rPr>
              <a:t>The words “score” and “pass” do not appear anywhere in that sentence. There is no character overlap to match on.</a:t>
            </a:r>
            <a:endParaRPr lang="en-US" sz="1500" dirty="0"/>
          </a:p>
        </p:txBody>
      </p:sp>
      <p:sp>
        <p:nvSpPr>
          <p:cNvPr id="9" name="Shape 7"/>
          <p:cNvSpPr/>
          <p:nvPr/>
        </p:nvSpPr>
        <p:spPr>
          <a:xfrm>
            <a:off x="6278728" y="2377440"/>
            <a:ext cx="5254600" cy="1874520"/>
          </a:xfrm>
          <a:prstGeom prst="roundRect">
            <a:avLst>
              <a:gd name="adj" fmla="val 4390"/>
            </a:avLst>
          </a:prstGeom>
          <a:solidFill>
            <a:srgbClr val="E7F5EE"/>
          </a:solidFill>
          <a:ln w="12700">
            <a:solidFill>
              <a:srgbClr val="E7F5EE"/>
            </a:solidFill>
            <a:prstDash val="solid"/>
          </a:ln>
          <a:effectLst>
            <a:outerShdw blurRad="127000" dist="25400" dir="5400000" algn="bl" rotWithShape="0">
              <a:srgbClr val="8496AC">
                <a:alpha val="18000"/>
              </a:srgbClr>
            </a:outerShdw>
          </a:effectLst>
        </p:spPr>
        <p:txBody>
          <a:bodyPr/>
          <a:lstStyle/>
          <a:p>
            <a:endParaRPr lang="en-US"/>
          </a:p>
        </p:txBody>
      </p:sp>
      <p:sp>
        <p:nvSpPr>
          <p:cNvPr id="10" name="Text 8"/>
          <p:cNvSpPr/>
          <p:nvPr/>
        </p:nvSpPr>
        <p:spPr>
          <a:xfrm>
            <a:off x="6534760" y="2615184"/>
            <a:ext cx="4742536" cy="310896"/>
          </a:xfrm>
          <a:prstGeom prst="rect">
            <a:avLst/>
          </a:prstGeom>
          <a:noFill/>
          <a:ln/>
        </p:spPr>
        <p:txBody>
          <a:bodyPr wrap="square" lIns="0" tIns="0" rIns="0" bIns="0" rtlCol="0" anchor="ctr"/>
          <a:lstStyle/>
          <a:p>
            <a:pPr marL="0" indent="0" algn="l">
              <a:lnSpc>
                <a:spcPct val="102000"/>
              </a:lnSpc>
              <a:buNone/>
            </a:pPr>
            <a:r>
              <a:rPr lang="en-US" sz="1800" b="1" dirty="0">
                <a:solidFill>
                  <a:srgbClr val="1B8F62"/>
                </a:solidFill>
                <a:latin typeface="Calibri" pitchFamily="34" charset="0"/>
                <a:ea typeface="Calibri" pitchFamily="34" charset="-122"/>
                <a:cs typeface="Calibri" pitchFamily="34" charset="-120"/>
              </a:rPr>
              <a:t>✓   Semantic search finds it</a:t>
            </a:r>
            <a:endParaRPr lang="en-US" sz="1800" dirty="0"/>
          </a:p>
        </p:txBody>
      </p:sp>
      <p:sp>
        <p:nvSpPr>
          <p:cNvPr id="11" name="Text 9"/>
          <p:cNvSpPr/>
          <p:nvPr/>
        </p:nvSpPr>
        <p:spPr>
          <a:xfrm>
            <a:off x="6534760" y="2980944"/>
            <a:ext cx="4742536" cy="1069848"/>
          </a:xfrm>
          <a:prstGeom prst="rect">
            <a:avLst/>
          </a:prstGeom>
          <a:noFill/>
          <a:ln/>
        </p:spPr>
        <p:txBody>
          <a:bodyPr wrap="square" lIns="0" tIns="0" rIns="0" bIns="0" rtlCol="0" anchor="t"/>
          <a:lstStyle/>
          <a:p>
            <a:pPr marL="0" indent="0" algn="l">
              <a:lnSpc>
                <a:spcPct val="112000"/>
              </a:lnSpc>
              <a:buNone/>
            </a:pPr>
            <a:r>
              <a:rPr lang="en-US" sz="1500" dirty="0">
                <a:solidFill>
                  <a:srgbClr val="1D2530"/>
                </a:solidFill>
                <a:latin typeface="Calibri" pitchFamily="34" charset="0"/>
                <a:ea typeface="Calibri" pitchFamily="34" charset="-122"/>
                <a:cs typeface="Calibri" pitchFamily="34" charset="-120"/>
              </a:rPr>
              <a:t>“What score do I need to pass” and “must achieve at least 70% to successfully complete” mean nearly the same thing — and meaning is what an embedding measures.</a:t>
            </a:r>
            <a:endParaRPr lang="en-US" sz="1500" dirty="0"/>
          </a:p>
        </p:txBody>
      </p:sp>
      <p:sp>
        <p:nvSpPr>
          <p:cNvPr id="12" name="Shape 10"/>
          <p:cNvSpPr/>
          <p:nvPr/>
        </p:nvSpPr>
        <p:spPr>
          <a:xfrm>
            <a:off x="658368" y="4480560"/>
            <a:ext cx="10874959" cy="585216"/>
          </a:xfrm>
          <a:prstGeom prst="roundRect">
            <a:avLst>
              <a:gd name="adj" fmla="val 10938"/>
            </a:avLst>
          </a:prstGeom>
          <a:solidFill>
            <a:srgbClr val="F2F5F9"/>
          </a:solidFill>
          <a:ln w="12700">
            <a:solidFill>
              <a:srgbClr val="F2F5F9"/>
            </a:solidFill>
            <a:prstDash val="solid"/>
          </a:ln>
        </p:spPr>
        <p:txBody>
          <a:bodyPr/>
          <a:lstStyle/>
          <a:p>
            <a:endParaRPr lang="en-US"/>
          </a:p>
        </p:txBody>
      </p:sp>
      <p:sp>
        <p:nvSpPr>
          <p:cNvPr id="13" name="Text 11"/>
          <p:cNvSpPr/>
          <p:nvPr/>
        </p:nvSpPr>
        <p:spPr>
          <a:xfrm>
            <a:off x="896112" y="4480560"/>
            <a:ext cx="10399471" cy="585216"/>
          </a:xfrm>
          <a:prstGeom prst="rect">
            <a:avLst/>
          </a:prstGeom>
          <a:noFill/>
          <a:ln/>
        </p:spPr>
        <p:txBody>
          <a:bodyPr wrap="square" lIns="0" tIns="0" rIns="0" bIns="0" rtlCol="0" anchor="ctr"/>
          <a:lstStyle/>
          <a:p>
            <a:pPr marL="0" indent="0" algn="l">
              <a:lnSpc>
                <a:spcPct val="108000"/>
              </a:lnSpc>
              <a:buNone/>
            </a:pPr>
            <a:r>
              <a:rPr lang="en-US" sz="1350" b="1" dirty="0">
                <a:solidFill>
                  <a:srgbClr val="B32E4C"/>
                </a:solidFill>
                <a:latin typeface="Calibri" pitchFamily="34" charset="0"/>
                <a:ea typeface="Calibri" pitchFamily="34" charset="-122"/>
                <a:cs typeface="Calibri" pitchFamily="34" charset="-120"/>
              </a:rPr>
              <a:t>Keyword search</a:t>
            </a:r>
            <a:r>
              <a:rPr lang="en-US" sz="1350" dirty="0">
                <a:solidFill>
                  <a:srgbClr val="5C6B7A"/>
                </a:solidFill>
                <a:latin typeface="Calibri" pitchFamily="34" charset="0"/>
                <a:ea typeface="Calibri" pitchFamily="34" charset="-122"/>
                <a:cs typeface="Calibri" pitchFamily="34" charset="-120"/>
              </a:rPr>
              <a:t>   matches identical characters · no synonyms · no paraphrase · no other language</a:t>
            </a:r>
            <a:endParaRPr lang="en-US" sz="1350" dirty="0"/>
          </a:p>
        </p:txBody>
      </p:sp>
      <p:sp>
        <p:nvSpPr>
          <p:cNvPr id="14" name="Shape 12"/>
          <p:cNvSpPr/>
          <p:nvPr/>
        </p:nvSpPr>
        <p:spPr>
          <a:xfrm>
            <a:off x="658368" y="5175504"/>
            <a:ext cx="10874959" cy="585216"/>
          </a:xfrm>
          <a:prstGeom prst="roundRect">
            <a:avLst>
              <a:gd name="adj" fmla="val 10938"/>
            </a:avLst>
          </a:prstGeom>
          <a:solidFill>
            <a:srgbClr val="F2F5F9"/>
          </a:solidFill>
          <a:ln w="12700">
            <a:solidFill>
              <a:srgbClr val="F2F5F9"/>
            </a:solidFill>
            <a:prstDash val="solid"/>
          </a:ln>
        </p:spPr>
        <p:txBody>
          <a:bodyPr/>
          <a:lstStyle/>
          <a:p>
            <a:endParaRPr lang="en-US"/>
          </a:p>
        </p:txBody>
      </p:sp>
      <p:sp>
        <p:nvSpPr>
          <p:cNvPr id="15" name="Text 13"/>
          <p:cNvSpPr/>
          <p:nvPr/>
        </p:nvSpPr>
        <p:spPr>
          <a:xfrm>
            <a:off x="896112" y="5175504"/>
            <a:ext cx="10399471" cy="585216"/>
          </a:xfrm>
          <a:prstGeom prst="rect">
            <a:avLst/>
          </a:prstGeom>
          <a:noFill/>
          <a:ln/>
        </p:spPr>
        <p:txBody>
          <a:bodyPr wrap="square" lIns="0" tIns="0" rIns="0" bIns="0" rtlCol="0" anchor="ctr"/>
          <a:lstStyle/>
          <a:p>
            <a:pPr marL="0" indent="0" algn="l">
              <a:lnSpc>
                <a:spcPct val="108000"/>
              </a:lnSpc>
              <a:buNone/>
            </a:pPr>
            <a:r>
              <a:rPr lang="en-US" sz="1350" b="1" dirty="0">
                <a:solidFill>
                  <a:srgbClr val="1B8F62"/>
                </a:solidFill>
                <a:latin typeface="Calibri" pitchFamily="34" charset="0"/>
                <a:ea typeface="Calibri" pitchFamily="34" charset="-122"/>
                <a:cs typeface="Calibri" pitchFamily="34" charset="-120"/>
              </a:rPr>
              <a:t>Semantic search</a:t>
            </a:r>
            <a:r>
              <a:rPr lang="en-US" sz="1350" dirty="0">
                <a:solidFill>
                  <a:srgbClr val="5C6B7A"/>
                </a:solidFill>
                <a:latin typeface="Calibri" pitchFamily="34" charset="0"/>
                <a:ea typeface="Calibri" pitchFamily="34" charset="-122"/>
                <a:cs typeface="Calibri" pitchFamily="34" charset="-120"/>
              </a:rPr>
              <a:t>   matches similar meaning · handles synonyms, paraphrase and often other languages</a:t>
            </a:r>
            <a:endParaRPr lang="en-US" sz="1350" dirty="0"/>
          </a:p>
        </p:txBody>
      </p:sp>
      <p:sp>
        <p:nvSpPr>
          <p:cNvPr id="16" name="Text 14"/>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WORDS 4 AND 5</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Vector store and semantic search</a:t>
            </a:r>
            <a:endParaRPr lang="en-US" sz="3000" dirty="0"/>
          </a:p>
        </p:txBody>
      </p:sp>
      <p:sp>
        <p:nvSpPr>
          <p:cNvPr id="4" name="Shape 2"/>
          <p:cNvSpPr/>
          <p:nvPr/>
        </p:nvSpPr>
        <p:spPr>
          <a:xfrm>
            <a:off x="658368" y="1645920"/>
            <a:ext cx="5254600" cy="1783080"/>
          </a:xfrm>
          <a:prstGeom prst="roundRect">
            <a:avLst>
              <a:gd name="adj" fmla="val 4615"/>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5" name="Text 3"/>
          <p:cNvSpPr/>
          <p:nvPr/>
        </p:nvSpPr>
        <p:spPr>
          <a:xfrm>
            <a:off x="914400" y="1883664"/>
            <a:ext cx="4742536" cy="310896"/>
          </a:xfrm>
          <a:prstGeom prst="rect">
            <a:avLst/>
          </a:prstGeom>
          <a:noFill/>
          <a:ln/>
        </p:spPr>
        <p:txBody>
          <a:bodyPr wrap="square" lIns="0" tIns="0" rIns="0" bIns="0" rtlCol="0" anchor="ctr"/>
          <a:lstStyle/>
          <a:p>
            <a:pPr marL="0" indent="0" algn="l">
              <a:lnSpc>
                <a:spcPct val="102000"/>
              </a:lnSpc>
              <a:buNone/>
            </a:pPr>
            <a:r>
              <a:rPr lang="en-US" sz="1900" b="1" dirty="0">
                <a:solidFill>
                  <a:srgbClr val="13233F"/>
                </a:solidFill>
                <a:latin typeface="Calibri" pitchFamily="34" charset="0"/>
                <a:ea typeface="Calibri" pitchFamily="34" charset="-122"/>
                <a:cs typeface="Calibri" pitchFamily="34" charset="-120"/>
              </a:rPr>
              <a:t>Vector store</a:t>
            </a:r>
            <a:endParaRPr lang="en-US" sz="1900" dirty="0"/>
          </a:p>
        </p:txBody>
      </p:sp>
      <p:sp>
        <p:nvSpPr>
          <p:cNvPr id="6" name="Text 4"/>
          <p:cNvSpPr/>
          <p:nvPr/>
        </p:nvSpPr>
        <p:spPr>
          <a:xfrm>
            <a:off x="914400" y="2249424"/>
            <a:ext cx="4742536" cy="978408"/>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A database that keeps embeddings together with the text they came from, and can search them by similarity.</a:t>
            </a:r>
            <a:endParaRPr lang="en-US" sz="1400" dirty="0"/>
          </a:p>
          <a:p>
            <a:pPr marL="0" indent="0" algn="l">
              <a:lnSpc>
                <a:spcPct val="112000"/>
              </a:lnSpc>
              <a:buNone/>
            </a:pPr>
            <a:endParaRPr lang="en-US" sz="1400" dirty="0"/>
          </a:p>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Ours: the Simple Vector Store node, key user_documents.</a:t>
            </a:r>
            <a:endParaRPr lang="en-US" sz="1400" dirty="0"/>
          </a:p>
        </p:txBody>
      </p:sp>
      <p:sp>
        <p:nvSpPr>
          <p:cNvPr id="7" name="Shape 5"/>
          <p:cNvSpPr/>
          <p:nvPr/>
        </p:nvSpPr>
        <p:spPr>
          <a:xfrm>
            <a:off x="6278728" y="1645920"/>
            <a:ext cx="5254600" cy="1783080"/>
          </a:xfrm>
          <a:prstGeom prst="roundRect">
            <a:avLst>
              <a:gd name="adj" fmla="val 4615"/>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8" name="Text 6"/>
          <p:cNvSpPr/>
          <p:nvPr/>
        </p:nvSpPr>
        <p:spPr>
          <a:xfrm>
            <a:off x="6534760" y="1883664"/>
            <a:ext cx="4742536" cy="310896"/>
          </a:xfrm>
          <a:prstGeom prst="rect">
            <a:avLst/>
          </a:prstGeom>
          <a:noFill/>
          <a:ln/>
        </p:spPr>
        <p:txBody>
          <a:bodyPr wrap="square" lIns="0" tIns="0" rIns="0" bIns="0" rtlCol="0" anchor="ctr"/>
          <a:lstStyle/>
          <a:p>
            <a:pPr marL="0" indent="0" algn="l">
              <a:lnSpc>
                <a:spcPct val="102000"/>
              </a:lnSpc>
              <a:buNone/>
            </a:pPr>
            <a:r>
              <a:rPr lang="en-US" sz="1900" b="1" dirty="0">
                <a:solidFill>
                  <a:srgbClr val="13233F"/>
                </a:solidFill>
                <a:latin typeface="Calibri" pitchFamily="34" charset="0"/>
                <a:ea typeface="Calibri" pitchFamily="34" charset="-122"/>
                <a:cs typeface="Calibri" pitchFamily="34" charset="-120"/>
              </a:rPr>
              <a:t>Semantic search</a:t>
            </a:r>
            <a:endParaRPr lang="en-US" sz="1900" dirty="0"/>
          </a:p>
        </p:txBody>
      </p:sp>
      <p:sp>
        <p:nvSpPr>
          <p:cNvPr id="9" name="Text 7"/>
          <p:cNvSpPr/>
          <p:nvPr/>
        </p:nvSpPr>
        <p:spPr>
          <a:xfrm>
            <a:off x="6534760" y="2249424"/>
            <a:ext cx="4742536" cy="978408"/>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Embed the question, then find the stored chunks whose vectors sit closest to it.</a:t>
            </a:r>
            <a:endParaRPr lang="en-US" sz="1400" dirty="0"/>
          </a:p>
          <a:p>
            <a:pPr marL="0" indent="0" algn="l">
              <a:lnSpc>
                <a:spcPct val="112000"/>
              </a:lnSpc>
              <a:buNone/>
            </a:pPr>
            <a:endParaRPr lang="en-US" sz="1400" dirty="0"/>
          </a:p>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The result is the “right page” we hand to the model.</a:t>
            </a:r>
            <a:endParaRPr lang="en-US" sz="1400" dirty="0"/>
          </a:p>
        </p:txBody>
      </p:sp>
      <p:sp>
        <p:nvSpPr>
          <p:cNvPr id="10" name="Text 8"/>
          <p:cNvSpPr/>
          <p:nvPr/>
        </p:nvSpPr>
        <p:spPr>
          <a:xfrm>
            <a:off x="658368" y="3657600"/>
            <a:ext cx="10874959" cy="365760"/>
          </a:xfrm>
          <a:prstGeom prst="rect">
            <a:avLst/>
          </a:prstGeom>
          <a:noFill/>
          <a:ln/>
        </p:spPr>
        <p:txBody>
          <a:bodyPr wrap="square" lIns="0" tIns="0" rIns="0" bIns="0" rtlCol="0" anchor="ctr"/>
          <a:lstStyle/>
          <a:p>
            <a:pPr marL="0" indent="0" algn="l">
              <a:buNone/>
            </a:pPr>
            <a:r>
              <a:rPr lang="en-US" sz="1700" b="1" dirty="0">
                <a:solidFill>
                  <a:srgbClr val="13233F"/>
                </a:solidFill>
                <a:latin typeface="Calibri" pitchFamily="34" charset="0"/>
                <a:ea typeface="Calibri" pitchFamily="34" charset="-122"/>
                <a:cs typeface="Calibri" pitchFamily="34" charset="-120"/>
              </a:rPr>
              <a:t>The whole pipeline, both phases</a:t>
            </a:r>
            <a:endParaRPr lang="en-US" sz="1700" dirty="0"/>
          </a:p>
        </p:txBody>
      </p:sp>
      <p:sp>
        <p:nvSpPr>
          <p:cNvPr id="11" name="Text 9"/>
          <p:cNvSpPr/>
          <p:nvPr/>
        </p:nvSpPr>
        <p:spPr>
          <a:xfrm>
            <a:off x="658368" y="4069080"/>
            <a:ext cx="5486400" cy="256032"/>
          </a:xfrm>
          <a:prstGeom prst="rect">
            <a:avLst/>
          </a:prstGeom>
          <a:noFill/>
          <a:ln/>
        </p:spPr>
        <p:txBody>
          <a:bodyPr wrap="square" lIns="0" tIns="0" rIns="0" bIns="0" rtlCol="0" anchor="ctr"/>
          <a:lstStyle/>
          <a:p>
            <a:pPr marL="0" indent="0" algn="l">
              <a:buNone/>
            </a:pPr>
            <a:r>
              <a:rPr lang="en-US" sz="1100" b="1" dirty="0">
                <a:solidFill>
                  <a:srgbClr val="2A6FB5"/>
                </a:solidFill>
                <a:latin typeface="Calibri" pitchFamily="34" charset="0"/>
                <a:ea typeface="Calibri" pitchFamily="34" charset="-122"/>
                <a:cs typeface="Calibri" pitchFamily="34" charset="-120"/>
              </a:rPr>
              <a:t>PHASE A — INDEXING · once per document</a:t>
            </a:r>
            <a:endParaRPr lang="en-US" sz="1100" dirty="0"/>
          </a:p>
        </p:txBody>
      </p:sp>
      <p:sp>
        <p:nvSpPr>
          <p:cNvPr id="12" name="Shape 10"/>
          <p:cNvSpPr/>
          <p:nvPr/>
        </p:nvSpPr>
        <p:spPr>
          <a:xfrm>
            <a:off x="658368" y="4343400"/>
            <a:ext cx="2101840" cy="566928"/>
          </a:xfrm>
          <a:prstGeom prst="roundRect">
            <a:avLst>
              <a:gd name="adj" fmla="val 12903"/>
            </a:avLst>
          </a:prstGeom>
          <a:solidFill>
            <a:srgbClr val="13233F"/>
          </a:solidFill>
          <a:ln w="12700">
            <a:solidFill>
              <a:srgbClr val="13233F"/>
            </a:solidFill>
            <a:prstDash val="solid"/>
          </a:ln>
        </p:spPr>
        <p:txBody>
          <a:bodyPr/>
          <a:lstStyle/>
          <a:p>
            <a:endParaRPr lang="en-US"/>
          </a:p>
        </p:txBody>
      </p:sp>
      <p:sp>
        <p:nvSpPr>
          <p:cNvPr id="13" name="Text 11"/>
          <p:cNvSpPr/>
          <p:nvPr/>
        </p:nvSpPr>
        <p:spPr>
          <a:xfrm>
            <a:off x="749808" y="4343400"/>
            <a:ext cx="1918960"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Load</a:t>
            </a:r>
            <a:endParaRPr lang="en-US" sz="1250" dirty="0"/>
          </a:p>
        </p:txBody>
      </p:sp>
      <p:sp>
        <p:nvSpPr>
          <p:cNvPr id="14" name="Shape 12"/>
          <p:cNvSpPr/>
          <p:nvPr/>
        </p:nvSpPr>
        <p:spPr>
          <a:xfrm>
            <a:off x="2851648" y="4343400"/>
            <a:ext cx="2101840" cy="566928"/>
          </a:xfrm>
          <a:prstGeom prst="chevron">
            <a:avLst>
              <a:gd name="adj" fmla="val 12903"/>
            </a:avLst>
          </a:prstGeom>
          <a:solidFill>
            <a:srgbClr val="1B3054"/>
          </a:solidFill>
          <a:ln w="12700">
            <a:solidFill>
              <a:srgbClr val="1B3054"/>
            </a:solidFill>
            <a:prstDash val="solid"/>
          </a:ln>
        </p:spPr>
        <p:txBody>
          <a:bodyPr/>
          <a:lstStyle/>
          <a:p>
            <a:endParaRPr lang="en-US"/>
          </a:p>
        </p:txBody>
      </p:sp>
      <p:sp>
        <p:nvSpPr>
          <p:cNvPr id="15" name="Text 13"/>
          <p:cNvSpPr/>
          <p:nvPr/>
        </p:nvSpPr>
        <p:spPr>
          <a:xfrm>
            <a:off x="3125968" y="4343400"/>
            <a:ext cx="1717792"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Extract</a:t>
            </a:r>
            <a:endParaRPr lang="en-US" sz="1250" dirty="0"/>
          </a:p>
        </p:txBody>
      </p:sp>
      <p:sp>
        <p:nvSpPr>
          <p:cNvPr id="16" name="Shape 14"/>
          <p:cNvSpPr/>
          <p:nvPr/>
        </p:nvSpPr>
        <p:spPr>
          <a:xfrm>
            <a:off x="5044928" y="4343400"/>
            <a:ext cx="2101840" cy="566928"/>
          </a:xfrm>
          <a:prstGeom prst="chevron">
            <a:avLst>
              <a:gd name="adj" fmla="val 12903"/>
            </a:avLst>
          </a:prstGeom>
          <a:solidFill>
            <a:srgbClr val="23406E"/>
          </a:solidFill>
          <a:ln w="12700">
            <a:solidFill>
              <a:srgbClr val="23406E"/>
            </a:solidFill>
            <a:prstDash val="solid"/>
          </a:ln>
        </p:spPr>
        <p:txBody>
          <a:bodyPr/>
          <a:lstStyle/>
          <a:p>
            <a:endParaRPr lang="en-US"/>
          </a:p>
        </p:txBody>
      </p:sp>
      <p:sp>
        <p:nvSpPr>
          <p:cNvPr id="17" name="Text 15"/>
          <p:cNvSpPr/>
          <p:nvPr/>
        </p:nvSpPr>
        <p:spPr>
          <a:xfrm>
            <a:off x="5319248" y="4343400"/>
            <a:ext cx="1717792"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Split</a:t>
            </a:r>
            <a:endParaRPr lang="en-US" sz="1250" dirty="0"/>
          </a:p>
        </p:txBody>
      </p:sp>
      <p:sp>
        <p:nvSpPr>
          <p:cNvPr id="18" name="Shape 16"/>
          <p:cNvSpPr/>
          <p:nvPr/>
        </p:nvSpPr>
        <p:spPr>
          <a:xfrm>
            <a:off x="7238208" y="4343400"/>
            <a:ext cx="2101840" cy="566928"/>
          </a:xfrm>
          <a:prstGeom prst="chevron">
            <a:avLst>
              <a:gd name="adj" fmla="val 12903"/>
            </a:avLst>
          </a:prstGeom>
          <a:solidFill>
            <a:srgbClr val="2A5089"/>
          </a:solidFill>
          <a:ln w="12700">
            <a:solidFill>
              <a:srgbClr val="2A5089"/>
            </a:solidFill>
            <a:prstDash val="solid"/>
          </a:ln>
        </p:spPr>
        <p:txBody>
          <a:bodyPr/>
          <a:lstStyle/>
          <a:p>
            <a:endParaRPr lang="en-US"/>
          </a:p>
        </p:txBody>
      </p:sp>
      <p:sp>
        <p:nvSpPr>
          <p:cNvPr id="19" name="Text 17"/>
          <p:cNvSpPr/>
          <p:nvPr/>
        </p:nvSpPr>
        <p:spPr>
          <a:xfrm>
            <a:off x="7512528" y="4343400"/>
            <a:ext cx="1717792"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Embed</a:t>
            </a:r>
            <a:endParaRPr lang="en-US" sz="1250" dirty="0"/>
          </a:p>
        </p:txBody>
      </p:sp>
      <p:sp>
        <p:nvSpPr>
          <p:cNvPr id="20" name="Shape 18"/>
          <p:cNvSpPr/>
          <p:nvPr/>
        </p:nvSpPr>
        <p:spPr>
          <a:xfrm>
            <a:off x="9431487" y="4343400"/>
            <a:ext cx="2101840" cy="566928"/>
          </a:xfrm>
          <a:prstGeom prst="chevron">
            <a:avLst>
              <a:gd name="adj" fmla="val 12903"/>
            </a:avLst>
          </a:prstGeom>
          <a:solidFill>
            <a:srgbClr val="32619F"/>
          </a:solidFill>
          <a:ln w="12700">
            <a:solidFill>
              <a:srgbClr val="32619F"/>
            </a:solidFill>
            <a:prstDash val="solid"/>
          </a:ln>
        </p:spPr>
        <p:txBody>
          <a:bodyPr/>
          <a:lstStyle/>
          <a:p>
            <a:endParaRPr lang="en-US"/>
          </a:p>
        </p:txBody>
      </p:sp>
      <p:sp>
        <p:nvSpPr>
          <p:cNvPr id="21" name="Text 19"/>
          <p:cNvSpPr/>
          <p:nvPr/>
        </p:nvSpPr>
        <p:spPr>
          <a:xfrm>
            <a:off x="9705807" y="4343400"/>
            <a:ext cx="1717792"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Store</a:t>
            </a:r>
            <a:endParaRPr lang="en-US" sz="1250" dirty="0"/>
          </a:p>
        </p:txBody>
      </p:sp>
      <p:sp>
        <p:nvSpPr>
          <p:cNvPr id="22" name="Text 20"/>
          <p:cNvSpPr/>
          <p:nvPr/>
        </p:nvSpPr>
        <p:spPr>
          <a:xfrm>
            <a:off x="658368" y="5120640"/>
            <a:ext cx="5486400" cy="256032"/>
          </a:xfrm>
          <a:prstGeom prst="rect">
            <a:avLst/>
          </a:prstGeom>
          <a:noFill/>
          <a:ln/>
        </p:spPr>
        <p:txBody>
          <a:bodyPr wrap="square" lIns="0" tIns="0" rIns="0" bIns="0" rtlCol="0" anchor="ctr"/>
          <a:lstStyle/>
          <a:p>
            <a:pPr marL="0" indent="0" algn="l">
              <a:buNone/>
            </a:pPr>
            <a:r>
              <a:rPr lang="en-US" sz="1100" b="1" dirty="0">
                <a:solidFill>
                  <a:srgbClr val="B32E4C"/>
                </a:solidFill>
                <a:latin typeface="Calibri" pitchFamily="34" charset="0"/>
                <a:ea typeface="Calibri" pitchFamily="34" charset="-122"/>
                <a:cs typeface="Calibri" pitchFamily="34" charset="-120"/>
              </a:rPr>
              <a:t>PHASE B — ANSWERING · every question</a:t>
            </a:r>
            <a:endParaRPr lang="en-US" sz="1100" dirty="0"/>
          </a:p>
        </p:txBody>
      </p:sp>
      <p:sp>
        <p:nvSpPr>
          <p:cNvPr id="23" name="Shape 21"/>
          <p:cNvSpPr/>
          <p:nvPr/>
        </p:nvSpPr>
        <p:spPr>
          <a:xfrm>
            <a:off x="658368" y="5394960"/>
            <a:ext cx="2650160" cy="566928"/>
          </a:xfrm>
          <a:prstGeom prst="roundRect">
            <a:avLst>
              <a:gd name="adj" fmla="val 12903"/>
            </a:avLst>
          </a:prstGeom>
          <a:solidFill>
            <a:srgbClr val="8C2340"/>
          </a:solidFill>
          <a:ln w="12700">
            <a:solidFill>
              <a:srgbClr val="8C2340"/>
            </a:solidFill>
            <a:prstDash val="solid"/>
          </a:ln>
        </p:spPr>
        <p:txBody>
          <a:bodyPr/>
          <a:lstStyle/>
          <a:p>
            <a:endParaRPr lang="en-US"/>
          </a:p>
        </p:txBody>
      </p:sp>
      <p:sp>
        <p:nvSpPr>
          <p:cNvPr id="24" name="Text 22"/>
          <p:cNvSpPr/>
          <p:nvPr/>
        </p:nvSpPr>
        <p:spPr>
          <a:xfrm>
            <a:off x="749808" y="5394960"/>
            <a:ext cx="2467280"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Embed question</a:t>
            </a:r>
            <a:endParaRPr lang="en-US" sz="1250" dirty="0"/>
          </a:p>
        </p:txBody>
      </p:sp>
      <p:sp>
        <p:nvSpPr>
          <p:cNvPr id="25" name="Shape 23"/>
          <p:cNvSpPr/>
          <p:nvPr/>
        </p:nvSpPr>
        <p:spPr>
          <a:xfrm>
            <a:off x="3399968" y="5394960"/>
            <a:ext cx="2650160" cy="566928"/>
          </a:xfrm>
          <a:prstGeom prst="chevron">
            <a:avLst>
              <a:gd name="adj" fmla="val 12903"/>
            </a:avLst>
          </a:prstGeom>
          <a:solidFill>
            <a:srgbClr val="A32B4B"/>
          </a:solidFill>
          <a:ln w="12700">
            <a:solidFill>
              <a:srgbClr val="A32B4B"/>
            </a:solidFill>
            <a:prstDash val="solid"/>
          </a:ln>
        </p:spPr>
        <p:txBody>
          <a:bodyPr/>
          <a:lstStyle/>
          <a:p>
            <a:endParaRPr lang="en-US"/>
          </a:p>
        </p:txBody>
      </p:sp>
      <p:sp>
        <p:nvSpPr>
          <p:cNvPr id="26" name="Text 24"/>
          <p:cNvSpPr/>
          <p:nvPr/>
        </p:nvSpPr>
        <p:spPr>
          <a:xfrm>
            <a:off x="3674288" y="5394960"/>
            <a:ext cx="2266112"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Search store</a:t>
            </a:r>
            <a:endParaRPr lang="en-US" sz="1250" dirty="0"/>
          </a:p>
        </p:txBody>
      </p:sp>
      <p:sp>
        <p:nvSpPr>
          <p:cNvPr id="27" name="Shape 25"/>
          <p:cNvSpPr/>
          <p:nvPr/>
        </p:nvSpPr>
        <p:spPr>
          <a:xfrm>
            <a:off x="6141568" y="5394960"/>
            <a:ext cx="2650160" cy="566928"/>
          </a:xfrm>
          <a:prstGeom prst="chevron">
            <a:avLst>
              <a:gd name="adj" fmla="val 12903"/>
            </a:avLst>
          </a:prstGeom>
          <a:solidFill>
            <a:srgbClr val="B93357"/>
          </a:solidFill>
          <a:ln w="12700">
            <a:solidFill>
              <a:srgbClr val="B93357"/>
            </a:solidFill>
            <a:prstDash val="solid"/>
          </a:ln>
        </p:spPr>
        <p:txBody>
          <a:bodyPr/>
          <a:lstStyle/>
          <a:p>
            <a:endParaRPr lang="en-US"/>
          </a:p>
        </p:txBody>
      </p:sp>
      <p:sp>
        <p:nvSpPr>
          <p:cNvPr id="28" name="Text 26"/>
          <p:cNvSpPr/>
          <p:nvPr/>
        </p:nvSpPr>
        <p:spPr>
          <a:xfrm>
            <a:off x="6415888" y="5394960"/>
            <a:ext cx="2266112"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Build prompt</a:t>
            </a:r>
            <a:endParaRPr lang="en-US" sz="1250" dirty="0"/>
          </a:p>
        </p:txBody>
      </p:sp>
      <p:sp>
        <p:nvSpPr>
          <p:cNvPr id="29" name="Shape 27"/>
          <p:cNvSpPr/>
          <p:nvPr/>
        </p:nvSpPr>
        <p:spPr>
          <a:xfrm>
            <a:off x="8883167" y="5394960"/>
            <a:ext cx="2650160" cy="566928"/>
          </a:xfrm>
          <a:prstGeom prst="chevron">
            <a:avLst>
              <a:gd name="adj" fmla="val 12903"/>
            </a:avLst>
          </a:prstGeom>
          <a:solidFill>
            <a:srgbClr val="CF3D64"/>
          </a:solidFill>
          <a:ln w="12700">
            <a:solidFill>
              <a:srgbClr val="CF3D64"/>
            </a:solidFill>
            <a:prstDash val="solid"/>
          </a:ln>
        </p:spPr>
        <p:txBody>
          <a:bodyPr/>
          <a:lstStyle/>
          <a:p>
            <a:endParaRPr lang="en-US"/>
          </a:p>
        </p:txBody>
      </p:sp>
      <p:sp>
        <p:nvSpPr>
          <p:cNvPr id="30" name="Text 28"/>
          <p:cNvSpPr/>
          <p:nvPr/>
        </p:nvSpPr>
        <p:spPr>
          <a:xfrm>
            <a:off x="9157487" y="5394960"/>
            <a:ext cx="2266112"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Generate</a:t>
            </a:r>
            <a:endParaRPr lang="en-US" sz="1250" dirty="0"/>
          </a:p>
        </p:txBody>
      </p:sp>
      <p:sp>
        <p:nvSpPr>
          <p:cNvPr id="31" name="Text 29"/>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754880" cy="4754880"/>
          </a:xfrm>
          <a:prstGeom prst="ellipse">
            <a:avLst/>
          </a:prstGeom>
          <a:solidFill>
            <a:srgbClr val="1B2E4F"/>
          </a:solidFill>
          <a:ln w="12700">
            <a:solidFill>
              <a:srgbClr val="1B2E4F"/>
            </a:solidFill>
            <a:prstDash val="solid"/>
          </a:ln>
        </p:spPr>
        <p:txBody>
          <a:bodyPr/>
          <a:lstStyle/>
          <a:p>
            <a:endParaRPr lang="en-US"/>
          </a:p>
        </p:txBody>
      </p:sp>
      <p:sp>
        <p:nvSpPr>
          <p:cNvPr id="3" name="Text 1"/>
          <p:cNvSpPr/>
          <p:nvPr/>
        </p:nvSpPr>
        <p:spPr>
          <a:xfrm>
            <a:off x="658368" y="2240280"/>
            <a:ext cx="8778240" cy="310896"/>
          </a:xfrm>
          <a:prstGeom prst="rect">
            <a:avLst/>
          </a:prstGeom>
          <a:noFill/>
          <a:ln/>
        </p:spPr>
        <p:txBody>
          <a:bodyPr wrap="square" lIns="0" tIns="0" rIns="0" bIns="0" rtlCol="0" anchor="ctr"/>
          <a:lstStyle/>
          <a:p>
            <a:pPr marL="0" indent="0" algn="l">
              <a:buNone/>
            </a:pPr>
            <a:r>
              <a:rPr lang="en-US" sz="1200" b="1" kern="0" spc="240" dirty="0">
                <a:solidFill>
                  <a:srgbClr val="E04E6B"/>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658368" y="2651760"/>
            <a:ext cx="8778240" cy="86868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Today’s build</a:t>
            </a:r>
            <a:endParaRPr lang="en-US" sz="3800" dirty="0"/>
          </a:p>
        </p:txBody>
      </p:sp>
      <p:sp>
        <p:nvSpPr>
          <p:cNvPr id="5" name="Text 3"/>
          <p:cNvSpPr/>
          <p:nvPr/>
        </p:nvSpPr>
        <p:spPr>
          <a:xfrm>
            <a:off x="658368" y="3611880"/>
            <a:ext cx="8229600" cy="640080"/>
          </a:xfrm>
          <a:prstGeom prst="rect">
            <a:avLst/>
          </a:prstGeom>
          <a:noFill/>
          <a:ln/>
        </p:spPr>
        <p:txBody>
          <a:bodyPr wrap="square" lIns="0" tIns="0" rIns="0" bIns="0" rtlCol="0" anchor="t"/>
          <a:lstStyle/>
          <a:p>
            <a:pPr marL="0" indent="0" algn="l">
              <a:buNone/>
            </a:pPr>
            <a:r>
              <a:rPr lang="en-US" sz="1600" dirty="0">
                <a:solidFill>
                  <a:srgbClr val="C3D0E2"/>
                </a:solidFill>
                <a:latin typeface="Calibri" pitchFamily="34" charset="0"/>
                <a:ea typeface="Calibri" pitchFamily="34" charset="-122"/>
                <a:cs typeface="Calibri" pitchFamily="34" charset="-120"/>
              </a:rPr>
              <a:t>Google Cloud, the Drive API, OAuth, and the first two nodes of the n8n workflow.</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THE WORKFLOW</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Where n8n fits</a:t>
            </a:r>
            <a:endParaRPr lang="en-US" sz="3000" dirty="0"/>
          </a:p>
        </p:txBody>
      </p:sp>
      <p:sp>
        <p:nvSpPr>
          <p:cNvPr id="4" name="Text 2"/>
          <p:cNvSpPr/>
          <p:nvPr/>
        </p:nvSpPr>
        <p:spPr>
          <a:xfrm>
            <a:off x="658368" y="1188720"/>
            <a:ext cx="10874959" cy="310896"/>
          </a:xfrm>
          <a:prstGeom prst="rect">
            <a:avLst/>
          </a:prstGeom>
          <a:noFill/>
          <a:ln/>
        </p:spPr>
        <p:txBody>
          <a:bodyPr wrap="square" lIns="0" tIns="0" rIns="0" bIns="0" rtlCol="0" anchor="ctr"/>
          <a:lstStyle/>
          <a:p>
            <a:pPr marL="0" indent="0" algn="l">
              <a:buNone/>
            </a:pPr>
            <a:r>
              <a:rPr lang="en-US" sz="1400" dirty="0">
                <a:solidFill>
                  <a:srgbClr val="5C6B7A"/>
                </a:solidFill>
                <a:latin typeface="Calibri" pitchFamily="34" charset="0"/>
                <a:ea typeface="Calibri" pitchFamily="34" charset="-122"/>
                <a:cs typeface="Calibri" pitchFamily="34" charset="-120"/>
              </a:rPr>
              <a:t>n8n is a workflow tool: each node does one job, then hands its output to the next. No code required.</a:t>
            </a:r>
            <a:endParaRPr lang="en-US" sz="1400" dirty="0"/>
          </a:p>
        </p:txBody>
      </p:sp>
      <p:sp>
        <p:nvSpPr>
          <p:cNvPr id="5" name="Shape 3"/>
          <p:cNvSpPr/>
          <p:nvPr/>
        </p:nvSpPr>
        <p:spPr>
          <a:xfrm>
            <a:off x="2409517" y="1517904"/>
            <a:ext cx="7372661" cy="3703320"/>
          </a:xfrm>
          <a:prstGeom prst="roundRect">
            <a:avLst>
              <a:gd name="adj" fmla="val 1481"/>
            </a:avLst>
          </a:prstGeom>
          <a:solidFill>
            <a:srgbClr val="F2F5F9"/>
          </a:solidFill>
          <a:ln w="12700">
            <a:solidFill>
              <a:srgbClr val="E4EBF3"/>
            </a:solidFill>
            <a:prstDash val="solid"/>
          </a:ln>
        </p:spPr>
        <p:txBody>
          <a:bodyPr/>
          <a:lstStyle/>
          <a:p>
            <a:endParaRPr lang="en-US"/>
          </a:p>
        </p:txBody>
      </p:sp>
      <p:pic>
        <p:nvPicPr>
          <p:cNvPr id="6" name="Image 0" descr="/tmp/build/img/image10.png"/>
          <p:cNvPicPr>
            <a:picLocks noChangeAspect="1"/>
          </p:cNvPicPr>
          <p:nvPr/>
        </p:nvPicPr>
        <p:blipFill>
          <a:blip r:embed="rId3"/>
          <a:stretch>
            <a:fillRect/>
          </a:stretch>
        </p:blipFill>
        <p:spPr>
          <a:xfrm>
            <a:off x="2500957" y="1609344"/>
            <a:ext cx="7189781" cy="3520440"/>
          </a:xfrm>
          <a:prstGeom prst="rect">
            <a:avLst/>
          </a:prstGeom>
        </p:spPr>
      </p:pic>
      <p:sp>
        <p:nvSpPr>
          <p:cNvPr id="7" name="Shape 4"/>
          <p:cNvSpPr/>
          <p:nvPr/>
        </p:nvSpPr>
        <p:spPr>
          <a:xfrm>
            <a:off x="658368" y="5358384"/>
            <a:ext cx="5272888" cy="658368"/>
          </a:xfrm>
          <a:prstGeom prst="roundRect">
            <a:avLst>
              <a:gd name="adj" fmla="val 11111"/>
            </a:avLst>
          </a:prstGeom>
          <a:solidFill>
            <a:srgbClr val="E7F5EE"/>
          </a:solidFill>
          <a:ln w="12700">
            <a:solidFill>
              <a:srgbClr val="E7F5EE"/>
            </a:solidFill>
            <a:prstDash val="solid"/>
          </a:ln>
        </p:spPr>
        <p:txBody>
          <a:bodyPr/>
          <a:lstStyle/>
          <a:p>
            <a:endParaRPr lang="en-US"/>
          </a:p>
        </p:txBody>
      </p:sp>
      <p:sp>
        <p:nvSpPr>
          <p:cNvPr id="8" name="Text 5"/>
          <p:cNvSpPr/>
          <p:nvPr/>
        </p:nvSpPr>
        <p:spPr>
          <a:xfrm>
            <a:off x="886968" y="5358384"/>
            <a:ext cx="4815688" cy="658368"/>
          </a:xfrm>
          <a:prstGeom prst="rect">
            <a:avLst/>
          </a:prstGeom>
          <a:noFill/>
          <a:ln/>
        </p:spPr>
        <p:txBody>
          <a:bodyPr wrap="square" lIns="0" tIns="0" rIns="0" bIns="0" rtlCol="0" anchor="ctr"/>
          <a:lstStyle/>
          <a:p>
            <a:pPr marL="0" indent="0" algn="l">
              <a:buNone/>
            </a:pPr>
            <a:r>
              <a:rPr lang="en-US" sz="1350" b="1" dirty="0">
                <a:solidFill>
                  <a:srgbClr val="1B8F62"/>
                </a:solidFill>
                <a:latin typeface="Calibri" pitchFamily="34" charset="0"/>
                <a:ea typeface="Calibri" pitchFamily="34" charset="-122"/>
                <a:cs typeface="Calibri" pitchFamily="34" charset="-120"/>
              </a:rPr>
              <a:t>Lesson 1 · the first two nodes</a:t>
            </a:r>
            <a:endParaRPr lang="en-US" sz="1350" dirty="0"/>
          </a:p>
        </p:txBody>
      </p:sp>
      <p:sp>
        <p:nvSpPr>
          <p:cNvPr id="9" name="Shape 6"/>
          <p:cNvSpPr/>
          <p:nvPr/>
        </p:nvSpPr>
        <p:spPr>
          <a:xfrm>
            <a:off x="6260440" y="5358384"/>
            <a:ext cx="5272888" cy="658368"/>
          </a:xfrm>
          <a:prstGeom prst="roundRect">
            <a:avLst>
              <a:gd name="adj" fmla="val 11111"/>
            </a:avLst>
          </a:prstGeom>
          <a:solidFill>
            <a:srgbClr val="F2F5F9"/>
          </a:solidFill>
          <a:ln w="12700">
            <a:solidFill>
              <a:srgbClr val="F2F5F9"/>
            </a:solidFill>
            <a:prstDash val="solid"/>
          </a:ln>
        </p:spPr>
        <p:txBody>
          <a:bodyPr/>
          <a:lstStyle/>
          <a:p>
            <a:endParaRPr lang="en-US"/>
          </a:p>
        </p:txBody>
      </p:sp>
      <p:sp>
        <p:nvSpPr>
          <p:cNvPr id="10" name="Text 7"/>
          <p:cNvSpPr/>
          <p:nvPr/>
        </p:nvSpPr>
        <p:spPr>
          <a:xfrm>
            <a:off x="6489040" y="5358384"/>
            <a:ext cx="4815688" cy="658368"/>
          </a:xfrm>
          <a:prstGeom prst="rect">
            <a:avLst/>
          </a:prstGeom>
          <a:noFill/>
          <a:ln/>
        </p:spPr>
        <p:txBody>
          <a:bodyPr wrap="square" lIns="0" tIns="0" rIns="0" bIns="0" rtlCol="0" anchor="ctr"/>
          <a:lstStyle/>
          <a:p>
            <a:pPr marL="0" indent="0" algn="l">
              <a:buNone/>
            </a:pPr>
            <a:r>
              <a:rPr lang="en-US" sz="1350" b="1" dirty="0">
                <a:solidFill>
                  <a:srgbClr val="5C6B7A"/>
                </a:solidFill>
                <a:latin typeface="Calibri" pitchFamily="34" charset="0"/>
                <a:ea typeface="Calibri" pitchFamily="34" charset="-122"/>
                <a:cs typeface="Calibri" pitchFamily="34" charset="-120"/>
              </a:rPr>
              <a:t>Lessons 2–4 · extract, split, embed, store, retrieve</a:t>
            </a:r>
            <a:endParaRPr lang="en-US" sz="1350" dirty="0"/>
          </a:p>
        </p:txBody>
      </p:sp>
      <p:sp>
        <p:nvSpPr>
          <p:cNvPr id="11" name="Text 8"/>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TWO SETUP WORDS</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API and OAuth</a:t>
            </a:r>
            <a:endParaRPr lang="en-US" sz="3000" dirty="0"/>
          </a:p>
        </p:txBody>
      </p:sp>
      <p:sp>
        <p:nvSpPr>
          <p:cNvPr id="4" name="Shape 2"/>
          <p:cNvSpPr/>
          <p:nvPr/>
        </p:nvSpPr>
        <p:spPr>
          <a:xfrm>
            <a:off x="658368" y="1554480"/>
            <a:ext cx="5254600" cy="2057400"/>
          </a:xfrm>
          <a:prstGeom prst="roundRect">
            <a:avLst>
              <a:gd name="adj" fmla="val 4000"/>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5" name="Text 3"/>
          <p:cNvSpPr/>
          <p:nvPr/>
        </p:nvSpPr>
        <p:spPr>
          <a:xfrm>
            <a:off x="914400" y="1792224"/>
            <a:ext cx="4742536" cy="310896"/>
          </a:xfrm>
          <a:prstGeom prst="rect">
            <a:avLst/>
          </a:prstGeom>
          <a:noFill/>
          <a:ln/>
        </p:spPr>
        <p:txBody>
          <a:bodyPr wrap="square" lIns="0" tIns="0" rIns="0" bIns="0" rtlCol="0" anchor="ctr"/>
          <a:lstStyle/>
          <a:p>
            <a:pPr marL="0" indent="0" algn="l">
              <a:lnSpc>
                <a:spcPct val="102000"/>
              </a:lnSpc>
              <a:buNone/>
            </a:pPr>
            <a:r>
              <a:rPr lang="en-US" sz="2000" b="1" dirty="0">
                <a:solidFill>
                  <a:srgbClr val="13233F"/>
                </a:solidFill>
                <a:latin typeface="Calibri" pitchFamily="34" charset="0"/>
                <a:ea typeface="Calibri" pitchFamily="34" charset="-122"/>
                <a:cs typeface="Calibri" pitchFamily="34" charset="-120"/>
              </a:rPr>
              <a:t>API</a:t>
            </a:r>
            <a:endParaRPr lang="en-US" sz="2000" dirty="0"/>
          </a:p>
        </p:txBody>
      </p:sp>
      <p:sp>
        <p:nvSpPr>
          <p:cNvPr id="6" name="Text 4"/>
          <p:cNvSpPr/>
          <p:nvPr/>
        </p:nvSpPr>
        <p:spPr>
          <a:xfrm>
            <a:off x="914400" y="2157984"/>
            <a:ext cx="4742536" cy="1252728"/>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An agreed way for two programs to talk. Google Drive publishes one: “search for a file named X”, “download the file whose ID is Y”.</a:t>
            </a:r>
            <a:endParaRPr lang="en-US" sz="1400" dirty="0"/>
          </a:p>
          <a:p>
            <a:pPr marL="0" indent="0" algn="l">
              <a:lnSpc>
                <a:spcPct val="112000"/>
              </a:lnSpc>
              <a:buNone/>
            </a:pPr>
            <a:endParaRPr lang="en-US" sz="1400" dirty="0"/>
          </a:p>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Enabling the Drive API opens that door for your project.</a:t>
            </a:r>
            <a:endParaRPr lang="en-US" sz="1400" dirty="0"/>
          </a:p>
        </p:txBody>
      </p:sp>
      <p:sp>
        <p:nvSpPr>
          <p:cNvPr id="7" name="Shape 5"/>
          <p:cNvSpPr/>
          <p:nvPr/>
        </p:nvSpPr>
        <p:spPr>
          <a:xfrm>
            <a:off x="6278728" y="1554480"/>
            <a:ext cx="5254600" cy="2057400"/>
          </a:xfrm>
          <a:prstGeom prst="roundRect">
            <a:avLst>
              <a:gd name="adj" fmla="val 4000"/>
            </a:avLst>
          </a:prstGeom>
          <a:solidFill>
            <a:srgbClr val="F2F5F9"/>
          </a:solidFill>
          <a:ln w="12700">
            <a:solidFill>
              <a:srgbClr val="F2F5F9"/>
            </a:solidFill>
            <a:prstDash val="solid"/>
          </a:ln>
          <a:effectLst>
            <a:outerShdw blurRad="127000" dist="25400" dir="5400000" algn="bl" rotWithShape="0">
              <a:srgbClr val="8496AC">
                <a:alpha val="18000"/>
              </a:srgbClr>
            </a:outerShdw>
          </a:effectLst>
        </p:spPr>
        <p:txBody>
          <a:bodyPr/>
          <a:lstStyle/>
          <a:p>
            <a:endParaRPr lang="en-US"/>
          </a:p>
        </p:txBody>
      </p:sp>
      <p:sp>
        <p:nvSpPr>
          <p:cNvPr id="8" name="Text 6"/>
          <p:cNvSpPr/>
          <p:nvPr/>
        </p:nvSpPr>
        <p:spPr>
          <a:xfrm>
            <a:off x="6534760" y="1792224"/>
            <a:ext cx="4742536" cy="310896"/>
          </a:xfrm>
          <a:prstGeom prst="rect">
            <a:avLst/>
          </a:prstGeom>
          <a:noFill/>
          <a:ln/>
        </p:spPr>
        <p:txBody>
          <a:bodyPr wrap="square" lIns="0" tIns="0" rIns="0" bIns="0" rtlCol="0" anchor="ctr"/>
          <a:lstStyle/>
          <a:p>
            <a:pPr marL="0" indent="0" algn="l">
              <a:lnSpc>
                <a:spcPct val="102000"/>
              </a:lnSpc>
              <a:buNone/>
            </a:pPr>
            <a:r>
              <a:rPr lang="en-US" sz="2000" b="1" dirty="0">
                <a:solidFill>
                  <a:srgbClr val="13233F"/>
                </a:solidFill>
                <a:latin typeface="Calibri" pitchFamily="34" charset="0"/>
                <a:ea typeface="Calibri" pitchFamily="34" charset="-122"/>
                <a:cs typeface="Calibri" pitchFamily="34" charset="-120"/>
              </a:rPr>
              <a:t>OAuth</a:t>
            </a:r>
            <a:endParaRPr lang="en-US" sz="2000" dirty="0"/>
          </a:p>
        </p:txBody>
      </p:sp>
      <p:sp>
        <p:nvSpPr>
          <p:cNvPr id="9" name="Text 7"/>
          <p:cNvSpPr/>
          <p:nvPr/>
        </p:nvSpPr>
        <p:spPr>
          <a:xfrm>
            <a:off x="6534760" y="2157984"/>
            <a:ext cx="4742536" cy="1252728"/>
          </a:xfrm>
          <a:prstGeom prst="rect">
            <a:avLst/>
          </a:prstGeom>
          <a:noFill/>
          <a:ln/>
        </p:spPr>
        <p:txBody>
          <a:bodyPr wrap="square" lIns="0" tIns="0" rIns="0" bIns="0" rtlCol="0" anchor="t"/>
          <a:lstStyle/>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A way to grant an application permission to act for you — without giving it your password.</a:t>
            </a:r>
            <a:endParaRPr lang="en-US" sz="1400" dirty="0"/>
          </a:p>
          <a:p>
            <a:pPr marL="0" indent="0" algn="l">
              <a:lnSpc>
                <a:spcPct val="112000"/>
              </a:lnSpc>
              <a:buNone/>
            </a:pPr>
            <a:endParaRPr lang="en-US" sz="1400" dirty="0"/>
          </a:p>
          <a:p>
            <a:pPr marL="0" indent="0" algn="l">
              <a:lnSpc>
                <a:spcPct val="112000"/>
              </a:lnSpc>
              <a:buNone/>
            </a:pPr>
            <a:r>
              <a:rPr lang="en-US" sz="1400" dirty="0">
                <a:solidFill>
                  <a:srgbClr val="5C6B7A"/>
                </a:solidFill>
                <a:latin typeface="Calibri" pitchFamily="34" charset="0"/>
                <a:ea typeface="Calibri" pitchFamily="34" charset="-122"/>
                <a:cs typeface="Calibri" pitchFamily="34" charset="-120"/>
              </a:rPr>
              <a:t>n8n receives a token that you can revoke at any time.</a:t>
            </a:r>
            <a:endParaRPr lang="en-US" sz="1400" dirty="0"/>
          </a:p>
        </p:txBody>
      </p:sp>
      <p:sp>
        <p:nvSpPr>
          <p:cNvPr id="10" name="Shape 8"/>
          <p:cNvSpPr/>
          <p:nvPr/>
        </p:nvSpPr>
        <p:spPr>
          <a:xfrm>
            <a:off x="658368" y="3767328"/>
            <a:ext cx="10874959" cy="1078992"/>
          </a:xfrm>
          <a:prstGeom prst="roundRect">
            <a:avLst>
              <a:gd name="adj" fmla="val 6780"/>
            </a:avLst>
          </a:prstGeom>
          <a:solidFill>
            <a:srgbClr val="EAF1FA"/>
          </a:solidFill>
          <a:ln w="12700">
            <a:solidFill>
              <a:srgbClr val="EAF1FA"/>
            </a:solidFill>
            <a:prstDash val="solid"/>
          </a:ln>
        </p:spPr>
        <p:txBody>
          <a:bodyPr/>
          <a:lstStyle/>
          <a:p>
            <a:endParaRPr lang="en-US"/>
          </a:p>
        </p:txBody>
      </p:sp>
      <p:sp>
        <p:nvSpPr>
          <p:cNvPr id="11" name="Text 9"/>
          <p:cNvSpPr/>
          <p:nvPr/>
        </p:nvSpPr>
        <p:spPr>
          <a:xfrm>
            <a:off x="932688" y="3913632"/>
            <a:ext cx="10326319" cy="219456"/>
          </a:xfrm>
          <a:prstGeom prst="rect">
            <a:avLst/>
          </a:prstGeom>
          <a:noFill/>
          <a:ln/>
        </p:spPr>
        <p:txBody>
          <a:bodyPr wrap="square" lIns="0" tIns="0" rIns="0" bIns="0" rtlCol="0" anchor="ctr"/>
          <a:lstStyle/>
          <a:p>
            <a:pPr marL="0" indent="0" algn="l">
              <a:buNone/>
            </a:pPr>
            <a:r>
              <a:rPr lang="en-US" sz="1050" b="1" kern="0" spc="160" dirty="0">
                <a:solidFill>
                  <a:srgbClr val="2A6FB5"/>
                </a:solidFill>
                <a:latin typeface="Calibri" pitchFamily="34" charset="0"/>
                <a:ea typeface="Calibri" pitchFamily="34" charset="-122"/>
                <a:cs typeface="Calibri" pitchFamily="34" charset="-120"/>
              </a:rPr>
              <a:t>THE HOTEL KEY CARD</a:t>
            </a:r>
            <a:endParaRPr lang="en-US" sz="1050" dirty="0"/>
          </a:p>
        </p:txBody>
      </p:sp>
      <p:sp>
        <p:nvSpPr>
          <p:cNvPr id="12" name="Text 10"/>
          <p:cNvSpPr/>
          <p:nvPr/>
        </p:nvSpPr>
        <p:spPr>
          <a:xfrm>
            <a:off x="932688" y="4169664"/>
            <a:ext cx="10326319" cy="512064"/>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You are never handed the master key, and you never give the front desk your house keys. You get a card that opens one room, works for a limited time, and can be cancelled. OAuth is that card.</a:t>
            </a:r>
            <a:endParaRPr lang="en-US" sz="1400" dirty="0"/>
          </a:p>
        </p:txBody>
      </p:sp>
      <p:sp>
        <p:nvSpPr>
          <p:cNvPr id="13" name="Shape 11"/>
          <p:cNvSpPr/>
          <p:nvPr/>
        </p:nvSpPr>
        <p:spPr>
          <a:xfrm>
            <a:off x="658368" y="4983480"/>
            <a:ext cx="10874959" cy="1051560"/>
          </a:xfrm>
          <a:prstGeom prst="roundRect">
            <a:avLst>
              <a:gd name="adj" fmla="val 6957"/>
            </a:avLst>
          </a:prstGeom>
          <a:solidFill>
            <a:srgbClr val="FBEBEE"/>
          </a:solidFill>
          <a:ln w="12700">
            <a:solidFill>
              <a:srgbClr val="FBEBEE"/>
            </a:solidFill>
            <a:prstDash val="solid"/>
          </a:ln>
        </p:spPr>
        <p:txBody>
          <a:bodyPr/>
          <a:lstStyle/>
          <a:p>
            <a:endParaRPr lang="en-US"/>
          </a:p>
        </p:txBody>
      </p:sp>
      <p:sp>
        <p:nvSpPr>
          <p:cNvPr id="14" name="Text 12"/>
          <p:cNvSpPr/>
          <p:nvPr/>
        </p:nvSpPr>
        <p:spPr>
          <a:xfrm>
            <a:off x="932688" y="5129784"/>
            <a:ext cx="10326319" cy="219456"/>
          </a:xfrm>
          <a:prstGeom prst="rect">
            <a:avLst/>
          </a:prstGeom>
          <a:noFill/>
          <a:ln/>
        </p:spPr>
        <p:txBody>
          <a:bodyPr wrap="square" lIns="0" tIns="0" rIns="0" bIns="0" rtlCol="0" anchor="ctr"/>
          <a:lstStyle/>
          <a:p>
            <a:pPr marL="0" indent="0" algn="l">
              <a:buNone/>
            </a:pPr>
            <a:r>
              <a:rPr lang="en-US" sz="1050" b="1" kern="0" spc="160" dirty="0">
                <a:solidFill>
                  <a:srgbClr val="B32E4C"/>
                </a:solidFill>
                <a:latin typeface="Calibri" pitchFamily="34" charset="0"/>
                <a:ea typeface="Calibri" pitchFamily="34" charset="-122"/>
                <a:cs typeface="Calibri" pitchFamily="34" charset="-120"/>
              </a:rPr>
              <a:t>SECURITY RULE</a:t>
            </a:r>
            <a:endParaRPr lang="en-US" sz="1050" dirty="0"/>
          </a:p>
        </p:txBody>
      </p:sp>
      <p:sp>
        <p:nvSpPr>
          <p:cNvPr id="15" name="Text 13"/>
          <p:cNvSpPr/>
          <p:nvPr/>
        </p:nvSpPr>
        <p:spPr>
          <a:xfrm>
            <a:off x="932688" y="5385816"/>
            <a:ext cx="10326319" cy="48463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A Client Secret is a password. Never show one in class, in an assignment, in a screenshot or on GitHub. If one leaks, delete that OAuth client and create a new one — it takes two minutes.</a:t>
            </a:r>
            <a:endParaRPr lang="en-US" sz="1400" dirty="0"/>
          </a:p>
        </p:txBody>
      </p:sp>
      <p:sp>
        <p:nvSpPr>
          <p:cNvPr id="16" name="Text 14"/>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
        <p:nvSpPr>
          <p:cNvPr id="17" name="Text 15"/>
          <p:cNvSpPr/>
          <p:nvPr/>
        </p:nvSpPr>
        <p:spPr>
          <a:xfrm>
            <a:off x="10893247" y="6291072"/>
            <a:ext cx="640080" cy="256032"/>
          </a:xfrm>
          <a:prstGeom prst="rect">
            <a:avLst/>
          </a:prstGeom>
          <a:noFill/>
          <a:ln/>
        </p:spPr>
        <p:txBody>
          <a:bodyPr wrap="square" lIns="0" tIns="0" rIns="0" bIns="0" rtlCol="0" anchor="ctr"/>
          <a:lstStyle/>
          <a:p>
            <a:pPr marL="0" indent="0" algn="r">
              <a:buNone/>
            </a:pPr>
            <a:r>
              <a:rPr lang="en-US" sz="1000" b="1" dirty="0">
                <a:solidFill>
                  <a:srgbClr val="6B7A8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TODAY’S GOAL</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What “finished” looks like</a:t>
            </a:r>
            <a:endParaRPr lang="en-US" sz="3000" dirty="0"/>
          </a:p>
        </p:txBody>
      </p:sp>
      <p:sp>
        <p:nvSpPr>
          <p:cNvPr id="4" name="Shape 2"/>
          <p:cNvSpPr/>
          <p:nvPr/>
        </p:nvSpPr>
        <p:spPr>
          <a:xfrm>
            <a:off x="658368" y="1645920"/>
            <a:ext cx="10874959" cy="496062"/>
          </a:xfrm>
          <a:prstGeom prst="roundRect">
            <a:avLst>
              <a:gd name="adj" fmla="val 12903"/>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59536" y="1720215"/>
            <a:ext cx="347472" cy="347472"/>
          </a:xfrm>
          <a:prstGeom prst="ellipse">
            <a:avLst/>
          </a:prstGeom>
          <a:solidFill>
            <a:srgbClr val="1B8F62"/>
          </a:solidFill>
          <a:ln w="12700">
            <a:solidFill>
              <a:srgbClr val="1B8F62"/>
            </a:solidFill>
            <a:prstDash val="solid"/>
          </a:ln>
        </p:spPr>
        <p:txBody>
          <a:bodyPr/>
          <a:lstStyle/>
          <a:p>
            <a:endParaRPr lang="en-US"/>
          </a:p>
        </p:txBody>
      </p:sp>
      <p:sp>
        <p:nvSpPr>
          <p:cNvPr id="6" name="Text 4"/>
          <p:cNvSpPr/>
          <p:nvPr/>
        </p:nvSpPr>
        <p:spPr>
          <a:xfrm>
            <a:off x="859536" y="1720215"/>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645920"/>
            <a:ext cx="9942271" cy="496062"/>
          </a:xfrm>
          <a:prstGeom prst="rect">
            <a:avLst/>
          </a:prstGeom>
          <a:noFill/>
          <a:ln/>
        </p:spPr>
        <p:txBody>
          <a:bodyPr wrap="square" lIns="0" tIns="0" rIns="0" bIns="0" rtlCol="0" anchor="ctr"/>
          <a:lstStyle/>
          <a:p>
            <a:pPr marL="0" indent="0" algn="l">
              <a:lnSpc>
                <a:spcPct val="108000"/>
              </a:lnSpc>
              <a:buNone/>
            </a:pPr>
            <a:r>
              <a:rPr lang="en-US" sz="1400" b="1" dirty="0">
                <a:solidFill>
                  <a:srgbClr val="13233F"/>
                </a:solidFill>
                <a:latin typeface="Calibri" pitchFamily="34" charset="0"/>
                <a:ea typeface="Calibri" pitchFamily="34" charset="-122"/>
                <a:cs typeface="Calibri" pitchFamily="34" charset="-120"/>
              </a:rPr>
              <a:t>Enable the Google Drive API</a:t>
            </a:r>
            <a:r>
              <a:rPr lang="en-US" sz="1400" dirty="0">
                <a:solidFill>
                  <a:srgbClr val="5C6B7A"/>
                </a:solidFill>
                <a:latin typeface="Calibri" pitchFamily="34" charset="0"/>
                <a:ea typeface="Calibri" pitchFamily="34" charset="-122"/>
                <a:cs typeface="Calibri" pitchFamily="34" charset="-120"/>
              </a:rPr>
              <a:t>   inside one Google Cloud project</a:t>
            </a:r>
            <a:endParaRPr lang="en-US" sz="1400" dirty="0"/>
          </a:p>
        </p:txBody>
      </p:sp>
      <p:sp>
        <p:nvSpPr>
          <p:cNvPr id="8" name="Shape 6"/>
          <p:cNvSpPr/>
          <p:nvPr/>
        </p:nvSpPr>
        <p:spPr>
          <a:xfrm>
            <a:off x="658368" y="2242566"/>
            <a:ext cx="10874959" cy="496062"/>
          </a:xfrm>
          <a:prstGeom prst="roundRect">
            <a:avLst>
              <a:gd name="adj" fmla="val 12903"/>
            </a:avLst>
          </a:prstGeom>
          <a:solidFill>
            <a:srgbClr val="F2F5F9"/>
          </a:solidFill>
          <a:ln w="12700">
            <a:solidFill>
              <a:srgbClr val="F2F5F9"/>
            </a:solidFill>
            <a:prstDash val="solid"/>
          </a:ln>
        </p:spPr>
        <p:txBody>
          <a:bodyPr/>
          <a:lstStyle/>
          <a:p>
            <a:endParaRPr lang="en-US"/>
          </a:p>
        </p:txBody>
      </p:sp>
      <p:sp>
        <p:nvSpPr>
          <p:cNvPr id="9" name="Shape 7"/>
          <p:cNvSpPr/>
          <p:nvPr/>
        </p:nvSpPr>
        <p:spPr>
          <a:xfrm>
            <a:off x="859536" y="2316861"/>
            <a:ext cx="347472" cy="347472"/>
          </a:xfrm>
          <a:prstGeom prst="ellipse">
            <a:avLst/>
          </a:prstGeom>
          <a:solidFill>
            <a:srgbClr val="1B8F62"/>
          </a:solidFill>
          <a:ln w="12700">
            <a:solidFill>
              <a:srgbClr val="1B8F62"/>
            </a:solidFill>
            <a:prstDash val="solid"/>
          </a:ln>
        </p:spPr>
        <p:txBody>
          <a:bodyPr/>
          <a:lstStyle/>
          <a:p>
            <a:endParaRPr lang="en-US"/>
          </a:p>
        </p:txBody>
      </p:sp>
      <p:sp>
        <p:nvSpPr>
          <p:cNvPr id="10" name="Text 8"/>
          <p:cNvSpPr/>
          <p:nvPr/>
        </p:nvSpPr>
        <p:spPr>
          <a:xfrm>
            <a:off x="859536" y="2316861"/>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353312" y="2242566"/>
            <a:ext cx="9942271" cy="496062"/>
          </a:xfrm>
          <a:prstGeom prst="rect">
            <a:avLst/>
          </a:prstGeom>
          <a:noFill/>
          <a:ln/>
        </p:spPr>
        <p:txBody>
          <a:bodyPr wrap="square" lIns="0" tIns="0" rIns="0" bIns="0" rtlCol="0" anchor="ctr"/>
          <a:lstStyle/>
          <a:p>
            <a:pPr marL="0" indent="0" algn="l">
              <a:lnSpc>
                <a:spcPct val="108000"/>
              </a:lnSpc>
              <a:buNone/>
            </a:pPr>
            <a:r>
              <a:rPr lang="en-US" sz="1400" b="1" dirty="0">
                <a:solidFill>
                  <a:srgbClr val="13233F"/>
                </a:solidFill>
                <a:latin typeface="Calibri" pitchFamily="34" charset="0"/>
                <a:ea typeface="Calibri" pitchFamily="34" charset="-122"/>
                <a:cs typeface="Calibri" pitchFamily="34" charset="-120"/>
              </a:rPr>
              <a:t>Complete OAuth sign-in</a:t>
            </a:r>
            <a:r>
              <a:rPr lang="en-US" sz="1400" dirty="0">
                <a:solidFill>
                  <a:srgbClr val="5C6B7A"/>
                </a:solidFill>
                <a:latin typeface="Calibri" pitchFamily="34" charset="0"/>
                <a:ea typeface="Calibri" pitchFamily="34" charset="-122"/>
                <a:cs typeface="Calibri" pitchFamily="34" charset="-120"/>
              </a:rPr>
              <a:t>   with your own account as a test user</a:t>
            </a:r>
            <a:endParaRPr lang="en-US" sz="1400" dirty="0"/>
          </a:p>
        </p:txBody>
      </p:sp>
      <p:sp>
        <p:nvSpPr>
          <p:cNvPr id="12" name="Shape 10"/>
          <p:cNvSpPr/>
          <p:nvPr/>
        </p:nvSpPr>
        <p:spPr>
          <a:xfrm>
            <a:off x="658368" y="2839212"/>
            <a:ext cx="10874959" cy="496062"/>
          </a:xfrm>
          <a:prstGeom prst="roundRect">
            <a:avLst>
              <a:gd name="adj" fmla="val 12903"/>
            </a:avLst>
          </a:prstGeom>
          <a:solidFill>
            <a:srgbClr val="F2F5F9"/>
          </a:solidFill>
          <a:ln w="12700">
            <a:solidFill>
              <a:srgbClr val="F2F5F9"/>
            </a:solidFill>
            <a:prstDash val="solid"/>
          </a:ln>
        </p:spPr>
        <p:txBody>
          <a:bodyPr/>
          <a:lstStyle/>
          <a:p>
            <a:endParaRPr lang="en-US"/>
          </a:p>
        </p:txBody>
      </p:sp>
      <p:sp>
        <p:nvSpPr>
          <p:cNvPr id="13" name="Shape 11"/>
          <p:cNvSpPr/>
          <p:nvPr/>
        </p:nvSpPr>
        <p:spPr>
          <a:xfrm>
            <a:off x="859536" y="2913507"/>
            <a:ext cx="347472" cy="347472"/>
          </a:xfrm>
          <a:prstGeom prst="ellipse">
            <a:avLst/>
          </a:prstGeom>
          <a:solidFill>
            <a:srgbClr val="1B8F62"/>
          </a:solidFill>
          <a:ln w="12700">
            <a:solidFill>
              <a:srgbClr val="1B8F62"/>
            </a:solidFill>
            <a:prstDash val="solid"/>
          </a:ln>
        </p:spPr>
        <p:txBody>
          <a:bodyPr/>
          <a:lstStyle/>
          <a:p>
            <a:endParaRPr lang="en-US"/>
          </a:p>
        </p:txBody>
      </p:sp>
      <p:sp>
        <p:nvSpPr>
          <p:cNvPr id="14" name="Text 12"/>
          <p:cNvSpPr/>
          <p:nvPr/>
        </p:nvSpPr>
        <p:spPr>
          <a:xfrm>
            <a:off x="859536" y="2913507"/>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353312" y="2839212"/>
            <a:ext cx="9942271" cy="496062"/>
          </a:xfrm>
          <a:prstGeom prst="rect">
            <a:avLst/>
          </a:prstGeom>
          <a:noFill/>
          <a:ln/>
        </p:spPr>
        <p:txBody>
          <a:bodyPr wrap="square" lIns="0" tIns="0" rIns="0" bIns="0" rtlCol="0" anchor="ctr"/>
          <a:lstStyle/>
          <a:p>
            <a:pPr marL="0" indent="0" algn="l">
              <a:lnSpc>
                <a:spcPct val="108000"/>
              </a:lnSpc>
              <a:buNone/>
            </a:pPr>
            <a:r>
              <a:rPr lang="en-US" sz="1400" b="1" dirty="0">
                <a:solidFill>
                  <a:srgbClr val="13233F"/>
                </a:solidFill>
                <a:latin typeface="Calibri" pitchFamily="34" charset="0"/>
                <a:ea typeface="Calibri" pitchFamily="34" charset="-122"/>
                <a:cs typeface="Calibri" pitchFamily="34" charset="-120"/>
              </a:rPr>
              <a:t>Import the workflow</a:t>
            </a:r>
            <a:r>
              <a:rPr lang="en-US" sz="1400" dirty="0">
                <a:solidFill>
                  <a:srgbClr val="5C6B7A"/>
                </a:solidFill>
                <a:latin typeface="Calibri" pitchFamily="34" charset="0"/>
                <a:ea typeface="Calibri" pitchFamily="34" charset="-122"/>
                <a:cs typeface="Calibri" pitchFamily="34" charset="-120"/>
              </a:rPr>
              <a:t>   and point the node at your credential</a:t>
            </a:r>
            <a:endParaRPr lang="en-US" sz="1400" dirty="0"/>
          </a:p>
        </p:txBody>
      </p:sp>
      <p:sp>
        <p:nvSpPr>
          <p:cNvPr id="16" name="Shape 14"/>
          <p:cNvSpPr/>
          <p:nvPr/>
        </p:nvSpPr>
        <p:spPr>
          <a:xfrm>
            <a:off x="658368" y="3435858"/>
            <a:ext cx="10874959" cy="496062"/>
          </a:xfrm>
          <a:prstGeom prst="roundRect">
            <a:avLst>
              <a:gd name="adj" fmla="val 12903"/>
            </a:avLst>
          </a:prstGeom>
          <a:solidFill>
            <a:srgbClr val="F2F5F9"/>
          </a:solidFill>
          <a:ln w="12700">
            <a:solidFill>
              <a:srgbClr val="F2F5F9"/>
            </a:solidFill>
            <a:prstDash val="solid"/>
          </a:ln>
        </p:spPr>
        <p:txBody>
          <a:bodyPr/>
          <a:lstStyle/>
          <a:p>
            <a:endParaRPr lang="en-US"/>
          </a:p>
        </p:txBody>
      </p:sp>
      <p:sp>
        <p:nvSpPr>
          <p:cNvPr id="17" name="Shape 15"/>
          <p:cNvSpPr/>
          <p:nvPr/>
        </p:nvSpPr>
        <p:spPr>
          <a:xfrm>
            <a:off x="859536" y="3510153"/>
            <a:ext cx="347472" cy="347472"/>
          </a:xfrm>
          <a:prstGeom prst="ellipse">
            <a:avLst/>
          </a:prstGeom>
          <a:solidFill>
            <a:srgbClr val="1B8F62"/>
          </a:solidFill>
          <a:ln w="12700">
            <a:solidFill>
              <a:srgbClr val="1B8F62"/>
            </a:solidFill>
            <a:prstDash val="solid"/>
          </a:ln>
        </p:spPr>
        <p:txBody>
          <a:bodyPr/>
          <a:lstStyle/>
          <a:p>
            <a:endParaRPr lang="en-US"/>
          </a:p>
        </p:txBody>
      </p:sp>
      <p:sp>
        <p:nvSpPr>
          <p:cNvPr id="18" name="Text 16"/>
          <p:cNvSpPr/>
          <p:nvPr/>
        </p:nvSpPr>
        <p:spPr>
          <a:xfrm>
            <a:off x="859536" y="3510153"/>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353312" y="3435858"/>
            <a:ext cx="9942271" cy="496062"/>
          </a:xfrm>
          <a:prstGeom prst="rect">
            <a:avLst/>
          </a:prstGeom>
          <a:noFill/>
          <a:ln/>
        </p:spPr>
        <p:txBody>
          <a:bodyPr wrap="square" lIns="0" tIns="0" rIns="0" bIns="0" rtlCol="0" anchor="ctr"/>
          <a:lstStyle/>
          <a:p>
            <a:pPr marL="0" indent="0" algn="l">
              <a:lnSpc>
                <a:spcPct val="108000"/>
              </a:lnSpc>
              <a:buNone/>
            </a:pPr>
            <a:r>
              <a:rPr lang="en-US" sz="1400" b="1" dirty="0">
                <a:solidFill>
                  <a:srgbClr val="13233F"/>
                </a:solidFill>
                <a:latin typeface="Calibri" pitchFamily="34" charset="0"/>
                <a:ea typeface="Calibri" pitchFamily="34" charset="-122"/>
                <a:cs typeface="Calibri" pitchFamily="34" charset="-120"/>
              </a:rPr>
              <a:t>Search for University_AI_Course.txt</a:t>
            </a:r>
            <a:r>
              <a:rPr lang="en-US" sz="1400" dirty="0">
                <a:solidFill>
                  <a:srgbClr val="5C6B7A"/>
                </a:solidFill>
                <a:latin typeface="Calibri" pitchFamily="34" charset="0"/>
                <a:ea typeface="Calibri" pitchFamily="34" charset="-122"/>
                <a:cs typeface="Calibri" pitchFamily="34" charset="-120"/>
              </a:rPr>
              <a:t>   and read back its name and file ID</a:t>
            </a:r>
            <a:endParaRPr lang="en-US" sz="1400" dirty="0"/>
          </a:p>
        </p:txBody>
      </p:sp>
      <p:sp>
        <p:nvSpPr>
          <p:cNvPr id="20" name="Shape 18"/>
          <p:cNvSpPr/>
          <p:nvPr/>
        </p:nvSpPr>
        <p:spPr>
          <a:xfrm>
            <a:off x="658368" y="4160520"/>
            <a:ext cx="10874959" cy="1737360"/>
          </a:xfrm>
          <a:prstGeom prst="roundRect">
            <a:avLst>
              <a:gd name="adj" fmla="val 5263"/>
            </a:avLst>
          </a:prstGeom>
          <a:solidFill>
            <a:srgbClr val="13233F"/>
          </a:solidFill>
          <a:ln w="12700">
            <a:solidFill>
              <a:srgbClr val="13233F"/>
            </a:solidFill>
            <a:prstDash val="solid"/>
          </a:ln>
        </p:spPr>
        <p:txBody>
          <a:bodyPr/>
          <a:lstStyle/>
          <a:p>
            <a:endParaRPr lang="en-US"/>
          </a:p>
        </p:txBody>
      </p:sp>
      <p:sp>
        <p:nvSpPr>
          <p:cNvPr id="21" name="Text 19"/>
          <p:cNvSpPr/>
          <p:nvPr/>
        </p:nvSpPr>
        <p:spPr>
          <a:xfrm>
            <a:off x="978408" y="4315968"/>
            <a:ext cx="10234879" cy="274320"/>
          </a:xfrm>
          <a:prstGeom prst="rect">
            <a:avLst/>
          </a:prstGeom>
          <a:noFill/>
          <a:ln/>
        </p:spPr>
        <p:txBody>
          <a:bodyPr wrap="square" lIns="0" tIns="0" rIns="0" bIns="0" rtlCol="0" anchor="ctr"/>
          <a:lstStyle/>
          <a:p>
            <a:pPr marL="0" indent="0" algn="l">
              <a:buNone/>
            </a:pPr>
            <a:r>
              <a:rPr lang="en-US" sz="1050" b="1" kern="0" spc="160" dirty="0">
                <a:solidFill>
                  <a:srgbClr val="8FA3BF"/>
                </a:solidFill>
                <a:latin typeface="Calibri" pitchFamily="34" charset="0"/>
                <a:ea typeface="Calibri" pitchFamily="34" charset="-122"/>
                <a:cs typeface="Calibri" pitchFamily="34" charset="-120"/>
              </a:rPr>
              <a:t>SUCCESS LOOKS LIKE THIS</a:t>
            </a:r>
            <a:endParaRPr lang="en-US" sz="1050" dirty="0"/>
          </a:p>
        </p:txBody>
      </p:sp>
      <p:sp>
        <p:nvSpPr>
          <p:cNvPr id="22" name="Text 20"/>
          <p:cNvSpPr/>
          <p:nvPr/>
        </p:nvSpPr>
        <p:spPr>
          <a:xfrm>
            <a:off x="978408" y="4663440"/>
            <a:ext cx="10234879" cy="457200"/>
          </a:xfrm>
          <a:prstGeom prst="rect">
            <a:avLst/>
          </a:prstGeom>
          <a:noFill/>
          <a:ln/>
        </p:spPr>
        <p:txBody>
          <a:bodyPr wrap="square" lIns="0" tIns="0" rIns="0" bIns="0" rtlCol="0" anchor="ctr"/>
          <a:lstStyle/>
          <a:p>
            <a:pPr marL="0" indent="0" algn="l">
              <a:buNone/>
            </a:pPr>
            <a:r>
              <a:rPr lang="en-US" sz="1400" dirty="0">
                <a:solidFill>
                  <a:srgbClr val="9FE3C4"/>
                </a:solidFill>
                <a:latin typeface="Courier New" pitchFamily="34" charset="0"/>
                <a:ea typeface="Courier New" pitchFamily="34" charset="-122"/>
                <a:cs typeface="Courier New" pitchFamily="34" charset="-120"/>
              </a:rPr>
              <a:t>[ { "id": "1Q1RuGYHSrAGb1Q4i44MuI3naqI9dfkKn", "name": "University_AI_Course.txt" } ]</a:t>
            </a:r>
            <a:endParaRPr lang="en-US" sz="1400" dirty="0"/>
          </a:p>
        </p:txBody>
      </p:sp>
      <p:sp>
        <p:nvSpPr>
          <p:cNvPr id="23" name="Text 21"/>
          <p:cNvSpPr/>
          <p:nvPr/>
        </p:nvSpPr>
        <p:spPr>
          <a:xfrm>
            <a:off x="978408" y="5193792"/>
            <a:ext cx="10234879" cy="457200"/>
          </a:xfrm>
          <a:prstGeom prst="rect">
            <a:avLst/>
          </a:prstGeom>
          <a:noFill/>
          <a:ln/>
        </p:spPr>
        <p:txBody>
          <a:bodyPr wrap="square" lIns="0" tIns="0" rIns="0" bIns="0" rtlCol="0" anchor="ctr"/>
          <a:lstStyle/>
          <a:p>
            <a:pPr marL="0" indent="0" algn="l">
              <a:buNone/>
            </a:pPr>
            <a:r>
              <a:rPr lang="en-US" sz="1300" dirty="0">
                <a:solidFill>
                  <a:srgbClr val="C3D0E2"/>
                </a:solidFill>
                <a:latin typeface="Calibri" pitchFamily="34" charset="0"/>
                <a:ea typeface="Calibri" pitchFamily="34" charset="-122"/>
                <a:cs typeface="Calibri" pitchFamily="34" charset="-120"/>
              </a:rPr>
              <a:t>Your ID will be different — every file in Drive has its own. What matters is that a real name and a real ID come back.</a:t>
            </a:r>
            <a:endParaRPr lang="en-US" sz="1300" dirty="0"/>
          </a:p>
        </p:txBody>
      </p:sp>
      <p:sp>
        <p:nvSpPr>
          <p:cNvPr id="24" name="Text 22"/>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THE LAB</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Nine steps, about 40 minutes</a:t>
            </a:r>
            <a:endParaRPr lang="en-US" sz="3000" dirty="0"/>
          </a:p>
        </p:txBody>
      </p:sp>
      <p:sp>
        <p:nvSpPr>
          <p:cNvPr id="4" name="Shape 2"/>
          <p:cNvSpPr/>
          <p:nvPr/>
        </p:nvSpPr>
        <p:spPr>
          <a:xfrm>
            <a:off x="658368" y="1572768"/>
            <a:ext cx="3442106" cy="1170432"/>
          </a:xfrm>
          <a:prstGeom prst="roundRect">
            <a:avLst>
              <a:gd name="adj" fmla="val 7031"/>
            </a:avLst>
          </a:prstGeom>
          <a:solidFill>
            <a:srgbClr val="F2F5F9"/>
          </a:solidFill>
          <a:ln w="12700">
            <a:solidFill>
              <a:srgbClr val="F2F5F9"/>
            </a:solidFill>
            <a:prstDash val="solid"/>
          </a:ln>
        </p:spPr>
        <p:txBody>
          <a:bodyPr/>
          <a:lstStyle/>
          <a:p>
            <a:endParaRPr lang="en-US"/>
          </a:p>
        </p:txBody>
      </p:sp>
      <p:sp>
        <p:nvSpPr>
          <p:cNvPr id="5" name="Text 3"/>
          <p:cNvSpPr/>
          <p:nvPr/>
        </p:nvSpPr>
        <p:spPr>
          <a:xfrm>
            <a:off x="914400" y="1810512"/>
            <a:ext cx="2930042" cy="310896"/>
          </a:xfrm>
          <a:prstGeom prst="rect">
            <a:avLst/>
          </a:prstGeom>
          <a:noFill/>
          <a:ln/>
        </p:spPr>
        <p:txBody>
          <a:bodyPr wrap="square" lIns="0" tIns="0" rIns="0" bIns="0" rtlCol="0" anchor="t"/>
          <a:lstStyle/>
          <a:p>
            <a:pPr marL="0" indent="0" algn="l">
              <a:lnSpc>
                <a:spcPct val="102000"/>
              </a:lnSpc>
              <a:buNone/>
            </a:pPr>
            <a:r>
              <a:rPr lang="en-US" sz="1500" b="1" dirty="0">
                <a:solidFill>
                  <a:srgbClr val="13233F"/>
                </a:solidFill>
                <a:latin typeface="Calibri" pitchFamily="34" charset="0"/>
                <a:ea typeface="Calibri" pitchFamily="34" charset="-122"/>
                <a:cs typeface="Calibri" pitchFamily="34" charset="-120"/>
              </a:rPr>
              <a:t>Upload the file</a:t>
            </a:r>
            <a:endParaRPr lang="en-US" sz="1500" dirty="0"/>
          </a:p>
        </p:txBody>
      </p:sp>
      <p:sp>
        <p:nvSpPr>
          <p:cNvPr id="6" name="Text 4"/>
          <p:cNvSpPr/>
          <p:nvPr/>
        </p:nvSpPr>
        <p:spPr>
          <a:xfrm>
            <a:off x="914400" y="2176272"/>
            <a:ext cx="2930042" cy="365760"/>
          </a:xfrm>
          <a:prstGeom prst="rect">
            <a:avLst/>
          </a:prstGeom>
          <a:noFill/>
          <a:ln/>
        </p:spPr>
        <p:txBody>
          <a:bodyPr wrap="square" lIns="0" tIns="0" rIns="0" bIns="0" rtlCol="0" anchor="t"/>
          <a:lstStyle/>
          <a:p>
            <a:pPr marL="0" indent="0" algn="l">
              <a:lnSpc>
                <a:spcPct val="112000"/>
              </a:lnSpc>
              <a:buNone/>
            </a:pPr>
            <a:r>
              <a:rPr lang="en-US" sz="1200" dirty="0">
                <a:solidFill>
                  <a:srgbClr val="5C6B7A"/>
                </a:solidFill>
                <a:latin typeface="Calibri" pitchFamily="34" charset="0"/>
                <a:ea typeface="Calibri" pitchFamily="34" charset="-122"/>
                <a:cs typeface="Calibri" pitchFamily="34" charset="-120"/>
              </a:rPr>
              <a:t>Google Drive</a:t>
            </a:r>
            <a:endParaRPr lang="en-US" sz="1200" dirty="0"/>
          </a:p>
        </p:txBody>
      </p:sp>
      <p:sp>
        <p:nvSpPr>
          <p:cNvPr id="7" name="Shape 5"/>
          <p:cNvSpPr/>
          <p:nvPr/>
        </p:nvSpPr>
        <p:spPr>
          <a:xfrm>
            <a:off x="3478682" y="1773936"/>
            <a:ext cx="365760" cy="365760"/>
          </a:xfrm>
          <a:prstGeom prst="ellipse">
            <a:avLst/>
          </a:prstGeom>
          <a:solidFill>
            <a:srgbClr val="13233F"/>
          </a:solidFill>
          <a:ln w="12700">
            <a:solidFill>
              <a:srgbClr val="13233F"/>
            </a:solidFill>
            <a:prstDash val="solid"/>
          </a:ln>
        </p:spPr>
        <p:txBody>
          <a:bodyPr/>
          <a:lstStyle/>
          <a:p>
            <a:endParaRPr lang="en-US"/>
          </a:p>
        </p:txBody>
      </p:sp>
      <p:sp>
        <p:nvSpPr>
          <p:cNvPr id="8" name="Text 6"/>
          <p:cNvSpPr/>
          <p:nvPr/>
        </p:nvSpPr>
        <p:spPr>
          <a:xfrm>
            <a:off x="3478682" y="17739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Shape 7"/>
          <p:cNvSpPr/>
          <p:nvPr/>
        </p:nvSpPr>
        <p:spPr>
          <a:xfrm>
            <a:off x="4374794" y="1572768"/>
            <a:ext cx="3442106" cy="1170432"/>
          </a:xfrm>
          <a:prstGeom prst="roundRect">
            <a:avLst>
              <a:gd name="adj" fmla="val 7031"/>
            </a:avLst>
          </a:prstGeom>
          <a:solidFill>
            <a:srgbClr val="F2F5F9"/>
          </a:solidFill>
          <a:ln w="12700">
            <a:solidFill>
              <a:srgbClr val="F2F5F9"/>
            </a:solidFill>
            <a:prstDash val="solid"/>
          </a:ln>
        </p:spPr>
        <p:txBody>
          <a:bodyPr/>
          <a:lstStyle/>
          <a:p>
            <a:endParaRPr lang="en-US"/>
          </a:p>
        </p:txBody>
      </p:sp>
      <p:sp>
        <p:nvSpPr>
          <p:cNvPr id="10" name="Text 8"/>
          <p:cNvSpPr/>
          <p:nvPr/>
        </p:nvSpPr>
        <p:spPr>
          <a:xfrm>
            <a:off x="4630826" y="1810512"/>
            <a:ext cx="2930042" cy="310896"/>
          </a:xfrm>
          <a:prstGeom prst="rect">
            <a:avLst/>
          </a:prstGeom>
          <a:noFill/>
          <a:ln/>
        </p:spPr>
        <p:txBody>
          <a:bodyPr wrap="square" lIns="0" tIns="0" rIns="0" bIns="0" rtlCol="0" anchor="t"/>
          <a:lstStyle/>
          <a:p>
            <a:pPr marL="0" indent="0" algn="l">
              <a:lnSpc>
                <a:spcPct val="102000"/>
              </a:lnSpc>
              <a:buNone/>
            </a:pPr>
            <a:r>
              <a:rPr lang="en-US" sz="1500" b="1" dirty="0">
                <a:solidFill>
                  <a:srgbClr val="13233F"/>
                </a:solidFill>
                <a:latin typeface="Calibri" pitchFamily="34" charset="0"/>
                <a:ea typeface="Calibri" pitchFamily="34" charset="-122"/>
                <a:cs typeface="Calibri" pitchFamily="34" charset="-120"/>
              </a:rPr>
              <a:t>Create the project</a:t>
            </a:r>
            <a:endParaRPr lang="en-US" sz="1500" dirty="0"/>
          </a:p>
        </p:txBody>
      </p:sp>
      <p:sp>
        <p:nvSpPr>
          <p:cNvPr id="11" name="Text 9"/>
          <p:cNvSpPr/>
          <p:nvPr/>
        </p:nvSpPr>
        <p:spPr>
          <a:xfrm>
            <a:off x="4630826" y="2176272"/>
            <a:ext cx="2930042" cy="365760"/>
          </a:xfrm>
          <a:prstGeom prst="rect">
            <a:avLst/>
          </a:prstGeom>
          <a:noFill/>
          <a:ln/>
        </p:spPr>
        <p:txBody>
          <a:bodyPr wrap="square" lIns="0" tIns="0" rIns="0" bIns="0" rtlCol="0" anchor="t"/>
          <a:lstStyle/>
          <a:p>
            <a:pPr marL="0" indent="0" algn="l">
              <a:lnSpc>
                <a:spcPct val="112000"/>
              </a:lnSpc>
              <a:buNone/>
            </a:pPr>
            <a:r>
              <a:rPr lang="en-US" sz="1200" dirty="0">
                <a:solidFill>
                  <a:srgbClr val="5C6B7A"/>
                </a:solidFill>
                <a:latin typeface="Calibri" pitchFamily="34" charset="0"/>
                <a:ea typeface="Calibri" pitchFamily="34" charset="-122"/>
                <a:cs typeface="Calibri" pitchFamily="34" charset="-120"/>
              </a:rPr>
              <a:t>Google Cloud</a:t>
            </a:r>
            <a:endParaRPr lang="en-US" sz="1200" dirty="0"/>
          </a:p>
        </p:txBody>
      </p:sp>
      <p:sp>
        <p:nvSpPr>
          <p:cNvPr id="12" name="Shape 10"/>
          <p:cNvSpPr/>
          <p:nvPr/>
        </p:nvSpPr>
        <p:spPr>
          <a:xfrm>
            <a:off x="7195109" y="1773936"/>
            <a:ext cx="365760" cy="365760"/>
          </a:xfrm>
          <a:prstGeom prst="ellipse">
            <a:avLst/>
          </a:prstGeom>
          <a:solidFill>
            <a:srgbClr val="13233F"/>
          </a:solidFill>
          <a:ln w="12700">
            <a:solidFill>
              <a:srgbClr val="13233F"/>
            </a:solidFill>
            <a:prstDash val="solid"/>
          </a:ln>
        </p:spPr>
        <p:txBody>
          <a:bodyPr/>
          <a:lstStyle/>
          <a:p>
            <a:endParaRPr lang="en-US"/>
          </a:p>
        </p:txBody>
      </p:sp>
      <p:sp>
        <p:nvSpPr>
          <p:cNvPr id="13" name="Text 11"/>
          <p:cNvSpPr/>
          <p:nvPr/>
        </p:nvSpPr>
        <p:spPr>
          <a:xfrm>
            <a:off x="7195109" y="17739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Shape 12"/>
          <p:cNvSpPr/>
          <p:nvPr/>
        </p:nvSpPr>
        <p:spPr>
          <a:xfrm>
            <a:off x="8091221" y="1572768"/>
            <a:ext cx="3442106" cy="1170432"/>
          </a:xfrm>
          <a:prstGeom prst="roundRect">
            <a:avLst>
              <a:gd name="adj" fmla="val 7031"/>
            </a:avLst>
          </a:prstGeom>
          <a:solidFill>
            <a:srgbClr val="F2F5F9"/>
          </a:solidFill>
          <a:ln w="12700">
            <a:solidFill>
              <a:srgbClr val="F2F5F9"/>
            </a:solidFill>
            <a:prstDash val="solid"/>
          </a:ln>
        </p:spPr>
        <p:txBody>
          <a:bodyPr/>
          <a:lstStyle/>
          <a:p>
            <a:endParaRPr lang="en-US"/>
          </a:p>
        </p:txBody>
      </p:sp>
      <p:sp>
        <p:nvSpPr>
          <p:cNvPr id="15" name="Text 13"/>
          <p:cNvSpPr/>
          <p:nvPr/>
        </p:nvSpPr>
        <p:spPr>
          <a:xfrm>
            <a:off x="8347253" y="1810512"/>
            <a:ext cx="2930042" cy="310896"/>
          </a:xfrm>
          <a:prstGeom prst="rect">
            <a:avLst/>
          </a:prstGeom>
          <a:noFill/>
          <a:ln/>
        </p:spPr>
        <p:txBody>
          <a:bodyPr wrap="square" lIns="0" tIns="0" rIns="0" bIns="0" rtlCol="0" anchor="t"/>
          <a:lstStyle/>
          <a:p>
            <a:pPr marL="0" indent="0" algn="l">
              <a:lnSpc>
                <a:spcPct val="102000"/>
              </a:lnSpc>
              <a:buNone/>
            </a:pPr>
            <a:r>
              <a:rPr lang="en-US" sz="1500" b="1" dirty="0">
                <a:solidFill>
                  <a:srgbClr val="13233F"/>
                </a:solidFill>
                <a:latin typeface="Calibri" pitchFamily="34" charset="0"/>
                <a:ea typeface="Calibri" pitchFamily="34" charset="-122"/>
                <a:cs typeface="Calibri" pitchFamily="34" charset="-120"/>
              </a:rPr>
              <a:t>Enable the Drive API</a:t>
            </a:r>
            <a:endParaRPr lang="en-US" sz="1500" dirty="0"/>
          </a:p>
        </p:txBody>
      </p:sp>
      <p:sp>
        <p:nvSpPr>
          <p:cNvPr id="16" name="Text 14"/>
          <p:cNvSpPr/>
          <p:nvPr/>
        </p:nvSpPr>
        <p:spPr>
          <a:xfrm>
            <a:off x="8347253" y="2176272"/>
            <a:ext cx="2930042" cy="365760"/>
          </a:xfrm>
          <a:prstGeom prst="rect">
            <a:avLst/>
          </a:prstGeom>
          <a:noFill/>
          <a:ln/>
        </p:spPr>
        <p:txBody>
          <a:bodyPr wrap="square" lIns="0" tIns="0" rIns="0" bIns="0" rtlCol="0" anchor="t"/>
          <a:lstStyle/>
          <a:p>
            <a:pPr marL="0" indent="0" algn="l">
              <a:lnSpc>
                <a:spcPct val="112000"/>
              </a:lnSpc>
              <a:buNone/>
            </a:pPr>
            <a:r>
              <a:rPr lang="en-US" sz="1200" dirty="0">
                <a:solidFill>
                  <a:srgbClr val="5C6B7A"/>
                </a:solidFill>
                <a:latin typeface="Calibri" pitchFamily="34" charset="0"/>
                <a:ea typeface="Calibri" pitchFamily="34" charset="-122"/>
                <a:cs typeface="Calibri" pitchFamily="34" charset="-120"/>
              </a:rPr>
              <a:t>Google Cloud</a:t>
            </a:r>
            <a:endParaRPr lang="en-US" sz="1200" dirty="0"/>
          </a:p>
        </p:txBody>
      </p:sp>
      <p:sp>
        <p:nvSpPr>
          <p:cNvPr id="17" name="Shape 15"/>
          <p:cNvSpPr/>
          <p:nvPr/>
        </p:nvSpPr>
        <p:spPr>
          <a:xfrm>
            <a:off x="10911535" y="1773936"/>
            <a:ext cx="365760" cy="365760"/>
          </a:xfrm>
          <a:prstGeom prst="ellipse">
            <a:avLst/>
          </a:prstGeom>
          <a:solidFill>
            <a:srgbClr val="13233F"/>
          </a:solidFill>
          <a:ln w="12700">
            <a:solidFill>
              <a:srgbClr val="13233F"/>
            </a:solidFill>
            <a:prstDash val="solid"/>
          </a:ln>
        </p:spPr>
        <p:txBody>
          <a:bodyPr/>
          <a:lstStyle/>
          <a:p>
            <a:endParaRPr lang="en-US"/>
          </a:p>
        </p:txBody>
      </p:sp>
      <p:sp>
        <p:nvSpPr>
          <p:cNvPr id="18" name="Text 16"/>
          <p:cNvSpPr/>
          <p:nvPr/>
        </p:nvSpPr>
        <p:spPr>
          <a:xfrm>
            <a:off x="10911535" y="17739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Shape 17"/>
          <p:cNvSpPr/>
          <p:nvPr/>
        </p:nvSpPr>
        <p:spPr>
          <a:xfrm>
            <a:off x="658368" y="2944368"/>
            <a:ext cx="3442106" cy="1170432"/>
          </a:xfrm>
          <a:prstGeom prst="roundRect">
            <a:avLst>
              <a:gd name="adj" fmla="val 7031"/>
            </a:avLst>
          </a:prstGeom>
          <a:solidFill>
            <a:srgbClr val="F2F5F9"/>
          </a:solidFill>
          <a:ln w="12700">
            <a:solidFill>
              <a:srgbClr val="F2F5F9"/>
            </a:solidFill>
            <a:prstDash val="solid"/>
          </a:ln>
        </p:spPr>
        <p:txBody>
          <a:bodyPr/>
          <a:lstStyle/>
          <a:p>
            <a:endParaRPr lang="en-US"/>
          </a:p>
        </p:txBody>
      </p:sp>
      <p:sp>
        <p:nvSpPr>
          <p:cNvPr id="20" name="Text 18"/>
          <p:cNvSpPr/>
          <p:nvPr/>
        </p:nvSpPr>
        <p:spPr>
          <a:xfrm>
            <a:off x="914400" y="3182112"/>
            <a:ext cx="2930042" cy="310896"/>
          </a:xfrm>
          <a:prstGeom prst="rect">
            <a:avLst/>
          </a:prstGeom>
          <a:noFill/>
          <a:ln/>
        </p:spPr>
        <p:txBody>
          <a:bodyPr wrap="square" lIns="0" tIns="0" rIns="0" bIns="0" rtlCol="0" anchor="t"/>
          <a:lstStyle/>
          <a:p>
            <a:pPr marL="0" indent="0" algn="l">
              <a:lnSpc>
                <a:spcPct val="102000"/>
              </a:lnSpc>
              <a:buNone/>
            </a:pPr>
            <a:r>
              <a:rPr lang="en-US" sz="1500" b="1" dirty="0">
                <a:solidFill>
                  <a:srgbClr val="13233F"/>
                </a:solidFill>
                <a:latin typeface="Calibri" pitchFamily="34" charset="0"/>
                <a:ea typeface="Calibri" pitchFamily="34" charset="-122"/>
                <a:cs typeface="Calibri" pitchFamily="34" charset="-120"/>
              </a:rPr>
              <a:t>Configure the consent screen</a:t>
            </a:r>
            <a:endParaRPr lang="en-US" sz="1500" dirty="0"/>
          </a:p>
        </p:txBody>
      </p:sp>
      <p:sp>
        <p:nvSpPr>
          <p:cNvPr id="21" name="Text 19"/>
          <p:cNvSpPr/>
          <p:nvPr/>
        </p:nvSpPr>
        <p:spPr>
          <a:xfrm>
            <a:off x="914400" y="3547872"/>
            <a:ext cx="2930042" cy="365760"/>
          </a:xfrm>
          <a:prstGeom prst="rect">
            <a:avLst/>
          </a:prstGeom>
          <a:noFill/>
          <a:ln/>
        </p:spPr>
        <p:txBody>
          <a:bodyPr wrap="square" lIns="0" tIns="0" rIns="0" bIns="0" rtlCol="0" anchor="t"/>
          <a:lstStyle/>
          <a:p>
            <a:pPr marL="0" indent="0" algn="l">
              <a:lnSpc>
                <a:spcPct val="112000"/>
              </a:lnSpc>
              <a:buNone/>
            </a:pPr>
            <a:r>
              <a:rPr lang="en-US" sz="1200" dirty="0">
                <a:solidFill>
                  <a:srgbClr val="5C6B7A"/>
                </a:solidFill>
                <a:latin typeface="Calibri" pitchFamily="34" charset="0"/>
                <a:ea typeface="Calibri" pitchFamily="34" charset="-122"/>
                <a:cs typeface="Calibri" pitchFamily="34" charset="-120"/>
              </a:rPr>
              <a:t>Google Cloud</a:t>
            </a:r>
            <a:endParaRPr lang="en-US" sz="1200" dirty="0"/>
          </a:p>
        </p:txBody>
      </p:sp>
      <p:sp>
        <p:nvSpPr>
          <p:cNvPr id="22" name="Shape 20"/>
          <p:cNvSpPr/>
          <p:nvPr/>
        </p:nvSpPr>
        <p:spPr>
          <a:xfrm>
            <a:off x="3478682" y="3145536"/>
            <a:ext cx="365760" cy="365760"/>
          </a:xfrm>
          <a:prstGeom prst="ellipse">
            <a:avLst/>
          </a:prstGeom>
          <a:solidFill>
            <a:srgbClr val="13233F"/>
          </a:solidFill>
          <a:ln w="12700">
            <a:solidFill>
              <a:srgbClr val="13233F"/>
            </a:solidFill>
            <a:prstDash val="solid"/>
          </a:ln>
        </p:spPr>
        <p:txBody>
          <a:bodyPr/>
          <a:lstStyle/>
          <a:p>
            <a:endParaRPr lang="en-US"/>
          </a:p>
        </p:txBody>
      </p:sp>
      <p:sp>
        <p:nvSpPr>
          <p:cNvPr id="23" name="Text 21"/>
          <p:cNvSpPr/>
          <p:nvPr/>
        </p:nvSpPr>
        <p:spPr>
          <a:xfrm>
            <a:off x="3478682" y="31455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Shape 22"/>
          <p:cNvSpPr/>
          <p:nvPr/>
        </p:nvSpPr>
        <p:spPr>
          <a:xfrm>
            <a:off x="4374794" y="2944368"/>
            <a:ext cx="3442106" cy="1170432"/>
          </a:xfrm>
          <a:prstGeom prst="roundRect">
            <a:avLst>
              <a:gd name="adj" fmla="val 7031"/>
            </a:avLst>
          </a:prstGeom>
          <a:solidFill>
            <a:srgbClr val="F2F5F9"/>
          </a:solidFill>
          <a:ln w="12700">
            <a:solidFill>
              <a:srgbClr val="F2F5F9"/>
            </a:solidFill>
            <a:prstDash val="solid"/>
          </a:ln>
        </p:spPr>
        <p:txBody>
          <a:bodyPr/>
          <a:lstStyle/>
          <a:p>
            <a:endParaRPr lang="en-US"/>
          </a:p>
        </p:txBody>
      </p:sp>
      <p:sp>
        <p:nvSpPr>
          <p:cNvPr id="25" name="Text 23"/>
          <p:cNvSpPr/>
          <p:nvPr/>
        </p:nvSpPr>
        <p:spPr>
          <a:xfrm>
            <a:off x="4630826" y="3182112"/>
            <a:ext cx="2930042" cy="310896"/>
          </a:xfrm>
          <a:prstGeom prst="rect">
            <a:avLst/>
          </a:prstGeom>
          <a:noFill/>
          <a:ln/>
        </p:spPr>
        <p:txBody>
          <a:bodyPr wrap="square" lIns="0" tIns="0" rIns="0" bIns="0" rtlCol="0" anchor="t"/>
          <a:lstStyle/>
          <a:p>
            <a:pPr marL="0" indent="0" algn="l">
              <a:lnSpc>
                <a:spcPct val="102000"/>
              </a:lnSpc>
              <a:buNone/>
            </a:pPr>
            <a:r>
              <a:rPr lang="en-US" sz="1500" b="1" dirty="0">
                <a:solidFill>
                  <a:srgbClr val="13233F"/>
                </a:solidFill>
                <a:latin typeface="Calibri" pitchFamily="34" charset="0"/>
                <a:ea typeface="Calibri" pitchFamily="34" charset="-122"/>
                <a:cs typeface="Calibri" pitchFamily="34" charset="-120"/>
              </a:rPr>
              <a:t>Create the OAuth client</a:t>
            </a:r>
            <a:endParaRPr lang="en-US" sz="1500" dirty="0"/>
          </a:p>
        </p:txBody>
      </p:sp>
      <p:sp>
        <p:nvSpPr>
          <p:cNvPr id="26" name="Text 24"/>
          <p:cNvSpPr/>
          <p:nvPr/>
        </p:nvSpPr>
        <p:spPr>
          <a:xfrm>
            <a:off x="4630826" y="3547872"/>
            <a:ext cx="2930042" cy="365760"/>
          </a:xfrm>
          <a:prstGeom prst="rect">
            <a:avLst/>
          </a:prstGeom>
          <a:noFill/>
          <a:ln/>
        </p:spPr>
        <p:txBody>
          <a:bodyPr wrap="square" lIns="0" tIns="0" rIns="0" bIns="0" rtlCol="0" anchor="t"/>
          <a:lstStyle/>
          <a:p>
            <a:pPr marL="0" indent="0" algn="l">
              <a:lnSpc>
                <a:spcPct val="112000"/>
              </a:lnSpc>
              <a:buNone/>
            </a:pPr>
            <a:r>
              <a:rPr lang="en-US" sz="1200" dirty="0">
                <a:solidFill>
                  <a:srgbClr val="5C6B7A"/>
                </a:solidFill>
                <a:latin typeface="Calibri" pitchFamily="34" charset="0"/>
                <a:ea typeface="Calibri" pitchFamily="34" charset="-122"/>
                <a:cs typeface="Calibri" pitchFamily="34" charset="-120"/>
              </a:rPr>
              <a:t>n8n → Google Cloud</a:t>
            </a:r>
            <a:endParaRPr lang="en-US" sz="1200" dirty="0"/>
          </a:p>
        </p:txBody>
      </p:sp>
      <p:sp>
        <p:nvSpPr>
          <p:cNvPr id="27" name="Shape 25"/>
          <p:cNvSpPr/>
          <p:nvPr/>
        </p:nvSpPr>
        <p:spPr>
          <a:xfrm>
            <a:off x="7195109" y="3145536"/>
            <a:ext cx="365760" cy="365760"/>
          </a:xfrm>
          <a:prstGeom prst="ellipse">
            <a:avLst/>
          </a:prstGeom>
          <a:solidFill>
            <a:srgbClr val="13233F"/>
          </a:solidFill>
          <a:ln w="12700">
            <a:solidFill>
              <a:srgbClr val="13233F"/>
            </a:solidFill>
            <a:prstDash val="solid"/>
          </a:ln>
        </p:spPr>
        <p:txBody>
          <a:bodyPr/>
          <a:lstStyle/>
          <a:p>
            <a:endParaRPr lang="en-US"/>
          </a:p>
        </p:txBody>
      </p:sp>
      <p:sp>
        <p:nvSpPr>
          <p:cNvPr id="28" name="Text 26"/>
          <p:cNvSpPr/>
          <p:nvPr/>
        </p:nvSpPr>
        <p:spPr>
          <a:xfrm>
            <a:off x="7195109" y="31455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Shape 27"/>
          <p:cNvSpPr/>
          <p:nvPr/>
        </p:nvSpPr>
        <p:spPr>
          <a:xfrm>
            <a:off x="8091221" y="2944368"/>
            <a:ext cx="3442106" cy="1170432"/>
          </a:xfrm>
          <a:prstGeom prst="roundRect">
            <a:avLst>
              <a:gd name="adj" fmla="val 7031"/>
            </a:avLst>
          </a:prstGeom>
          <a:solidFill>
            <a:srgbClr val="F2F5F9"/>
          </a:solidFill>
          <a:ln w="12700">
            <a:solidFill>
              <a:srgbClr val="F2F5F9"/>
            </a:solidFill>
            <a:prstDash val="solid"/>
          </a:ln>
        </p:spPr>
        <p:txBody>
          <a:bodyPr/>
          <a:lstStyle/>
          <a:p>
            <a:endParaRPr lang="en-US"/>
          </a:p>
        </p:txBody>
      </p:sp>
      <p:sp>
        <p:nvSpPr>
          <p:cNvPr id="30" name="Text 28"/>
          <p:cNvSpPr/>
          <p:nvPr/>
        </p:nvSpPr>
        <p:spPr>
          <a:xfrm>
            <a:off x="8347253" y="3182112"/>
            <a:ext cx="2930042" cy="310896"/>
          </a:xfrm>
          <a:prstGeom prst="rect">
            <a:avLst/>
          </a:prstGeom>
          <a:noFill/>
          <a:ln/>
        </p:spPr>
        <p:txBody>
          <a:bodyPr wrap="square" lIns="0" tIns="0" rIns="0" bIns="0" rtlCol="0" anchor="t"/>
          <a:lstStyle/>
          <a:p>
            <a:pPr marL="0" indent="0" algn="l">
              <a:lnSpc>
                <a:spcPct val="102000"/>
              </a:lnSpc>
              <a:buNone/>
            </a:pPr>
            <a:r>
              <a:rPr lang="en-US" sz="1500" b="1" dirty="0">
                <a:solidFill>
                  <a:srgbClr val="13233F"/>
                </a:solidFill>
                <a:latin typeface="Calibri" pitchFamily="34" charset="0"/>
                <a:ea typeface="Calibri" pitchFamily="34" charset="-122"/>
                <a:cs typeface="Calibri" pitchFamily="34" charset="-120"/>
              </a:rPr>
              <a:t>Connect the credential</a:t>
            </a:r>
            <a:endParaRPr lang="en-US" sz="1500" dirty="0"/>
          </a:p>
        </p:txBody>
      </p:sp>
      <p:sp>
        <p:nvSpPr>
          <p:cNvPr id="31" name="Text 29"/>
          <p:cNvSpPr/>
          <p:nvPr/>
        </p:nvSpPr>
        <p:spPr>
          <a:xfrm>
            <a:off x="8347253" y="3547872"/>
            <a:ext cx="2930042" cy="365760"/>
          </a:xfrm>
          <a:prstGeom prst="rect">
            <a:avLst/>
          </a:prstGeom>
          <a:noFill/>
          <a:ln/>
        </p:spPr>
        <p:txBody>
          <a:bodyPr wrap="square" lIns="0" tIns="0" rIns="0" bIns="0" rtlCol="0" anchor="t"/>
          <a:lstStyle/>
          <a:p>
            <a:pPr marL="0" indent="0" algn="l">
              <a:lnSpc>
                <a:spcPct val="112000"/>
              </a:lnSpc>
              <a:buNone/>
            </a:pPr>
            <a:r>
              <a:rPr lang="en-US" sz="1200" dirty="0">
                <a:solidFill>
                  <a:srgbClr val="5C6B7A"/>
                </a:solidFill>
                <a:latin typeface="Calibri" pitchFamily="34" charset="0"/>
                <a:ea typeface="Calibri" pitchFamily="34" charset="-122"/>
                <a:cs typeface="Calibri" pitchFamily="34" charset="-120"/>
              </a:rPr>
              <a:t>n8n</a:t>
            </a:r>
            <a:endParaRPr lang="en-US" sz="1200" dirty="0"/>
          </a:p>
        </p:txBody>
      </p:sp>
      <p:sp>
        <p:nvSpPr>
          <p:cNvPr id="32" name="Shape 30"/>
          <p:cNvSpPr/>
          <p:nvPr/>
        </p:nvSpPr>
        <p:spPr>
          <a:xfrm>
            <a:off x="10911535" y="3145536"/>
            <a:ext cx="365760" cy="365760"/>
          </a:xfrm>
          <a:prstGeom prst="ellipse">
            <a:avLst/>
          </a:prstGeom>
          <a:solidFill>
            <a:srgbClr val="13233F"/>
          </a:solidFill>
          <a:ln w="12700">
            <a:solidFill>
              <a:srgbClr val="13233F"/>
            </a:solidFill>
            <a:prstDash val="solid"/>
          </a:ln>
        </p:spPr>
        <p:txBody>
          <a:bodyPr/>
          <a:lstStyle/>
          <a:p>
            <a:endParaRPr lang="en-US"/>
          </a:p>
        </p:txBody>
      </p:sp>
      <p:sp>
        <p:nvSpPr>
          <p:cNvPr id="33" name="Text 31"/>
          <p:cNvSpPr/>
          <p:nvPr/>
        </p:nvSpPr>
        <p:spPr>
          <a:xfrm>
            <a:off x="10911535" y="31455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Shape 32"/>
          <p:cNvSpPr/>
          <p:nvPr/>
        </p:nvSpPr>
        <p:spPr>
          <a:xfrm>
            <a:off x="658368" y="4315968"/>
            <a:ext cx="3442106" cy="1170432"/>
          </a:xfrm>
          <a:prstGeom prst="roundRect">
            <a:avLst>
              <a:gd name="adj" fmla="val 7031"/>
            </a:avLst>
          </a:prstGeom>
          <a:solidFill>
            <a:srgbClr val="F2F5F9"/>
          </a:solidFill>
          <a:ln w="12700">
            <a:solidFill>
              <a:srgbClr val="F2F5F9"/>
            </a:solidFill>
            <a:prstDash val="solid"/>
          </a:ln>
        </p:spPr>
        <p:txBody>
          <a:bodyPr/>
          <a:lstStyle/>
          <a:p>
            <a:endParaRPr lang="en-US"/>
          </a:p>
        </p:txBody>
      </p:sp>
      <p:sp>
        <p:nvSpPr>
          <p:cNvPr id="35" name="Text 33"/>
          <p:cNvSpPr/>
          <p:nvPr/>
        </p:nvSpPr>
        <p:spPr>
          <a:xfrm>
            <a:off x="914400" y="4553712"/>
            <a:ext cx="2930042" cy="310896"/>
          </a:xfrm>
          <a:prstGeom prst="rect">
            <a:avLst/>
          </a:prstGeom>
          <a:noFill/>
          <a:ln/>
        </p:spPr>
        <p:txBody>
          <a:bodyPr wrap="square" lIns="0" tIns="0" rIns="0" bIns="0" rtlCol="0" anchor="t"/>
          <a:lstStyle/>
          <a:p>
            <a:pPr marL="0" indent="0" algn="l">
              <a:lnSpc>
                <a:spcPct val="102000"/>
              </a:lnSpc>
              <a:buNone/>
            </a:pPr>
            <a:r>
              <a:rPr lang="en-US" sz="1500" b="1" dirty="0">
                <a:solidFill>
                  <a:srgbClr val="13233F"/>
                </a:solidFill>
                <a:latin typeface="Calibri" pitchFamily="34" charset="0"/>
                <a:ea typeface="Calibri" pitchFamily="34" charset="-122"/>
                <a:cs typeface="Calibri" pitchFamily="34" charset="-120"/>
              </a:rPr>
              <a:t>Import the workflow</a:t>
            </a:r>
            <a:endParaRPr lang="en-US" sz="1500" dirty="0"/>
          </a:p>
        </p:txBody>
      </p:sp>
      <p:sp>
        <p:nvSpPr>
          <p:cNvPr id="36" name="Text 34"/>
          <p:cNvSpPr/>
          <p:nvPr/>
        </p:nvSpPr>
        <p:spPr>
          <a:xfrm>
            <a:off x="914400" y="4919472"/>
            <a:ext cx="2930042" cy="365760"/>
          </a:xfrm>
          <a:prstGeom prst="rect">
            <a:avLst/>
          </a:prstGeom>
          <a:noFill/>
          <a:ln/>
        </p:spPr>
        <p:txBody>
          <a:bodyPr wrap="square" lIns="0" tIns="0" rIns="0" bIns="0" rtlCol="0" anchor="t"/>
          <a:lstStyle/>
          <a:p>
            <a:pPr marL="0" indent="0" algn="l">
              <a:lnSpc>
                <a:spcPct val="112000"/>
              </a:lnSpc>
              <a:buNone/>
            </a:pPr>
            <a:r>
              <a:rPr lang="en-US" sz="1200" dirty="0">
                <a:solidFill>
                  <a:srgbClr val="5C6B7A"/>
                </a:solidFill>
                <a:latin typeface="Calibri" pitchFamily="34" charset="0"/>
                <a:ea typeface="Calibri" pitchFamily="34" charset="-122"/>
                <a:cs typeface="Calibri" pitchFamily="34" charset="-120"/>
              </a:rPr>
              <a:t>n8n</a:t>
            </a:r>
            <a:endParaRPr lang="en-US" sz="1200" dirty="0"/>
          </a:p>
        </p:txBody>
      </p:sp>
      <p:sp>
        <p:nvSpPr>
          <p:cNvPr id="37" name="Shape 35"/>
          <p:cNvSpPr/>
          <p:nvPr/>
        </p:nvSpPr>
        <p:spPr>
          <a:xfrm>
            <a:off x="3478682" y="4517136"/>
            <a:ext cx="365760" cy="365760"/>
          </a:xfrm>
          <a:prstGeom prst="ellipse">
            <a:avLst/>
          </a:prstGeom>
          <a:solidFill>
            <a:srgbClr val="13233F"/>
          </a:solidFill>
          <a:ln w="12700">
            <a:solidFill>
              <a:srgbClr val="13233F"/>
            </a:solidFill>
            <a:prstDash val="solid"/>
          </a:ln>
        </p:spPr>
        <p:txBody>
          <a:bodyPr/>
          <a:lstStyle/>
          <a:p>
            <a:endParaRPr lang="en-US"/>
          </a:p>
        </p:txBody>
      </p:sp>
      <p:sp>
        <p:nvSpPr>
          <p:cNvPr id="38" name="Text 36"/>
          <p:cNvSpPr/>
          <p:nvPr/>
        </p:nvSpPr>
        <p:spPr>
          <a:xfrm>
            <a:off x="3478682" y="45171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9" name="Shape 37"/>
          <p:cNvSpPr/>
          <p:nvPr/>
        </p:nvSpPr>
        <p:spPr>
          <a:xfrm>
            <a:off x="4374794" y="4315968"/>
            <a:ext cx="3442106" cy="1170432"/>
          </a:xfrm>
          <a:prstGeom prst="roundRect">
            <a:avLst>
              <a:gd name="adj" fmla="val 7031"/>
            </a:avLst>
          </a:prstGeom>
          <a:solidFill>
            <a:srgbClr val="F2F5F9"/>
          </a:solidFill>
          <a:ln w="12700">
            <a:solidFill>
              <a:srgbClr val="F2F5F9"/>
            </a:solidFill>
            <a:prstDash val="solid"/>
          </a:ln>
        </p:spPr>
        <p:txBody>
          <a:bodyPr/>
          <a:lstStyle/>
          <a:p>
            <a:endParaRPr lang="en-US"/>
          </a:p>
        </p:txBody>
      </p:sp>
      <p:sp>
        <p:nvSpPr>
          <p:cNvPr id="40" name="Text 38"/>
          <p:cNvSpPr/>
          <p:nvPr/>
        </p:nvSpPr>
        <p:spPr>
          <a:xfrm>
            <a:off x="4630826" y="4553712"/>
            <a:ext cx="2930042" cy="310896"/>
          </a:xfrm>
          <a:prstGeom prst="rect">
            <a:avLst/>
          </a:prstGeom>
          <a:noFill/>
          <a:ln/>
        </p:spPr>
        <p:txBody>
          <a:bodyPr wrap="square" lIns="0" tIns="0" rIns="0" bIns="0" rtlCol="0" anchor="t"/>
          <a:lstStyle/>
          <a:p>
            <a:pPr marL="0" indent="0" algn="l">
              <a:lnSpc>
                <a:spcPct val="102000"/>
              </a:lnSpc>
              <a:buNone/>
            </a:pPr>
            <a:r>
              <a:rPr lang="en-US" sz="1500" b="1" dirty="0">
                <a:solidFill>
                  <a:srgbClr val="13233F"/>
                </a:solidFill>
                <a:latin typeface="Calibri" pitchFamily="34" charset="0"/>
                <a:ea typeface="Calibri" pitchFamily="34" charset="-122"/>
                <a:cs typeface="Calibri" pitchFamily="34" charset="-120"/>
              </a:rPr>
              <a:t>Understand the input</a:t>
            </a:r>
            <a:endParaRPr lang="en-US" sz="1500" dirty="0"/>
          </a:p>
        </p:txBody>
      </p:sp>
      <p:sp>
        <p:nvSpPr>
          <p:cNvPr id="41" name="Text 39"/>
          <p:cNvSpPr/>
          <p:nvPr/>
        </p:nvSpPr>
        <p:spPr>
          <a:xfrm>
            <a:off x="4630826" y="4919472"/>
            <a:ext cx="2930042" cy="365760"/>
          </a:xfrm>
          <a:prstGeom prst="rect">
            <a:avLst/>
          </a:prstGeom>
          <a:noFill/>
          <a:ln/>
        </p:spPr>
        <p:txBody>
          <a:bodyPr wrap="square" lIns="0" tIns="0" rIns="0" bIns="0" rtlCol="0" anchor="t"/>
          <a:lstStyle/>
          <a:p>
            <a:pPr marL="0" indent="0" algn="l">
              <a:lnSpc>
                <a:spcPct val="112000"/>
              </a:lnSpc>
              <a:buNone/>
            </a:pPr>
            <a:r>
              <a:rPr lang="en-US" sz="1200" dirty="0">
                <a:solidFill>
                  <a:srgbClr val="5C6B7A"/>
                </a:solidFill>
                <a:latin typeface="Calibri" pitchFamily="34" charset="0"/>
                <a:ea typeface="Calibri" pitchFamily="34" charset="-122"/>
                <a:cs typeface="Calibri" pitchFamily="34" charset="-120"/>
              </a:rPr>
              <a:t>n8n</a:t>
            </a:r>
            <a:endParaRPr lang="en-US" sz="1200" dirty="0"/>
          </a:p>
        </p:txBody>
      </p:sp>
      <p:sp>
        <p:nvSpPr>
          <p:cNvPr id="42" name="Shape 40"/>
          <p:cNvSpPr/>
          <p:nvPr/>
        </p:nvSpPr>
        <p:spPr>
          <a:xfrm>
            <a:off x="7195109" y="4517136"/>
            <a:ext cx="365760" cy="365760"/>
          </a:xfrm>
          <a:prstGeom prst="ellipse">
            <a:avLst/>
          </a:prstGeom>
          <a:solidFill>
            <a:srgbClr val="13233F"/>
          </a:solidFill>
          <a:ln w="12700">
            <a:solidFill>
              <a:srgbClr val="13233F"/>
            </a:solidFill>
            <a:prstDash val="solid"/>
          </a:ln>
        </p:spPr>
        <p:txBody>
          <a:bodyPr/>
          <a:lstStyle/>
          <a:p>
            <a:endParaRPr lang="en-US"/>
          </a:p>
        </p:txBody>
      </p:sp>
      <p:sp>
        <p:nvSpPr>
          <p:cNvPr id="43" name="Text 41"/>
          <p:cNvSpPr/>
          <p:nvPr/>
        </p:nvSpPr>
        <p:spPr>
          <a:xfrm>
            <a:off x="7195109" y="45171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4" name="Shape 42"/>
          <p:cNvSpPr/>
          <p:nvPr/>
        </p:nvSpPr>
        <p:spPr>
          <a:xfrm>
            <a:off x="8091221" y="4315968"/>
            <a:ext cx="3442106" cy="1170432"/>
          </a:xfrm>
          <a:prstGeom prst="roundRect">
            <a:avLst>
              <a:gd name="adj" fmla="val 7031"/>
            </a:avLst>
          </a:prstGeom>
          <a:solidFill>
            <a:srgbClr val="F2F5F9"/>
          </a:solidFill>
          <a:ln w="12700">
            <a:solidFill>
              <a:srgbClr val="F2F5F9"/>
            </a:solidFill>
            <a:prstDash val="solid"/>
          </a:ln>
        </p:spPr>
        <p:txBody>
          <a:bodyPr/>
          <a:lstStyle/>
          <a:p>
            <a:endParaRPr lang="en-US"/>
          </a:p>
        </p:txBody>
      </p:sp>
      <p:sp>
        <p:nvSpPr>
          <p:cNvPr id="45" name="Text 43"/>
          <p:cNvSpPr/>
          <p:nvPr/>
        </p:nvSpPr>
        <p:spPr>
          <a:xfrm>
            <a:off x="8347253" y="4553712"/>
            <a:ext cx="2930042" cy="310896"/>
          </a:xfrm>
          <a:prstGeom prst="rect">
            <a:avLst/>
          </a:prstGeom>
          <a:noFill/>
          <a:ln/>
        </p:spPr>
        <p:txBody>
          <a:bodyPr wrap="square" lIns="0" tIns="0" rIns="0" bIns="0" rtlCol="0" anchor="t"/>
          <a:lstStyle/>
          <a:p>
            <a:pPr marL="0" indent="0" algn="l">
              <a:lnSpc>
                <a:spcPct val="102000"/>
              </a:lnSpc>
              <a:buNone/>
            </a:pPr>
            <a:r>
              <a:rPr lang="en-US" sz="1500" b="1" dirty="0">
                <a:solidFill>
                  <a:srgbClr val="13233F"/>
                </a:solidFill>
                <a:latin typeface="Calibri" pitchFamily="34" charset="0"/>
                <a:ea typeface="Calibri" pitchFamily="34" charset="-122"/>
                <a:cs typeface="Calibri" pitchFamily="34" charset="-120"/>
              </a:rPr>
              <a:t>Search for the file</a:t>
            </a:r>
            <a:endParaRPr lang="en-US" sz="1500" dirty="0"/>
          </a:p>
        </p:txBody>
      </p:sp>
      <p:sp>
        <p:nvSpPr>
          <p:cNvPr id="46" name="Text 44"/>
          <p:cNvSpPr/>
          <p:nvPr/>
        </p:nvSpPr>
        <p:spPr>
          <a:xfrm>
            <a:off x="8347253" y="4919472"/>
            <a:ext cx="2930042" cy="365760"/>
          </a:xfrm>
          <a:prstGeom prst="rect">
            <a:avLst/>
          </a:prstGeom>
          <a:noFill/>
          <a:ln/>
        </p:spPr>
        <p:txBody>
          <a:bodyPr wrap="square" lIns="0" tIns="0" rIns="0" bIns="0" rtlCol="0" anchor="t"/>
          <a:lstStyle/>
          <a:p>
            <a:pPr marL="0" indent="0" algn="l">
              <a:lnSpc>
                <a:spcPct val="112000"/>
              </a:lnSpc>
              <a:buNone/>
            </a:pPr>
            <a:r>
              <a:rPr lang="en-US" sz="1200" dirty="0">
                <a:solidFill>
                  <a:srgbClr val="5C6B7A"/>
                </a:solidFill>
                <a:latin typeface="Calibri" pitchFamily="34" charset="0"/>
                <a:ea typeface="Calibri" pitchFamily="34" charset="-122"/>
                <a:cs typeface="Calibri" pitchFamily="34" charset="-120"/>
              </a:rPr>
              <a:t>n8n</a:t>
            </a:r>
            <a:endParaRPr lang="en-US" sz="1200" dirty="0"/>
          </a:p>
        </p:txBody>
      </p:sp>
      <p:sp>
        <p:nvSpPr>
          <p:cNvPr id="47" name="Shape 45"/>
          <p:cNvSpPr/>
          <p:nvPr/>
        </p:nvSpPr>
        <p:spPr>
          <a:xfrm>
            <a:off x="10911535" y="4517136"/>
            <a:ext cx="365760" cy="365760"/>
          </a:xfrm>
          <a:prstGeom prst="ellipse">
            <a:avLst/>
          </a:prstGeom>
          <a:solidFill>
            <a:srgbClr val="13233F"/>
          </a:solidFill>
          <a:ln w="12700">
            <a:solidFill>
              <a:srgbClr val="13233F"/>
            </a:solidFill>
            <a:prstDash val="solid"/>
          </a:ln>
        </p:spPr>
        <p:txBody>
          <a:bodyPr/>
          <a:lstStyle/>
          <a:p>
            <a:endParaRPr lang="en-US"/>
          </a:p>
        </p:txBody>
      </p:sp>
      <p:sp>
        <p:nvSpPr>
          <p:cNvPr id="48" name="Text 46"/>
          <p:cNvSpPr/>
          <p:nvPr/>
        </p:nvSpPr>
        <p:spPr>
          <a:xfrm>
            <a:off x="10911535" y="45171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9" name="Text 47"/>
          <p:cNvSpPr/>
          <p:nvPr/>
        </p:nvSpPr>
        <p:spPr>
          <a:xfrm>
            <a:off x="658368" y="5742432"/>
            <a:ext cx="10874959" cy="365760"/>
          </a:xfrm>
          <a:prstGeom prst="rect">
            <a:avLst/>
          </a:prstGeom>
          <a:noFill/>
          <a:ln/>
        </p:spPr>
        <p:txBody>
          <a:bodyPr wrap="square" lIns="0" tIns="0" rIns="0" bIns="0" rtlCol="0" anchor="ctr"/>
          <a:lstStyle/>
          <a:p>
            <a:pPr marL="0" indent="0" algn="l">
              <a:buNone/>
            </a:pPr>
            <a:r>
              <a:rPr lang="en-US" sz="1300" b="1" dirty="0">
                <a:solidFill>
                  <a:srgbClr val="B32E4C"/>
                </a:solidFill>
                <a:latin typeface="Calibri" pitchFamily="34" charset="0"/>
                <a:ea typeface="Calibri" pitchFamily="34" charset="-122"/>
                <a:cs typeface="Calibri" pitchFamily="34" charset="-120"/>
              </a:rPr>
              <a:t>Each step in the manual ends with a check. Do not move on until it passes — every step depends on the one before it.</a:t>
            </a:r>
            <a:endParaRPr lang="en-US" sz="1300" dirty="0"/>
          </a:p>
        </p:txBody>
      </p:sp>
      <p:sp>
        <p:nvSpPr>
          <p:cNvPr id="50" name="Text 48"/>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STEPS 1 AND 2</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Upload the file, then pick one project</a:t>
            </a:r>
            <a:endParaRPr lang="en-US" sz="3000" dirty="0"/>
          </a:p>
        </p:txBody>
      </p:sp>
      <p:sp>
        <p:nvSpPr>
          <p:cNvPr id="4" name="Shape 2"/>
          <p:cNvSpPr/>
          <p:nvPr/>
        </p:nvSpPr>
        <p:spPr>
          <a:xfrm>
            <a:off x="658368" y="1572768"/>
            <a:ext cx="5486400" cy="530352"/>
          </a:xfrm>
          <a:prstGeom prst="roundRect">
            <a:avLst>
              <a:gd name="adj" fmla="val 12069"/>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59536" y="1664208"/>
            <a:ext cx="347472" cy="347472"/>
          </a:xfrm>
          <a:prstGeom prst="ellipse">
            <a:avLst/>
          </a:prstGeom>
          <a:solidFill>
            <a:srgbClr val="2A6FB5"/>
          </a:solidFill>
          <a:ln w="12700">
            <a:solidFill>
              <a:srgbClr val="2A6FB5"/>
            </a:solidFill>
            <a:prstDash val="solid"/>
          </a:ln>
        </p:spPr>
        <p:txBody>
          <a:bodyPr/>
          <a:lstStyle/>
          <a:p>
            <a:endParaRPr lang="en-US"/>
          </a:p>
        </p:txBody>
      </p:sp>
      <p:sp>
        <p:nvSpPr>
          <p:cNvPr id="6" name="Text 4"/>
          <p:cNvSpPr/>
          <p:nvPr/>
        </p:nvSpPr>
        <p:spPr>
          <a:xfrm>
            <a:off x="859536" y="166420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572768"/>
            <a:ext cx="4553712" cy="53035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Upload to Drive</a:t>
            </a:r>
            <a:r>
              <a:rPr lang="en-US" sz="1350" dirty="0">
                <a:solidFill>
                  <a:srgbClr val="5C6B7A"/>
                </a:solidFill>
                <a:latin typeface="Calibri" pitchFamily="34" charset="0"/>
                <a:ea typeface="Calibri" pitchFamily="34" charset="-122"/>
                <a:cs typeface="Calibri" pitchFamily="34" charset="-120"/>
              </a:rPr>
              <a:t>   keep the file name exactly as given</a:t>
            </a:r>
            <a:endParaRPr lang="en-US" sz="1350" dirty="0"/>
          </a:p>
        </p:txBody>
      </p:sp>
      <p:sp>
        <p:nvSpPr>
          <p:cNvPr id="8" name="Shape 6"/>
          <p:cNvSpPr/>
          <p:nvPr/>
        </p:nvSpPr>
        <p:spPr>
          <a:xfrm>
            <a:off x="658368" y="2203704"/>
            <a:ext cx="5486400" cy="530352"/>
          </a:xfrm>
          <a:prstGeom prst="roundRect">
            <a:avLst>
              <a:gd name="adj" fmla="val 12069"/>
            </a:avLst>
          </a:prstGeom>
          <a:solidFill>
            <a:srgbClr val="F2F5F9"/>
          </a:solidFill>
          <a:ln w="12700">
            <a:solidFill>
              <a:srgbClr val="F2F5F9"/>
            </a:solidFill>
            <a:prstDash val="solid"/>
          </a:ln>
        </p:spPr>
        <p:txBody>
          <a:bodyPr/>
          <a:lstStyle/>
          <a:p>
            <a:endParaRPr lang="en-US"/>
          </a:p>
        </p:txBody>
      </p:sp>
      <p:sp>
        <p:nvSpPr>
          <p:cNvPr id="9" name="Shape 7"/>
          <p:cNvSpPr/>
          <p:nvPr/>
        </p:nvSpPr>
        <p:spPr>
          <a:xfrm>
            <a:off x="859536" y="2295144"/>
            <a:ext cx="347472" cy="347472"/>
          </a:xfrm>
          <a:prstGeom prst="ellipse">
            <a:avLst/>
          </a:prstGeom>
          <a:solidFill>
            <a:srgbClr val="2A6FB5"/>
          </a:solidFill>
          <a:ln w="12700">
            <a:solidFill>
              <a:srgbClr val="2A6FB5"/>
            </a:solidFill>
            <a:prstDash val="solid"/>
          </a:ln>
        </p:spPr>
        <p:txBody>
          <a:bodyPr/>
          <a:lstStyle/>
          <a:p>
            <a:endParaRPr lang="en-US"/>
          </a:p>
        </p:txBody>
      </p:sp>
      <p:sp>
        <p:nvSpPr>
          <p:cNvPr id="10" name="Text 8"/>
          <p:cNvSpPr/>
          <p:nvPr/>
        </p:nvSpPr>
        <p:spPr>
          <a:xfrm>
            <a:off x="859536" y="229514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353312" y="2203704"/>
            <a:ext cx="4553712" cy="53035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Note the account</a:t>
            </a:r>
            <a:r>
              <a:rPr lang="en-US" sz="1350" dirty="0">
                <a:solidFill>
                  <a:srgbClr val="5C6B7A"/>
                </a:solidFill>
                <a:latin typeface="Calibri" pitchFamily="34" charset="0"/>
                <a:ea typeface="Calibri" pitchFamily="34" charset="-122"/>
                <a:cs typeface="Calibri" pitchFamily="34" charset="-120"/>
              </a:rPr>
              <a:t>   every later step uses this same one</a:t>
            </a:r>
            <a:endParaRPr lang="en-US" sz="1350" dirty="0"/>
          </a:p>
        </p:txBody>
      </p:sp>
      <p:sp>
        <p:nvSpPr>
          <p:cNvPr id="12" name="Shape 10"/>
          <p:cNvSpPr/>
          <p:nvPr/>
        </p:nvSpPr>
        <p:spPr>
          <a:xfrm>
            <a:off x="658368" y="2834640"/>
            <a:ext cx="5486400" cy="530352"/>
          </a:xfrm>
          <a:prstGeom prst="roundRect">
            <a:avLst>
              <a:gd name="adj" fmla="val 12069"/>
            </a:avLst>
          </a:prstGeom>
          <a:solidFill>
            <a:srgbClr val="F2F5F9"/>
          </a:solidFill>
          <a:ln w="12700">
            <a:solidFill>
              <a:srgbClr val="F2F5F9"/>
            </a:solidFill>
            <a:prstDash val="solid"/>
          </a:ln>
        </p:spPr>
        <p:txBody>
          <a:bodyPr/>
          <a:lstStyle/>
          <a:p>
            <a:endParaRPr lang="en-US"/>
          </a:p>
        </p:txBody>
      </p:sp>
      <p:sp>
        <p:nvSpPr>
          <p:cNvPr id="13" name="Shape 11"/>
          <p:cNvSpPr/>
          <p:nvPr/>
        </p:nvSpPr>
        <p:spPr>
          <a:xfrm>
            <a:off x="859536" y="2926080"/>
            <a:ext cx="347472" cy="347472"/>
          </a:xfrm>
          <a:prstGeom prst="ellipse">
            <a:avLst/>
          </a:prstGeom>
          <a:solidFill>
            <a:srgbClr val="2A6FB5"/>
          </a:solidFill>
          <a:ln w="12700">
            <a:solidFill>
              <a:srgbClr val="2A6FB5"/>
            </a:solidFill>
            <a:prstDash val="solid"/>
          </a:ln>
        </p:spPr>
        <p:txBody>
          <a:bodyPr/>
          <a:lstStyle/>
          <a:p>
            <a:endParaRPr lang="en-US"/>
          </a:p>
        </p:txBody>
      </p:sp>
      <p:sp>
        <p:nvSpPr>
          <p:cNvPr id="14" name="Text 12"/>
          <p:cNvSpPr/>
          <p:nvPr/>
        </p:nvSpPr>
        <p:spPr>
          <a:xfrm>
            <a:off x="859536" y="292608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353312" y="2834640"/>
            <a:ext cx="4553712" cy="53035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Open Google Cloud</a:t>
            </a:r>
            <a:r>
              <a:rPr lang="en-US" sz="1350" dirty="0">
                <a:solidFill>
                  <a:srgbClr val="5C6B7A"/>
                </a:solidFill>
                <a:latin typeface="Calibri" pitchFamily="34" charset="0"/>
                <a:ea typeface="Calibri" pitchFamily="34" charset="-122"/>
                <a:cs typeface="Calibri" pitchFamily="34" charset="-120"/>
              </a:rPr>
              <a:t>   console.cloud.google.com</a:t>
            </a:r>
            <a:endParaRPr lang="en-US" sz="1350" dirty="0"/>
          </a:p>
        </p:txBody>
      </p:sp>
      <p:sp>
        <p:nvSpPr>
          <p:cNvPr id="16" name="Shape 14"/>
          <p:cNvSpPr/>
          <p:nvPr/>
        </p:nvSpPr>
        <p:spPr>
          <a:xfrm>
            <a:off x="658368" y="3465576"/>
            <a:ext cx="5486400" cy="530352"/>
          </a:xfrm>
          <a:prstGeom prst="roundRect">
            <a:avLst>
              <a:gd name="adj" fmla="val 12069"/>
            </a:avLst>
          </a:prstGeom>
          <a:solidFill>
            <a:srgbClr val="F2F5F9"/>
          </a:solidFill>
          <a:ln w="12700">
            <a:solidFill>
              <a:srgbClr val="F2F5F9"/>
            </a:solidFill>
            <a:prstDash val="solid"/>
          </a:ln>
        </p:spPr>
        <p:txBody>
          <a:bodyPr/>
          <a:lstStyle/>
          <a:p>
            <a:endParaRPr lang="en-US"/>
          </a:p>
        </p:txBody>
      </p:sp>
      <p:sp>
        <p:nvSpPr>
          <p:cNvPr id="17" name="Shape 15"/>
          <p:cNvSpPr/>
          <p:nvPr/>
        </p:nvSpPr>
        <p:spPr>
          <a:xfrm>
            <a:off x="859536" y="3557016"/>
            <a:ext cx="347472" cy="347472"/>
          </a:xfrm>
          <a:prstGeom prst="ellipse">
            <a:avLst/>
          </a:prstGeom>
          <a:solidFill>
            <a:srgbClr val="2A6FB5"/>
          </a:solidFill>
          <a:ln w="12700">
            <a:solidFill>
              <a:srgbClr val="2A6FB5"/>
            </a:solidFill>
            <a:prstDash val="solid"/>
          </a:ln>
        </p:spPr>
        <p:txBody>
          <a:bodyPr/>
          <a:lstStyle/>
          <a:p>
            <a:endParaRPr lang="en-US"/>
          </a:p>
        </p:txBody>
      </p:sp>
      <p:sp>
        <p:nvSpPr>
          <p:cNvPr id="18" name="Text 16"/>
          <p:cNvSpPr/>
          <p:nvPr/>
        </p:nvSpPr>
        <p:spPr>
          <a:xfrm>
            <a:off x="859536" y="35570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353312" y="3465576"/>
            <a:ext cx="4553712" cy="53035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Create or select a project</a:t>
            </a:r>
            <a:r>
              <a:rPr lang="en-US" sz="1350" dirty="0">
                <a:solidFill>
                  <a:srgbClr val="5C6B7A"/>
                </a:solidFill>
                <a:latin typeface="Calibri" pitchFamily="34" charset="0"/>
                <a:ea typeface="Calibri" pitchFamily="34" charset="-122"/>
                <a:cs typeface="Calibri" pitchFamily="34" charset="-120"/>
              </a:rPr>
              <a:t>   for example “n8n Google Drive”</a:t>
            </a:r>
            <a:endParaRPr lang="en-US" sz="1350" dirty="0"/>
          </a:p>
        </p:txBody>
      </p:sp>
      <p:sp>
        <p:nvSpPr>
          <p:cNvPr id="20" name="Shape 18"/>
          <p:cNvSpPr/>
          <p:nvPr/>
        </p:nvSpPr>
        <p:spPr>
          <a:xfrm>
            <a:off x="6419088" y="1481328"/>
            <a:ext cx="5205679" cy="2077071"/>
          </a:xfrm>
          <a:prstGeom prst="roundRect">
            <a:avLst>
              <a:gd name="adj" fmla="val 2641"/>
            </a:avLst>
          </a:prstGeom>
          <a:solidFill>
            <a:srgbClr val="F2F5F9"/>
          </a:solidFill>
          <a:ln w="12700">
            <a:solidFill>
              <a:srgbClr val="E4EBF3"/>
            </a:solidFill>
            <a:prstDash val="solid"/>
          </a:ln>
        </p:spPr>
        <p:txBody>
          <a:bodyPr/>
          <a:lstStyle/>
          <a:p>
            <a:endParaRPr lang="en-US"/>
          </a:p>
        </p:txBody>
      </p:sp>
      <p:pic>
        <p:nvPicPr>
          <p:cNvPr id="21" name="Image 0" descr="/tmp/build/img/image2s.png"/>
          <p:cNvPicPr>
            <a:picLocks noChangeAspect="1"/>
          </p:cNvPicPr>
          <p:nvPr/>
        </p:nvPicPr>
        <p:blipFill>
          <a:blip r:embed="rId3"/>
          <a:stretch>
            <a:fillRect/>
          </a:stretch>
        </p:blipFill>
        <p:spPr>
          <a:xfrm>
            <a:off x="6510528" y="1572768"/>
            <a:ext cx="5022799" cy="1894191"/>
          </a:xfrm>
          <a:prstGeom prst="rect">
            <a:avLst/>
          </a:prstGeom>
        </p:spPr>
      </p:pic>
      <p:sp>
        <p:nvSpPr>
          <p:cNvPr id="22" name="Text 19"/>
          <p:cNvSpPr/>
          <p:nvPr/>
        </p:nvSpPr>
        <p:spPr>
          <a:xfrm>
            <a:off x="6419088" y="3613263"/>
            <a:ext cx="5205679"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The tick shows the active project — this name must stay in the top bar.</a:t>
            </a:r>
            <a:endParaRPr lang="en-US" sz="1100" dirty="0"/>
          </a:p>
        </p:txBody>
      </p:sp>
      <p:sp>
        <p:nvSpPr>
          <p:cNvPr id="23" name="Shape 20"/>
          <p:cNvSpPr/>
          <p:nvPr/>
        </p:nvSpPr>
        <p:spPr>
          <a:xfrm>
            <a:off x="658368" y="4480560"/>
            <a:ext cx="10874959" cy="1280160"/>
          </a:xfrm>
          <a:prstGeom prst="roundRect">
            <a:avLst>
              <a:gd name="adj" fmla="val 5714"/>
            </a:avLst>
          </a:prstGeom>
          <a:solidFill>
            <a:srgbClr val="E4EBF3"/>
          </a:solidFill>
          <a:ln w="12700">
            <a:solidFill>
              <a:srgbClr val="E4EBF3"/>
            </a:solidFill>
            <a:prstDash val="solid"/>
          </a:ln>
        </p:spPr>
        <p:txBody>
          <a:bodyPr/>
          <a:lstStyle/>
          <a:p>
            <a:endParaRPr lang="en-US"/>
          </a:p>
        </p:txBody>
      </p:sp>
      <p:sp>
        <p:nvSpPr>
          <p:cNvPr id="24" name="Text 21"/>
          <p:cNvSpPr/>
          <p:nvPr/>
        </p:nvSpPr>
        <p:spPr>
          <a:xfrm>
            <a:off x="932688" y="4626864"/>
            <a:ext cx="10326319" cy="219456"/>
          </a:xfrm>
          <a:prstGeom prst="rect">
            <a:avLst/>
          </a:prstGeom>
          <a:noFill/>
          <a:ln/>
        </p:spPr>
        <p:txBody>
          <a:bodyPr wrap="square" lIns="0" tIns="0" rIns="0" bIns="0" rtlCol="0" anchor="ctr"/>
          <a:lstStyle/>
          <a:p>
            <a:pPr marL="0" indent="0" algn="l">
              <a:buNone/>
            </a:pPr>
            <a:r>
              <a:rPr lang="en-US" sz="1050" b="1" kern="0" spc="160" dirty="0">
                <a:solidFill>
                  <a:srgbClr val="13233F"/>
                </a:solidFill>
                <a:latin typeface="Calibri" pitchFamily="34" charset="0"/>
                <a:ea typeface="Calibri" pitchFamily="34" charset="-122"/>
                <a:cs typeface="Calibri" pitchFamily="34" charset="-120"/>
              </a:rPr>
              <a:t>WRITE IT DOWN — YOU WILL NEED BOTH</a:t>
            </a:r>
            <a:endParaRPr lang="en-US" sz="1050" dirty="0"/>
          </a:p>
        </p:txBody>
      </p:sp>
      <p:sp>
        <p:nvSpPr>
          <p:cNvPr id="25" name="Text 22"/>
          <p:cNvSpPr/>
          <p:nvPr/>
        </p:nvSpPr>
        <p:spPr>
          <a:xfrm>
            <a:off x="932688" y="4882896"/>
            <a:ext cx="10326319" cy="71323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Project name: ________________________________          Project ID: ________________________________</a:t>
            </a:r>
            <a:endParaRPr lang="en-US" sz="1400" dirty="0"/>
          </a:p>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Google’s error messages name your project by ID, never by the friendly name.</a:t>
            </a:r>
            <a:endParaRPr lang="en-US" sz="1400" dirty="0"/>
          </a:p>
        </p:txBody>
      </p:sp>
      <p:sp>
        <p:nvSpPr>
          <p:cNvPr id="26" name="Text 23"/>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STEP 3</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Enable the Google Drive API</a:t>
            </a:r>
            <a:endParaRPr lang="en-US" sz="3000" dirty="0"/>
          </a:p>
        </p:txBody>
      </p:sp>
      <p:sp>
        <p:nvSpPr>
          <p:cNvPr id="4" name="Shape 2"/>
          <p:cNvSpPr/>
          <p:nvPr/>
        </p:nvSpPr>
        <p:spPr>
          <a:xfrm>
            <a:off x="658368" y="1572768"/>
            <a:ext cx="5120640" cy="530352"/>
          </a:xfrm>
          <a:prstGeom prst="roundRect">
            <a:avLst>
              <a:gd name="adj" fmla="val 12069"/>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59536" y="1664208"/>
            <a:ext cx="347472" cy="347472"/>
          </a:xfrm>
          <a:prstGeom prst="ellipse">
            <a:avLst/>
          </a:prstGeom>
          <a:solidFill>
            <a:srgbClr val="2A6FB5"/>
          </a:solidFill>
          <a:ln w="12700">
            <a:solidFill>
              <a:srgbClr val="2A6FB5"/>
            </a:solidFill>
            <a:prstDash val="solid"/>
          </a:ln>
        </p:spPr>
        <p:txBody>
          <a:bodyPr/>
          <a:lstStyle/>
          <a:p>
            <a:endParaRPr lang="en-US"/>
          </a:p>
        </p:txBody>
      </p:sp>
      <p:sp>
        <p:nvSpPr>
          <p:cNvPr id="6" name="Text 4"/>
          <p:cNvSpPr/>
          <p:nvPr/>
        </p:nvSpPr>
        <p:spPr>
          <a:xfrm>
            <a:off x="859536" y="166420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572768"/>
            <a:ext cx="4187952" cy="53035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Check the top bar</a:t>
            </a:r>
            <a:r>
              <a:rPr lang="en-US" sz="1350" dirty="0">
                <a:solidFill>
                  <a:srgbClr val="5C6B7A"/>
                </a:solidFill>
                <a:latin typeface="Calibri" pitchFamily="34" charset="0"/>
                <a:ea typeface="Calibri" pitchFamily="34" charset="-122"/>
                <a:cs typeface="Calibri" pitchFamily="34" charset="-120"/>
              </a:rPr>
              <a:t>   your project must be the selected one</a:t>
            </a:r>
            <a:endParaRPr lang="en-US" sz="1350" dirty="0"/>
          </a:p>
        </p:txBody>
      </p:sp>
      <p:sp>
        <p:nvSpPr>
          <p:cNvPr id="8" name="Shape 6"/>
          <p:cNvSpPr/>
          <p:nvPr/>
        </p:nvSpPr>
        <p:spPr>
          <a:xfrm>
            <a:off x="658368" y="2203704"/>
            <a:ext cx="5120640" cy="530352"/>
          </a:xfrm>
          <a:prstGeom prst="roundRect">
            <a:avLst>
              <a:gd name="adj" fmla="val 12069"/>
            </a:avLst>
          </a:prstGeom>
          <a:solidFill>
            <a:srgbClr val="F2F5F9"/>
          </a:solidFill>
          <a:ln w="12700">
            <a:solidFill>
              <a:srgbClr val="F2F5F9"/>
            </a:solidFill>
            <a:prstDash val="solid"/>
          </a:ln>
        </p:spPr>
        <p:txBody>
          <a:bodyPr/>
          <a:lstStyle/>
          <a:p>
            <a:endParaRPr lang="en-US"/>
          </a:p>
        </p:txBody>
      </p:sp>
      <p:sp>
        <p:nvSpPr>
          <p:cNvPr id="9" name="Shape 7"/>
          <p:cNvSpPr/>
          <p:nvPr/>
        </p:nvSpPr>
        <p:spPr>
          <a:xfrm>
            <a:off x="859536" y="2295144"/>
            <a:ext cx="347472" cy="347472"/>
          </a:xfrm>
          <a:prstGeom prst="ellipse">
            <a:avLst/>
          </a:prstGeom>
          <a:solidFill>
            <a:srgbClr val="2A6FB5"/>
          </a:solidFill>
          <a:ln w="12700">
            <a:solidFill>
              <a:srgbClr val="2A6FB5"/>
            </a:solidFill>
            <a:prstDash val="solid"/>
          </a:ln>
        </p:spPr>
        <p:txBody>
          <a:bodyPr/>
          <a:lstStyle/>
          <a:p>
            <a:endParaRPr lang="en-US"/>
          </a:p>
        </p:txBody>
      </p:sp>
      <p:sp>
        <p:nvSpPr>
          <p:cNvPr id="10" name="Text 8"/>
          <p:cNvSpPr/>
          <p:nvPr/>
        </p:nvSpPr>
        <p:spPr>
          <a:xfrm>
            <a:off x="859536" y="229514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353312" y="2203704"/>
            <a:ext cx="4187952" cy="53035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APIs &amp; Services → Library</a:t>
            </a:r>
            <a:r>
              <a:rPr lang="en-US" sz="1350" dirty="0">
                <a:solidFill>
                  <a:srgbClr val="5C6B7A"/>
                </a:solidFill>
                <a:latin typeface="Calibri" pitchFamily="34" charset="0"/>
                <a:ea typeface="Calibri" pitchFamily="34" charset="-122"/>
                <a:cs typeface="Calibri" pitchFamily="34" charset="-120"/>
              </a:rPr>
              <a:t>   from the navigation menu</a:t>
            </a:r>
            <a:endParaRPr lang="en-US" sz="1350" dirty="0"/>
          </a:p>
        </p:txBody>
      </p:sp>
      <p:sp>
        <p:nvSpPr>
          <p:cNvPr id="12" name="Shape 10"/>
          <p:cNvSpPr/>
          <p:nvPr/>
        </p:nvSpPr>
        <p:spPr>
          <a:xfrm>
            <a:off x="658368" y="2834640"/>
            <a:ext cx="5120640" cy="530352"/>
          </a:xfrm>
          <a:prstGeom prst="roundRect">
            <a:avLst>
              <a:gd name="adj" fmla="val 12069"/>
            </a:avLst>
          </a:prstGeom>
          <a:solidFill>
            <a:srgbClr val="F2F5F9"/>
          </a:solidFill>
          <a:ln w="12700">
            <a:solidFill>
              <a:srgbClr val="F2F5F9"/>
            </a:solidFill>
            <a:prstDash val="solid"/>
          </a:ln>
        </p:spPr>
        <p:txBody>
          <a:bodyPr/>
          <a:lstStyle/>
          <a:p>
            <a:endParaRPr lang="en-US"/>
          </a:p>
        </p:txBody>
      </p:sp>
      <p:sp>
        <p:nvSpPr>
          <p:cNvPr id="13" name="Shape 11"/>
          <p:cNvSpPr/>
          <p:nvPr/>
        </p:nvSpPr>
        <p:spPr>
          <a:xfrm>
            <a:off x="859536" y="2926080"/>
            <a:ext cx="347472" cy="347472"/>
          </a:xfrm>
          <a:prstGeom prst="ellipse">
            <a:avLst/>
          </a:prstGeom>
          <a:solidFill>
            <a:srgbClr val="2A6FB5"/>
          </a:solidFill>
          <a:ln w="12700">
            <a:solidFill>
              <a:srgbClr val="2A6FB5"/>
            </a:solidFill>
            <a:prstDash val="solid"/>
          </a:ln>
        </p:spPr>
        <p:txBody>
          <a:bodyPr/>
          <a:lstStyle/>
          <a:p>
            <a:endParaRPr lang="en-US"/>
          </a:p>
        </p:txBody>
      </p:sp>
      <p:sp>
        <p:nvSpPr>
          <p:cNvPr id="14" name="Text 12"/>
          <p:cNvSpPr/>
          <p:nvPr/>
        </p:nvSpPr>
        <p:spPr>
          <a:xfrm>
            <a:off x="859536" y="292608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353312" y="2834640"/>
            <a:ext cx="4187952" cy="53035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Search “Google Drive API”</a:t>
            </a:r>
            <a:r>
              <a:rPr lang="en-US" sz="1350" dirty="0">
                <a:solidFill>
                  <a:srgbClr val="5C6B7A"/>
                </a:solidFill>
                <a:latin typeface="Calibri" pitchFamily="34" charset="0"/>
                <a:ea typeface="Calibri" pitchFamily="34" charset="-122"/>
                <a:cs typeface="Calibri" pitchFamily="34" charset="-120"/>
              </a:rPr>
              <a:t>   not Activity, not Labels</a:t>
            </a:r>
            <a:endParaRPr lang="en-US" sz="1350" dirty="0"/>
          </a:p>
        </p:txBody>
      </p:sp>
      <p:sp>
        <p:nvSpPr>
          <p:cNvPr id="16" name="Shape 14"/>
          <p:cNvSpPr/>
          <p:nvPr/>
        </p:nvSpPr>
        <p:spPr>
          <a:xfrm>
            <a:off x="658368" y="3465576"/>
            <a:ext cx="5120640" cy="530352"/>
          </a:xfrm>
          <a:prstGeom prst="roundRect">
            <a:avLst>
              <a:gd name="adj" fmla="val 12069"/>
            </a:avLst>
          </a:prstGeom>
          <a:solidFill>
            <a:srgbClr val="F2F5F9"/>
          </a:solidFill>
          <a:ln w="12700">
            <a:solidFill>
              <a:srgbClr val="F2F5F9"/>
            </a:solidFill>
            <a:prstDash val="solid"/>
          </a:ln>
        </p:spPr>
        <p:txBody>
          <a:bodyPr/>
          <a:lstStyle/>
          <a:p>
            <a:endParaRPr lang="en-US"/>
          </a:p>
        </p:txBody>
      </p:sp>
      <p:sp>
        <p:nvSpPr>
          <p:cNvPr id="17" name="Shape 15"/>
          <p:cNvSpPr/>
          <p:nvPr/>
        </p:nvSpPr>
        <p:spPr>
          <a:xfrm>
            <a:off x="859536" y="3557016"/>
            <a:ext cx="347472" cy="347472"/>
          </a:xfrm>
          <a:prstGeom prst="ellipse">
            <a:avLst/>
          </a:prstGeom>
          <a:solidFill>
            <a:srgbClr val="2A6FB5"/>
          </a:solidFill>
          <a:ln w="12700">
            <a:solidFill>
              <a:srgbClr val="2A6FB5"/>
            </a:solidFill>
            <a:prstDash val="solid"/>
          </a:ln>
        </p:spPr>
        <p:txBody>
          <a:bodyPr/>
          <a:lstStyle/>
          <a:p>
            <a:endParaRPr lang="en-US"/>
          </a:p>
        </p:txBody>
      </p:sp>
      <p:sp>
        <p:nvSpPr>
          <p:cNvPr id="18" name="Text 16"/>
          <p:cNvSpPr/>
          <p:nvPr/>
        </p:nvSpPr>
        <p:spPr>
          <a:xfrm>
            <a:off x="859536" y="35570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353312" y="3465576"/>
            <a:ext cx="4187952" cy="53035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Click Enable</a:t>
            </a:r>
            <a:r>
              <a:rPr lang="en-US" sz="1350" dirty="0">
                <a:solidFill>
                  <a:srgbClr val="5C6B7A"/>
                </a:solidFill>
                <a:latin typeface="Calibri" pitchFamily="34" charset="0"/>
                <a:ea typeface="Calibri" pitchFamily="34" charset="-122"/>
                <a:cs typeface="Calibri" pitchFamily="34" charset="-120"/>
              </a:rPr>
              <a:t>   and wait for the page to reload</a:t>
            </a:r>
            <a:endParaRPr lang="en-US" sz="1350" dirty="0"/>
          </a:p>
        </p:txBody>
      </p:sp>
      <p:sp>
        <p:nvSpPr>
          <p:cNvPr id="20" name="Shape 18"/>
          <p:cNvSpPr/>
          <p:nvPr/>
        </p:nvSpPr>
        <p:spPr>
          <a:xfrm>
            <a:off x="6572913" y="1481328"/>
            <a:ext cx="4440830" cy="2971800"/>
          </a:xfrm>
          <a:prstGeom prst="roundRect">
            <a:avLst>
              <a:gd name="adj" fmla="val 1846"/>
            </a:avLst>
          </a:prstGeom>
          <a:solidFill>
            <a:srgbClr val="F2F5F9"/>
          </a:solidFill>
          <a:ln w="12700">
            <a:solidFill>
              <a:srgbClr val="E4EBF3"/>
            </a:solidFill>
            <a:prstDash val="solid"/>
          </a:ln>
        </p:spPr>
        <p:txBody>
          <a:bodyPr/>
          <a:lstStyle/>
          <a:p>
            <a:endParaRPr lang="en-US"/>
          </a:p>
        </p:txBody>
      </p:sp>
      <p:pic>
        <p:nvPicPr>
          <p:cNvPr id="21" name="Image 0" descr="/tmp/build/img/image27.png"/>
          <p:cNvPicPr>
            <a:picLocks noChangeAspect="1"/>
          </p:cNvPicPr>
          <p:nvPr/>
        </p:nvPicPr>
        <p:blipFill>
          <a:blip r:embed="rId3"/>
          <a:stretch>
            <a:fillRect/>
          </a:stretch>
        </p:blipFill>
        <p:spPr>
          <a:xfrm>
            <a:off x="6664353" y="1572768"/>
            <a:ext cx="4257950" cy="2788920"/>
          </a:xfrm>
          <a:prstGeom prst="rect">
            <a:avLst/>
          </a:prstGeom>
        </p:spPr>
      </p:pic>
      <p:sp>
        <p:nvSpPr>
          <p:cNvPr id="22" name="Text 19"/>
          <p:cNvSpPr/>
          <p:nvPr/>
        </p:nvSpPr>
        <p:spPr>
          <a:xfrm>
            <a:off x="6572913" y="4507992"/>
            <a:ext cx="4440830"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Pick the first card — then check for the green API Enabled badge.</a:t>
            </a:r>
            <a:endParaRPr lang="en-US" sz="1100" dirty="0"/>
          </a:p>
        </p:txBody>
      </p:sp>
      <p:sp>
        <p:nvSpPr>
          <p:cNvPr id="23" name="Shape 20"/>
          <p:cNvSpPr/>
          <p:nvPr/>
        </p:nvSpPr>
        <p:spPr>
          <a:xfrm>
            <a:off x="658368" y="4709160"/>
            <a:ext cx="10874959" cy="1051560"/>
          </a:xfrm>
          <a:prstGeom prst="roundRect">
            <a:avLst>
              <a:gd name="adj" fmla="val 6957"/>
            </a:avLst>
          </a:prstGeom>
          <a:solidFill>
            <a:srgbClr val="FBEBEE"/>
          </a:solidFill>
          <a:ln w="12700">
            <a:solidFill>
              <a:srgbClr val="FBEBEE"/>
            </a:solidFill>
            <a:prstDash val="solid"/>
          </a:ln>
        </p:spPr>
        <p:txBody>
          <a:bodyPr/>
          <a:lstStyle/>
          <a:p>
            <a:endParaRPr lang="en-US"/>
          </a:p>
        </p:txBody>
      </p:sp>
      <p:sp>
        <p:nvSpPr>
          <p:cNvPr id="24" name="Text 21"/>
          <p:cNvSpPr/>
          <p:nvPr/>
        </p:nvSpPr>
        <p:spPr>
          <a:xfrm>
            <a:off x="932688" y="4855464"/>
            <a:ext cx="10326319" cy="219456"/>
          </a:xfrm>
          <a:prstGeom prst="rect">
            <a:avLst/>
          </a:prstGeom>
          <a:noFill/>
          <a:ln/>
        </p:spPr>
        <p:txBody>
          <a:bodyPr wrap="square" lIns="0" tIns="0" rIns="0" bIns="0" rtlCol="0" anchor="ctr"/>
          <a:lstStyle/>
          <a:p>
            <a:pPr marL="0" indent="0" algn="l">
              <a:buNone/>
            </a:pPr>
            <a:r>
              <a:rPr lang="en-US" sz="1050" b="1" kern="0" spc="160" dirty="0">
                <a:solidFill>
                  <a:srgbClr val="B32E4C"/>
                </a:solidFill>
                <a:latin typeface="Calibri" pitchFamily="34" charset="0"/>
                <a:ea typeface="Calibri" pitchFamily="34" charset="-122"/>
                <a:cs typeface="Calibri" pitchFamily="34" charset="-120"/>
              </a:rPr>
              <a:t>THE MOST COMMON FAILURE IN THE LAB</a:t>
            </a:r>
            <a:endParaRPr lang="en-US" sz="1050" dirty="0"/>
          </a:p>
        </p:txBody>
      </p:sp>
      <p:sp>
        <p:nvSpPr>
          <p:cNvPr id="25" name="Text 22"/>
          <p:cNvSpPr/>
          <p:nvPr/>
        </p:nvSpPr>
        <p:spPr>
          <a:xfrm>
            <a:off x="932688" y="5111496"/>
            <a:ext cx="10326319" cy="48463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Enable the API while the wrong project is selected and n8n will later say the Drive API “has not been used in project … or it is disabled”. Nothing you change in n8n will help — check the top bar before you click Enable.</a:t>
            </a:r>
            <a:endParaRPr lang="en-US" sz="1400" dirty="0"/>
          </a:p>
        </p:txBody>
      </p:sp>
      <p:sp>
        <p:nvSpPr>
          <p:cNvPr id="26" name="Text 23"/>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STEP 4A AND 4B</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Configure the consent screen</a:t>
            </a:r>
            <a:endParaRPr lang="en-US" sz="3000" dirty="0"/>
          </a:p>
        </p:txBody>
      </p:sp>
      <p:sp>
        <p:nvSpPr>
          <p:cNvPr id="4" name="Text 2"/>
          <p:cNvSpPr/>
          <p:nvPr/>
        </p:nvSpPr>
        <p:spPr>
          <a:xfrm>
            <a:off x="658368" y="1188720"/>
            <a:ext cx="10874959" cy="310896"/>
          </a:xfrm>
          <a:prstGeom prst="rect">
            <a:avLst/>
          </a:prstGeom>
          <a:noFill/>
          <a:ln/>
        </p:spPr>
        <p:txBody>
          <a:bodyPr wrap="square" lIns="0" tIns="0" rIns="0" bIns="0" rtlCol="0" anchor="ctr"/>
          <a:lstStyle/>
          <a:p>
            <a:pPr marL="0" indent="0" algn="l">
              <a:buNone/>
            </a:pPr>
            <a:r>
              <a:rPr lang="en-US" sz="1400" dirty="0">
                <a:solidFill>
                  <a:srgbClr val="5C6B7A"/>
                </a:solidFill>
                <a:latin typeface="Calibri" pitchFamily="34" charset="0"/>
                <a:ea typeface="Calibri" pitchFamily="34" charset="-122"/>
                <a:cs typeface="Calibri" pitchFamily="34" charset="-120"/>
              </a:rPr>
              <a:t>In the current console this lives under Google Auth Platform, not the old OAuth consent screen page.</a:t>
            </a:r>
            <a:endParaRPr lang="en-US" sz="1400" dirty="0"/>
          </a:p>
        </p:txBody>
      </p:sp>
      <p:sp>
        <p:nvSpPr>
          <p:cNvPr id="5" name="Shape 3"/>
          <p:cNvSpPr/>
          <p:nvPr/>
        </p:nvSpPr>
        <p:spPr>
          <a:xfrm>
            <a:off x="658368" y="1627632"/>
            <a:ext cx="525780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6" name="Shape 4"/>
          <p:cNvSpPr/>
          <p:nvPr/>
        </p:nvSpPr>
        <p:spPr>
          <a:xfrm>
            <a:off x="859536" y="1691640"/>
            <a:ext cx="347472" cy="347472"/>
          </a:xfrm>
          <a:prstGeom prst="ellipse">
            <a:avLst/>
          </a:prstGeom>
          <a:solidFill>
            <a:srgbClr val="2A6FB5"/>
          </a:solidFill>
          <a:ln w="12700">
            <a:solidFill>
              <a:srgbClr val="2A6FB5"/>
            </a:solidFill>
            <a:prstDash val="solid"/>
          </a:ln>
        </p:spPr>
        <p:txBody>
          <a:bodyPr/>
          <a:lstStyle/>
          <a:p>
            <a:endParaRPr lang="en-US"/>
          </a:p>
        </p:txBody>
      </p:sp>
      <p:sp>
        <p:nvSpPr>
          <p:cNvPr id="7" name="Text 5"/>
          <p:cNvSpPr/>
          <p:nvPr/>
        </p:nvSpPr>
        <p:spPr>
          <a:xfrm>
            <a:off x="859536" y="16916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53312" y="1627632"/>
            <a:ext cx="432511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Google Auth Platform</a:t>
            </a:r>
            <a:r>
              <a:rPr lang="en-US" sz="1350" dirty="0">
                <a:solidFill>
                  <a:srgbClr val="5C6B7A"/>
                </a:solidFill>
                <a:latin typeface="Calibri" pitchFamily="34" charset="0"/>
                <a:ea typeface="Calibri" pitchFamily="34" charset="-122"/>
                <a:cs typeface="Calibri" pitchFamily="34" charset="-120"/>
              </a:rPr>
              <a:t>   then Get started on a fresh project</a:t>
            </a:r>
            <a:endParaRPr lang="en-US" sz="1350" dirty="0"/>
          </a:p>
        </p:txBody>
      </p:sp>
      <p:sp>
        <p:nvSpPr>
          <p:cNvPr id="9" name="Shape 7"/>
          <p:cNvSpPr/>
          <p:nvPr/>
        </p:nvSpPr>
        <p:spPr>
          <a:xfrm>
            <a:off x="658368" y="2194560"/>
            <a:ext cx="525780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10" name="Shape 8"/>
          <p:cNvSpPr/>
          <p:nvPr/>
        </p:nvSpPr>
        <p:spPr>
          <a:xfrm>
            <a:off x="859536" y="2258568"/>
            <a:ext cx="347472" cy="347472"/>
          </a:xfrm>
          <a:prstGeom prst="ellipse">
            <a:avLst/>
          </a:prstGeom>
          <a:solidFill>
            <a:srgbClr val="2A6FB5"/>
          </a:solidFill>
          <a:ln w="12700">
            <a:solidFill>
              <a:srgbClr val="2A6FB5"/>
            </a:solidFill>
            <a:prstDash val="solid"/>
          </a:ln>
        </p:spPr>
        <p:txBody>
          <a:bodyPr/>
          <a:lstStyle/>
          <a:p>
            <a:endParaRPr lang="en-US"/>
          </a:p>
        </p:txBody>
      </p:sp>
      <p:sp>
        <p:nvSpPr>
          <p:cNvPr id="11" name="Text 9"/>
          <p:cNvSpPr/>
          <p:nvPr/>
        </p:nvSpPr>
        <p:spPr>
          <a:xfrm>
            <a:off x="859536" y="225856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353312" y="2194560"/>
            <a:ext cx="432511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App Information</a:t>
            </a:r>
            <a:r>
              <a:rPr lang="en-US" sz="1350" dirty="0">
                <a:solidFill>
                  <a:srgbClr val="5C6B7A"/>
                </a:solidFill>
                <a:latin typeface="Calibri" pitchFamily="34" charset="0"/>
                <a:ea typeface="Calibri" pitchFamily="34" charset="-122"/>
                <a:cs typeface="Calibri" pitchFamily="34" charset="-120"/>
              </a:rPr>
              <a:t>   app name + your support email</a:t>
            </a:r>
            <a:endParaRPr lang="en-US" sz="1350" dirty="0"/>
          </a:p>
        </p:txBody>
      </p:sp>
      <p:sp>
        <p:nvSpPr>
          <p:cNvPr id="13" name="Shape 11"/>
          <p:cNvSpPr/>
          <p:nvPr/>
        </p:nvSpPr>
        <p:spPr>
          <a:xfrm>
            <a:off x="658368" y="2761488"/>
            <a:ext cx="525780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14" name="Shape 12"/>
          <p:cNvSpPr/>
          <p:nvPr/>
        </p:nvSpPr>
        <p:spPr>
          <a:xfrm>
            <a:off x="859536" y="2825496"/>
            <a:ext cx="347472" cy="347472"/>
          </a:xfrm>
          <a:prstGeom prst="ellipse">
            <a:avLst/>
          </a:prstGeom>
          <a:solidFill>
            <a:srgbClr val="2A6FB5"/>
          </a:solidFill>
          <a:ln w="12700">
            <a:solidFill>
              <a:srgbClr val="2A6FB5"/>
            </a:solidFill>
            <a:prstDash val="solid"/>
          </a:ln>
        </p:spPr>
        <p:txBody>
          <a:bodyPr/>
          <a:lstStyle/>
          <a:p>
            <a:endParaRPr lang="en-US"/>
          </a:p>
        </p:txBody>
      </p:sp>
      <p:sp>
        <p:nvSpPr>
          <p:cNvPr id="15" name="Text 13"/>
          <p:cNvSpPr/>
          <p:nvPr/>
        </p:nvSpPr>
        <p:spPr>
          <a:xfrm>
            <a:off x="859536" y="282549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353312" y="2761488"/>
            <a:ext cx="432511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Audience: External</a:t>
            </a:r>
            <a:r>
              <a:rPr lang="en-US" sz="1350" dirty="0">
                <a:solidFill>
                  <a:srgbClr val="5C6B7A"/>
                </a:solidFill>
                <a:latin typeface="Calibri" pitchFamily="34" charset="0"/>
                <a:ea typeface="Calibri" pitchFamily="34" charset="-122"/>
                <a:cs typeface="Calibri" pitchFamily="34" charset="-120"/>
              </a:rPr>
              <a:t>   the only option for a personal account</a:t>
            </a:r>
            <a:endParaRPr lang="en-US" sz="1350" dirty="0"/>
          </a:p>
        </p:txBody>
      </p:sp>
      <p:sp>
        <p:nvSpPr>
          <p:cNvPr id="17" name="Shape 15"/>
          <p:cNvSpPr/>
          <p:nvPr/>
        </p:nvSpPr>
        <p:spPr>
          <a:xfrm>
            <a:off x="658368" y="3328416"/>
            <a:ext cx="525780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18" name="Shape 16"/>
          <p:cNvSpPr/>
          <p:nvPr/>
        </p:nvSpPr>
        <p:spPr>
          <a:xfrm>
            <a:off x="859536" y="3392424"/>
            <a:ext cx="347472" cy="347472"/>
          </a:xfrm>
          <a:prstGeom prst="ellipse">
            <a:avLst/>
          </a:prstGeom>
          <a:solidFill>
            <a:srgbClr val="2A6FB5"/>
          </a:solidFill>
          <a:ln w="12700">
            <a:solidFill>
              <a:srgbClr val="2A6FB5"/>
            </a:solidFill>
            <a:prstDash val="solid"/>
          </a:ln>
        </p:spPr>
        <p:txBody>
          <a:bodyPr/>
          <a:lstStyle/>
          <a:p>
            <a:endParaRPr lang="en-US"/>
          </a:p>
        </p:txBody>
      </p:sp>
      <p:sp>
        <p:nvSpPr>
          <p:cNvPr id="19" name="Text 17"/>
          <p:cNvSpPr/>
          <p:nvPr/>
        </p:nvSpPr>
        <p:spPr>
          <a:xfrm>
            <a:off x="859536" y="33924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1353312" y="3328416"/>
            <a:ext cx="432511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Contact Information</a:t>
            </a:r>
            <a:r>
              <a:rPr lang="en-US" sz="1350" dirty="0">
                <a:solidFill>
                  <a:srgbClr val="5C6B7A"/>
                </a:solidFill>
                <a:latin typeface="Calibri" pitchFamily="34" charset="0"/>
                <a:ea typeface="Calibri" pitchFamily="34" charset="-122"/>
                <a:cs typeface="Calibri" pitchFamily="34" charset="-120"/>
              </a:rPr>
              <a:t>   your own email again</a:t>
            </a:r>
            <a:endParaRPr lang="en-US" sz="1350" dirty="0"/>
          </a:p>
        </p:txBody>
      </p:sp>
      <p:sp>
        <p:nvSpPr>
          <p:cNvPr id="21" name="Shape 19"/>
          <p:cNvSpPr/>
          <p:nvPr/>
        </p:nvSpPr>
        <p:spPr>
          <a:xfrm>
            <a:off x="658368" y="3895344"/>
            <a:ext cx="525780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22" name="Shape 20"/>
          <p:cNvSpPr/>
          <p:nvPr/>
        </p:nvSpPr>
        <p:spPr>
          <a:xfrm>
            <a:off x="859536" y="3959352"/>
            <a:ext cx="347472" cy="347472"/>
          </a:xfrm>
          <a:prstGeom prst="ellipse">
            <a:avLst/>
          </a:prstGeom>
          <a:solidFill>
            <a:srgbClr val="2A6FB5"/>
          </a:solidFill>
          <a:ln w="12700">
            <a:solidFill>
              <a:srgbClr val="2A6FB5"/>
            </a:solidFill>
            <a:prstDash val="solid"/>
          </a:ln>
        </p:spPr>
        <p:txBody>
          <a:bodyPr/>
          <a:lstStyle/>
          <a:p>
            <a:endParaRPr lang="en-US"/>
          </a:p>
        </p:txBody>
      </p:sp>
      <p:sp>
        <p:nvSpPr>
          <p:cNvPr id="23" name="Text 21"/>
          <p:cNvSpPr/>
          <p:nvPr/>
        </p:nvSpPr>
        <p:spPr>
          <a:xfrm>
            <a:off x="859536" y="395935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p:nvPr/>
        </p:nvSpPr>
        <p:spPr>
          <a:xfrm>
            <a:off x="1353312" y="3895344"/>
            <a:ext cx="432511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Finish → Create</a:t>
            </a:r>
            <a:r>
              <a:rPr lang="en-US" sz="1350" dirty="0">
                <a:solidFill>
                  <a:srgbClr val="5C6B7A"/>
                </a:solidFill>
                <a:latin typeface="Calibri" pitchFamily="34" charset="0"/>
                <a:ea typeface="Calibri" pitchFamily="34" charset="-122"/>
                <a:cs typeface="Calibri" pitchFamily="34" charset="-120"/>
              </a:rPr>
              <a:t>   agree to the policy and create</a:t>
            </a:r>
            <a:endParaRPr lang="en-US" sz="1350" dirty="0"/>
          </a:p>
        </p:txBody>
      </p:sp>
      <p:sp>
        <p:nvSpPr>
          <p:cNvPr id="25" name="Shape 23"/>
          <p:cNvSpPr/>
          <p:nvPr/>
        </p:nvSpPr>
        <p:spPr>
          <a:xfrm>
            <a:off x="7098306" y="1536192"/>
            <a:ext cx="3618643" cy="2468880"/>
          </a:xfrm>
          <a:prstGeom prst="roundRect">
            <a:avLst>
              <a:gd name="adj" fmla="val 2222"/>
            </a:avLst>
          </a:prstGeom>
          <a:solidFill>
            <a:srgbClr val="F2F5F9"/>
          </a:solidFill>
          <a:ln w="12700">
            <a:solidFill>
              <a:srgbClr val="E4EBF3"/>
            </a:solidFill>
            <a:prstDash val="solid"/>
          </a:ln>
        </p:spPr>
        <p:txBody>
          <a:bodyPr/>
          <a:lstStyle/>
          <a:p>
            <a:endParaRPr lang="en-US"/>
          </a:p>
        </p:txBody>
      </p:sp>
      <p:pic>
        <p:nvPicPr>
          <p:cNvPr id="26" name="Image 0" descr="/tmp/build/img/image24.png"/>
          <p:cNvPicPr>
            <a:picLocks noChangeAspect="1"/>
          </p:cNvPicPr>
          <p:nvPr/>
        </p:nvPicPr>
        <p:blipFill>
          <a:blip r:embed="rId3"/>
          <a:stretch>
            <a:fillRect/>
          </a:stretch>
        </p:blipFill>
        <p:spPr>
          <a:xfrm>
            <a:off x="7189746" y="1627632"/>
            <a:ext cx="3435763" cy="2286000"/>
          </a:xfrm>
          <a:prstGeom prst="rect">
            <a:avLst/>
          </a:prstGeom>
        </p:spPr>
      </p:pic>
      <p:sp>
        <p:nvSpPr>
          <p:cNvPr id="27" name="Text 24"/>
          <p:cNvSpPr/>
          <p:nvPr/>
        </p:nvSpPr>
        <p:spPr>
          <a:xfrm>
            <a:off x="7098306" y="4059936"/>
            <a:ext cx="3618643"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The four-step form. Each section opens as you finish the one above.</a:t>
            </a:r>
            <a:endParaRPr lang="en-US" sz="1100" dirty="0"/>
          </a:p>
        </p:txBody>
      </p:sp>
      <p:sp>
        <p:nvSpPr>
          <p:cNvPr id="28" name="Shape 25"/>
          <p:cNvSpPr/>
          <p:nvPr/>
        </p:nvSpPr>
        <p:spPr>
          <a:xfrm>
            <a:off x="658368" y="4709160"/>
            <a:ext cx="10874959" cy="1051560"/>
          </a:xfrm>
          <a:prstGeom prst="roundRect">
            <a:avLst>
              <a:gd name="adj" fmla="val 6957"/>
            </a:avLst>
          </a:prstGeom>
          <a:solidFill>
            <a:srgbClr val="EAF1FA"/>
          </a:solidFill>
          <a:ln w="12700">
            <a:solidFill>
              <a:srgbClr val="EAF1FA"/>
            </a:solidFill>
            <a:prstDash val="solid"/>
          </a:ln>
        </p:spPr>
        <p:txBody>
          <a:bodyPr/>
          <a:lstStyle/>
          <a:p>
            <a:endParaRPr lang="en-US"/>
          </a:p>
        </p:txBody>
      </p:sp>
      <p:sp>
        <p:nvSpPr>
          <p:cNvPr id="29" name="Text 26"/>
          <p:cNvSpPr/>
          <p:nvPr/>
        </p:nvSpPr>
        <p:spPr>
          <a:xfrm>
            <a:off x="932688" y="4855464"/>
            <a:ext cx="10326319" cy="219456"/>
          </a:xfrm>
          <a:prstGeom prst="rect">
            <a:avLst/>
          </a:prstGeom>
          <a:noFill/>
          <a:ln/>
        </p:spPr>
        <p:txBody>
          <a:bodyPr wrap="square" lIns="0" tIns="0" rIns="0" bIns="0" rtlCol="0" anchor="ctr"/>
          <a:lstStyle/>
          <a:p>
            <a:pPr marL="0" indent="0" algn="l">
              <a:buNone/>
            </a:pPr>
            <a:r>
              <a:rPr lang="en-US" sz="1050" b="1" kern="0" spc="160" dirty="0">
                <a:solidFill>
                  <a:srgbClr val="2A6FB5"/>
                </a:solidFill>
                <a:latin typeface="Calibri" pitchFamily="34" charset="0"/>
                <a:ea typeface="Calibri" pitchFamily="34" charset="-122"/>
                <a:cs typeface="Calibri" pitchFamily="34" charset="-120"/>
              </a:rPr>
              <a:t>NO PUBLISHING, NO VERIFICATION</a:t>
            </a:r>
            <a:endParaRPr lang="en-US" sz="1050" dirty="0"/>
          </a:p>
        </p:txBody>
      </p:sp>
      <p:sp>
        <p:nvSpPr>
          <p:cNvPr id="30" name="Text 27"/>
          <p:cNvSpPr/>
          <p:nvPr/>
        </p:nvSpPr>
        <p:spPr>
          <a:xfrm>
            <a:off x="932688" y="5111496"/>
            <a:ext cx="10326319" cy="48463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You do not need to publish the app and you do not need Google verification — that process is for applications used by the public. A classroom project stays in Testing mode indefinitely, with a cap of 100 test users.</a:t>
            </a:r>
            <a:endParaRPr lang="en-US" sz="1400" dirty="0"/>
          </a:p>
        </p:txBody>
      </p:sp>
      <p:sp>
        <p:nvSpPr>
          <p:cNvPr id="31" name="Text 28"/>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STEP 4C</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Add yourself as a test user</a:t>
            </a:r>
            <a:endParaRPr lang="en-US" sz="3000" dirty="0"/>
          </a:p>
        </p:txBody>
      </p:sp>
      <p:sp>
        <p:nvSpPr>
          <p:cNvPr id="4" name="Text 2"/>
          <p:cNvSpPr/>
          <p:nvPr/>
        </p:nvSpPr>
        <p:spPr>
          <a:xfrm>
            <a:off x="658368" y="1188720"/>
            <a:ext cx="10874959" cy="310896"/>
          </a:xfrm>
          <a:prstGeom prst="rect">
            <a:avLst/>
          </a:prstGeom>
          <a:noFill/>
          <a:ln/>
        </p:spPr>
        <p:txBody>
          <a:bodyPr wrap="square" lIns="0" tIns="0" rIns="0" bIns="0" rtlCol="0" anchor="ctr"/>
          <a:lstStyle/>
          <a:p>
            <a:pPr marL="0" indent="0" algn="l">
              <a:buNone/>
            </a:pPr>
            <a:r>
              <a:rPr lang="en-US" sz="1400" dirty="0">
                <a:solidFill>
                  <a:srgbClr val="5C6B7A"/>
                </a:solidFill>
                <a:latin typeface="Calibri" pitchFamily="34" charset="0"/>
                <a:ea typeface="Calibri" pitchFamily="34" charset="-122"/>
                <a:cs typeface="Calibri" pitchFamily="34" charset="-120"/>
              </a:rPr>
              <a:t>Separate page, easy to miss — and skipping it is the number one cause of the 403 error.</a:t>
            </a:r>
            <a:endParaRPr lang="en-US" sz="1400" dirty="0"/>
          </a:p>
        </p:txBody>
      </p:sp>
      <p:sp>
        <p:nvSpPr>
          <p:cNvPr id="5" name="Shape 3"/>
          <p:cNvSpPr/>
          <p:nvPr/>
        </p:nvSpPr>
        <p:spPr>
          <a:xfrm>
            <a:off x="658368" y="1627632"/>
            <a:ext cx="5486400" cy="496062"/>
          </a:xfrm>
          <a:prstGeom prst="roundRect">
            <a:avLst>
              <a:gd name="adj" fmla="val 12903"/>
            </a:avLst>
          </a:prstGeom>
          <a:solidFill>
            <a:srgbClr val="F2F5F9"/>
          </a:solidFill>
          <a:ln w="12700">
            <a:solidFill>
              <a:srgbClr val="F2F5F9"/>
            </a:solidFill>
            <a:prstDash val="solid"/>
          </a:ln>
        </p:spPr>
        <p:txBody>
          <a:bodyPr/>
          <a:lstStyle/>
          <a:p>
            <a:endParaRPr lang="en-US"/>
          </a:p>
        </p:txBody>
      </p:sp>
      <p:sp>
        <p:nvSpPr>
          <p:cNvPr id="6" name="Shape 4"/>
          <p:cNvSpPr/>
          <p:nvPr/>
        </p:nvSpPr>
        <p:spPr>
          <a:xfrm>
            <a:off x="859536" y="1701927"/>
            <a:ext cx="347472" cy="347472"/>
          </a:xfrm>
          <a:prstGeom prst="ellipse">
            <a:avLst/>
          </a:prstGeom>
          <a:solidFill>
            <a:srgbClr val="E04E6B"/>
          </a:solidFill>
          <a:ln w="12700">
            <a:solidFill>
              <a:srgbClr val="E04E6B"/>
            </a:solidFill>
            <a:prstDash val="solid"/>
          </a:ln>
        </p:spPr>
        <p:txBody>
          <a:bodyPr/>
          <a:lstStyle/>
          <a:p>
            <a:endParaRPr lang="en-US"/>
          </a:p>
        </p:txBody>
      </p:sp>
      <p:sp>
        <p:nvSpPr>
          <p:cNvPr id="7" name="Text 5"/>
          <p:cNvSpPr/>
          <p:nvPr/>
        </p:nvSpPr>
        <p:spPr>
          <a:xfrm>
            <a:off x="859536" y="1701927"/>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53312" y="1627632"/>
            <a:ext cx="4553712" cy="49606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Google Auth Platform → Audience</a:t>
            </a:r>
            <a:r>
              <a:rPr lang="en-US" sz="1350" dirty="0">
                <a:solidFill>
                  <a:srgbClr val="5C6B7A"/>
                </a:solidFill>
                <a:latin typeface="Calibri" pitchFamily="34" charset="0"/>
                <a:ea typeface="Calibri" pitchFamily="34" charset="-122"/>
                <a:cs typeface="Calibri" pitchFamily="34" charset="-120"/>
              </a:rPr>
              <a:t>   in the left menu</a:t>
            </a:r>
            <a:endParaRPr lang="en-US" sz="1350" dirty="0"/>
          </a:p>
        </p:txBody>
      </p:sp>
      <p:sp>
        <p:nvSpPr>
          <p:cNvPr id="9" name="Shape 7"/>
          <p:cNvSpPr/>
          <p:nvPr/>
        </p:nvSpPr>
        <p:spPr>
          <a:xfrm>
            <a:off x="658368" y="2224278"/>
            <a:ext cx="5486400" cy="496062"/>
          </a:xfrm>
          <a:prstGeom prst="roundRect">
            <a:avLst>
              <a:gd name="adj" fmla="val 12903"/>
            </a:avLst>
          </a:prstGeom>
          <a:solidFill>
            <a:srgbClr val="F2F5F9"/>
          </a:solidFill>
          <a:ln w="12700">
            <a:solidFill>
              <a:srgbClr val="F2F5F9"/>
            </a:solidFill>
            <a:prstDash val="solid"/>
          </a:ln>
        </p:spPr>
        <p:txBody>
          <a:bodyPr/>
          <a:lstStyle/>
          <a:p>
            <a:endParaRPr lang="en-US"/>
          </a:p>
        </p:txBody>
      </p:sp>
      <p:sp>
        <p:nvSpPr>
          <p:cNvPr id="10" name="Shape 8"/>
          <p:cNvSpPr/>
          <p:nvPr/>
        </p:nvSpPr>
        <p:spPr>
          <a:xfrm>
            <a:off x="859536" y="2298573"/>
            <a:ext cx="347472" cy="347472"/>
          </a:xfrm>
          <a:prstGeom prst="ellipse">
            <a:avLst/>
          </a:prstGeom>
          <a:solidFill>
            <a:srgbClr val="E04E6B"/>
          </a:solidFill>
          <a:ln w="12700">
            <a:solidFill>
              <a:srgbClr val="E04E6B"/>
            </a:solidFill>
            <a:prstDash val="solid"/>
          </a:ln>
        </p:spPr>
        <p:txBody>
          <a:bodyPr/>
          <a:lstStyle/>
          <a:p>
            <a:endParaRPr lang="en-US"/>
          </a:p>
        </p:txBody>
      </p:sp>
      <p:sp>
        <p:nvSpPr>
          <p:cNvPr id="11" name="Text 9"/>
          <p:cNvSpPr/>
          <p:nvPr/>
        </p:nvSpPr>
        <p:spPr>
          <a:xfrm>
            <a:off x="859536" y="2298573"/>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353312" y="2224278"/>
            <a:ext cx="4553712" cy="49606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Find Test users</a:t>
            </a:r>
            <a:r>
              <a:rPr lang="en-US" sz="1350" dirty="0">
                <a:solidFill>
                  <a:srgbClr val="5C6B7A"/>
                </a:solidFill>
                <a:latin typeface="Calibri" pitchFamily="34" charset="0"/>
                <a:ea typeface="Calibri" pitchFamily="34" charset="-122"/>
                <a:cs typeface="Calibri" pitchFamily="34" charset="-120"/>
              </a:rPr>
              <a:t>   under the OAuth user cap section</a:t>
            </a:r>
            <a:endParaRPr lang="en-US" sz="1350" dirty="0"/>
          </a:p>
        </p:txBody>
      </p:sp>
      <p:sp>
        <p:nvSpPr>
          <p:cNvPr id="13" name="Shape 11"/>
          <p:cNvSpPr/>
          <p:nvPr/>
        </p:nvSpPr>
        <p:spPr>
          <a:xfrm>
            <a:off x="658368" y="2820924"/>
            <a:ext cx="5486400" cy="496062"/>
          </a:xfrm>
          <a:prstGeom prst="roundRect">
            <a:avLst>
              <a:gd name="adj" fmla="val 12903"/>
            </a:avLst>
          </a:prstGeom>
          <a:solidFill>
            <a:srgbClr val="F2F5F9"/>
          </a:solidFill>
          <a:ln w="12700">
            <a:solidFill>
              <a:srgbClr val="F2F5F9"/>
            </a:solidFill>
            <a:prstDash val="solid"/>
          </a:ln>
        </p:spPr>
        <p:txBody>
          <a:bodyPr/>
          <a:lstStyle/>
          <a:p>
            <a:endParaRPr lang="en-US"/>
          </a:p>
        </p:txBody>
      </p:sp>
      <p:sp>
        <p:nvSpPr>
          <p:cNvPr id="14" name="Shape 12"/>
          <p:cNvSpPr/>
          <p:nvPr/>
        </p:nvSpPr>
        <p:spPr>
          <a:xfrm>
            <a:off x="859536" y="2895219"/>
            <a:ext cx="347472" cy="347472"/>
          </a:xfrm>
          <a:prstGeom prst="ellipse">
            <a:avLst/>
          </a:prstGeom>
          <a:solidFill>
            <a:srgbClr val="E04E6B"/>
          </a:solidFill>
          <a:ln w="12700">
            <a:solidFill>
              <a:srgbClr val="E04E6B"/>
            </a:solidFill>
            <a:prstDash val="solid"/>
          </a:ln>
        </p:spPr>
        <p:txBody>
          <a:bodyPr/>
          <a:lstStyle/>
          <a:p>
            <a:endParaRPr lang="en-US"/>
          </a:p>
        </p:txBody>
      </p:sp>
      <p:sp>
        <p:nvSpPr>
          <p:cNvPr id="15" name="Text 13"/>
          <p:cNvSpPr/>
          <p:nvPr/>
        </p:nvSpPr>
        <p:spPr>
          <a:xfrm>
            <a:off x="859536" y="2895219"/>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353312" y="2820924"/>
            <a:ext cx="4553712" cy="49606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 Add users</a:t>
            </a:r>
            <a:r>
              <a:rPr lang="en-US" sz="1350" dirty="0">
                <a:solidFill>
                  <a:srgbClr val="5C6B7A"/>
                </a:solidFill>
                <a:latin typeface="Calibri" pitchFamily="34" charset="0"/>
                <a:ea typeface="Calibri" pitchFamily="34" charset="-122"/>
                <a:cs typeface="Calibri" pitchFamily="34" charset="-120"/>
              </a:rPr>
              <a:t>   type the exact Google account, then save</a:t>
            </a:r>
            <a:endParaRPr lang="en-US" sz="1350" dirty="0"/>
          </a:p>
        </p:txBody>
      </p:sp>
      <p:sp>
        <p:nvSpPr>
          <p:cNvPr id="17" name="Shape 15"/>
          <p:cNvSpPr/>
          <p:nvPr/>
        </p:nvSpPr>
        <p:spPr>
          <a:xfrm>
            <a:off x="658368" y="3417570"/>
            <a:ext cx="5486400" cy="496062"/>
          </a:xfrm>
          <a:prstGeom prst="roundRect">
            <a:avLst>
              <a:gd name="adj" fmla="val 12903"/>
            </a:avLst>
          </a:prstGeom>
          <a:solidFill>
            <a:srgbClr val="F2F5F9"/>
          </a:solidFill>
          <a:ln w="12700">
            <a:solidFill>
              <a:srgbClr val="F2F5F9"/>
            </a:solidFill>
            <a:prstDash val="solid"/>
          </a:ln>
        </p:spPr>
        <p:txBody>
          <a:bodyPr/>
          <a:lstStyle/>
          <a:p>
            <a:endParaRPr lang="en-US"/>
          </a:p>
        </p:txBody>
      </p:sp>
      <p:sp>
        <p:nvSpPr>
          <p:cNvPr id="18" name="Shape 16"/>
          <p:cNvSpPr/>
          <p:nvPr/>
        </p:nvSpPr>
        <p:spPr>
          <a:xfrm>
            <a:off x="859536" y="3491865"/>
            <a:ext cx="347472" cy="347472"/>
          </a:xfrm>
          <a:prstGeom prst="ellipse">
            <a:avLst/>
          </a:prstGeom>
          <a:solidFill>
            <a:srgbClr val="E04E6B"/>
          </a:solidFill>
          <a:ln w="12700">
            <a:solidFill>
              <a:srgbClr val="E04E6B"/>
            </a:solidFill>
            <a:prstDash val="solid"/>
          </a:ln>
        </p:spPr>
        <p:txBody>
          <a:bodyPr/>
          <a:lstStyle/>
          <a:p>
            <a:endParaRPr lang="en-US"/>
          </a:p>
        </p:txBody>
      </p:sp>
      <p:sp>
        <p:nvSpPr>
          <p:cNvPr id="19" name="Text 17"/>
          <p:cNvSpPr/>
          <p:nvPr/>
        </p:nvSpPr>
        <p:spPr>
          <a:xfrm>
            <a:off x="859536" y="3491865"/>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1353312" y="3417570"/>
            <a:ext cx="4553712" cy="496062"/>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Check the table</a:t>
            </a:r>
            <a:r>
              <a:rPr lang="en-US" sz="1350" dirty="0">
                <a:solidFill>
                  <a:srgbClr val="5C6B7A"/>
                </a:solidFill>
                <a:latin typeface="Calibri" pitchFamily="34" charset="0"/>
                <a:ea typeface="Calibri" pitchFamily="34" charset="-122"/>
                <a:cs typeface="Calibri" pitchFamily="34" charset="-120"/>
              </a:rPr>
              <a:t>   your address must actually appear in it</a:t>
            </a:r>
            <a:endParaRPr lang="en-US" sz="1350" dirty="0"/>
          </a:p>
        </p:txBody>
      </p:sp>
      <p:sp>
        <p:nvSpPr>
          <p:cNvPr id="21" name="Shape 19"/>
          <p:cNvSpPr/>
          <p:nvPr/>
        </p:nvSpPr>
        <p:spPr>
          <a:xfrm>
            <a:off x="7229057" y="1536192"/>
            <a:ext cx="3585741" cy="2468880"/>
          </a:xfrm>
          <a:prstGeom prst="roundRect">
            <a:avLst>
              <a:gd name="adj" fmla="val 2222"/>
            </a:avLst>
          </a:prstGeom>
          <a:solidFill>
            <a:srgbClr val="F2F5F9"/>
          </a:solidFill>
          <a:ln w="12700">
            <a:solidFill>
              <a:srgbClr val="E4EBF3"/>
            </a:solidFill>
            <a:prstDash val="solid"/>
          </a:ln>
        </p:spPr>
        <p:txBody>
          <a:bodyPr/>
          <a:lstStyle/>
          <a:p>
            <a:endParaRPr lang="en-US"/>
          </a:p>
        </p:txBody>
      </p:sp>
      <p:pic>
        <p:nvPicPr>
          <p:cNvPr id="22" name="Image 0" descr="/tmp/build/img/image25.png"/>
          <p:cNvPicPr>
            <a:picLocks noChangeAspect="1"/>
          </p:cNvPicPr>
          <p:nvPr/>
        </p:nvPicPr>
        <p:blipFill>
          <a:blip r:embed="rId3"/>
          <a:stretch>
            <a:fillRect/>
          </a:stretch>
        </p:blipFill>
        <p:spPr>
          <a:xfrm>
            <a:off x="7320497" y="1627632"/>
            <a:ext cx="3402861" cy="2286000"/>
          </a:xfrm>
          <a:prstGeom prst="rect">
            <a:avLst/>
          </a:prstGeom>
        </p:spPr>
      </p:pic>
      <p:sp>
        <p:nvSpPr>
          <p:cNvPr id="23" name="Text 20"/>
          <p:cNvSpPr/>
          <p:nvPr/>
        </p:nvSpPr>
        <p:spPr>
          <a:xfrm>
            <a:off x="7229057" y="4059936"/>
            <a:ext cx="3585741"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Google states the rule on the page itself.</a:t>
            </a:r>
            <a:endParaRPr lang="en-US" sz="1100" dirty="0"/>
          </a:p>
        </p:txBody>
      </p:sp>
      <p:sp>
        <p:nvSpPr>
          <p:cNvPr id="24" name="Shape 21"/>
          <p:cNvSpPr/>
          <p:nvPr/>
        </p:nvSpPr>
        <p:spPr>
          <a:xfrm>
            <a:off x="658368" y="4480560"/>
            <a:ext cx="10874959" cy="1280160"/>
          </a:xfrm>
          <a:prstGeom prst="roundRect">
            <a:avLst>
              <a:gd name="adj" fmla="val 5714"/>
            </a:avLst>
          </a:prstGeom>
          <a:solidFill>
            <a:srgbClr val="FBEBEE"/>
          </a:solidFill>
          <a:ln w="12700">
            <a:solidFill>
              <a:srgbClr val="FBEBEE"/>
            </a:solidFill>
            <a:prstDash val="solid"/>
          </a:ln>
        </p:spPr>
        <p:txBody>
          <a:bodyPr/>
          <a:lstStyle/>
          <a:p>
            <a:endParaRPr lang="en-US"/>
          </a:p>
        </p:txBody>
      </p:sp>
      <p:sp>
        <p:nvSpPr>
          <p:cNvPr id="25" name="Text 22"/>
          <p:cNvSpPr/>
          <p:nvPr/>
        </p:nvSpPr>
        <p:spPr>
          <a:xfrm>
            <a:off x="932688" y="4626864"/>
            <a:ext cx="10326319" cy="219456"/>
          </a:xfrm>
          <a:prstGeom prst="rect">
            <a:avLst/>
          </a:prstGeom>
          <a:noFill/>
          <a:ln/>
        </p:spPr>
        <p:txBody>
          <a:bodyPr wrap="square" lIns="0" tIns="0" rIns="0" bIns="0" rtlCol="0" anchor="ctr"/>
          <a:lstStyle/>
          <a:p>
            <a:pPr marL="0" indent="0" algn="l">
              <a:buNone/>
            </a:pPr>
            <a:r>
              <a:rPr lang="en-US" sz="1050" b="1" kern="0" spc="160" dirty="0">
                <a:solidFill>
                  <a:srgbClr val="B32E4C"/>
                </a:solidFill>
                <a:latin typeface="Calibri" pitchFamily="34" charset="0"/>
                <a:ea typeface="Calibri" pitchFamily="34" charset="-122"/>
                <a:cs typeface="Calibri" pitchFamily="34" charset="-120"/>
              </a:rPr>
              <a:t>READ THE PAGE OUT LOUD</a:t>
            </a:r>
            <a:endParaRPr lang="en-US" sz="1050" dirty="0"/>
          </a:p>
        </p:txBody>
      </p:sp>
      <p:sp>
        <p:nvSpPr>
          <p:cNvPr id="26" name="Text 23"/>
          <p:cNvSpPr/>
          <p:nvPr/>
        </p:nvSpPr>
        <p:spPr>
          <a:xfrm>
            <a:off x="932688" y="4882896"/>
            <a:ext cx="10326319" cy="713232"/>
          </a:xfrm>
          <a:prstGeom prst="rect">
            <a:avLst/>
          </a:prstGeom>
          <a:noFill/>
          <a:ln/>
        </p:spPr>
        <p:txBody>
          <a:bodyPr wrap="square" lIns="0" tIns="0" rIns="0" bIns="0" rtlCol="0" anchor="t"/>
          <a:lstStyle/>
          <a:p>
            <a:pPr marL="0" indent="0" algn="l">
              <a:lnSpc>
                <a:spcPct val="110000"/>
              </a:lnSpc>
              <a:buNone/>
            </a:pPr>
            <a:r>
              <a:rPr lang="en-US" sz="1450" dirty="0">
                <a:solidFill>
                  <a:srgbClr val="1D2530"/>
                </a:solidFill>
                <a:latin typeface="Calibri" pitchFamily="34" charset="0"/>
                <a:ea typeface="Calibri" pitchFamily="34" charset="-122"/>
                <a:cs typeface="Calibri" pitchFamily="34" charset="-120"/>
              </a:rPr>
              <a:t>“While publishing status is set to Testing, only test users are able to access the app.” That is the whole rule. The account you sign into n8n with must be on that list, or Google refuses it with a 403 that never mentions test users.</a:t>
            </a:r>
            <a:endParaRPr lang="en-US" sz="1450" dirty="0"/>
          </a:p>
        </p:txBody>
      </p:sp>
      <p:sp>
        <p:nvSpPr>
          <p:cNvPr id="27" name="Text 24"/>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STEP 5</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Create the OAuth client</a:t>
            </a:r>
            <a:endParaRPr lang="en-US" sz="3000" dirty="0"/>
          </a:p>
        </p:txBody>
      </p:sp>
      <p:sp>
        <p:nvSpPr>
          <p:cNvPr id="4" name="Text 2"/>
          <p:cNvSpPr/>
          <p:nvPr/>
        </p:nvSpPr>
        <p:spPr>
          <a:xfrm>
            <a:off x="658368" y="1188720"/>
            <a:ext cx="10874959" cy="310896"/>
          </a:xfrm>
          <a:prstGeom prst="rect">
            <a:avLst/>
          </a:prstGeom>
          <a:noFill/>
          <a:ln/>
        </p:spPr>
        <p:txBody>
          <a:bodyPr wrap="square" lIns="0" tIns="0" rIns="0" bIns="0" rtlCol="0" anchor="ctr"/>
          <a:lstStyle/>
          <a:p>
            <a:pPr marL="0" indent="0" algn="l">
              <a:buNone/>
            </a:pPr>
            <a:r>
              <a:rPr lang="en-US" sz="1400" dirty="0">
                <a:solidFill>
                  <a:srgbClr val="5C6B7A"/>
                </a:solidFill>
                <a:latin typeface="Calibri" pitchFamily="34" charset="0"/>
                <a:ea typeface="Calibri" pitchFamily="34" charset="-122"/>
                <a:cs typeface="Calibri" pitchFamily="34" charset="-120"/>
              </a:rPr>
              <a:t>Unusual order: get the redirect URL out of n8n first, because Google’s form asks for it.</a:t>
            </a:r>
            <a:endParaRPr lang="en-US" sz="1400" dirty="0"/>
          </a:p>
        </p:txBody>
      </p:sp>
      <p:sp>
        <p:nvSpPr>
          <p:cNvPr id="5" name="Shape 3"/>
          <p:cNvSpPr/>
          <p:nvPr/>
        </p:nvSpPr>
        <p:spPr>
          <a:xfrm>
            <a:off x="658368" y="1627632"/>
            <a:ext cx="539496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6" name="Shape 4"/>
          <p:cNvSpPr/>
          <p:nvPr/>
        </p:nvSpPr>
        <p:spPr>
          <a:xfrm>
            <a:off x="859536" y="1691640"/>
            <a:ext cx="347472" cy="347472"/>
          </a:xfrm>
          <a:prstGeom prst="ellipse">
            <a:avLst/>
          </a:prstGeom>
          <a:solidFill>
            <a:srgbClr val="2A6FB5"/>
          </a:solidFill>
          <a:ln w="12700">
            <a:solidFill>
              <a:srgbClr val="2A6FB5"/>
            </a:solidFill>
            <a:prstDash val="solid"/>
          </a:ln>
        </p:spPr>
        <p:txBody>
          <a:bodyPr/>
          <a:lstStyle/>
          <a:p>
            <a:endParaRPr lang="en-US"/>
          </a:p>
        </p:txBody>
      </p:sp>
      <p:sp>
        <p:nvSpPr>
          <p:cNvPr id="7" name="Text 5"/>
          <p:cNvSpPr/>
          <p:nvPr/>
        </p:nvSpPr>
        <p:spPr>
          <a:xfrm>
            <a:off x="859536" y="16916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53312" y="1627632"/>
            <a:ext cx="446227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In n8n</a:t>
            </a:r>
            <a:r>
              <a:rPr lang="en-US" sz="1350" dirty="0">
                <a:solidFill>
                  <a:srgbClr val="5C6B7A"/>
                </a:solidFill>
                <a:latin typeface="Calibri" pitchFamily="34" charset="0"/>
                <a:ea typeface="Calibri" pitchFamily="34" charset="-122"/>
                <a:cs typeface="Calibri" pitchFamily="34" charset="-120"/>
              </a:rPr>
              <a:t>   copy the OAuth Redirect URL</a:t>
            </a:r>
            <a:endParaRPr lang="en-US" sz="1350" dirty="0"/>
          </a:p>
        </p:txBody>
      </p:sp>
      <p:sp>
        <p:nvSpPr>
          <p:cNvPr id="9" name="Shape 7"/>
          <p:cNvSpPr/>
          <p:nvPr/>
        </p:nvSpPr>
        <p:spPr>
          <a:xfrm>
            <a:off x="658368" y="2194560"/>
            <a:ext cx="539496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10" name="Shape 8"/>
          <p:cNvSpPr/>
          <p:nvPr/>
        </p:nvSpPr>
        <p:spPr>
          <a:xfrm>
            <a:off x="859536" y="2258568"/>
            <a:ext cx="347472" cy="347472"/>
          </a:xfrm>
          <a:prstGeom prst="ellipse">
            <a:avLst/>
          </a:prstGeom>
          <a:solidFill>
            <a:srgbClr val="2A6FB5"/>
          </a:solidFill>
          <a:ln w="12700">
            <a:solidFill>
              <a:srgbClr val="2A6FB5"/>
            </a:solidFill>
            <a:prstDash val="solid"/>
          </a:ln>
        </p:spPr>
        <p:txBody>
          <a:bodyPr/>
          <a:lstStyle/>
          <a:p>
            <a:endParaRPr lang="en-US"/>
          </a:p>
        </p:txBody>
      </p:sp>
      <p:sp>
        <p:nvSpPr>
          <p:cNvPr id="11" name="Text 9"/>
          <p:cNvSpPr/>
          <p:nvPr/>
        </p:nvSpPr>
        <p:spPr>
          <a:xfrm>
            <a:off x="859536" y="225856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353312" y="2194560"/>
            <a:ext cx="446227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Clients → Create OAuth client</a:t>
            </a:r>
            <a:r>
              <a:rPr lang="en-US" sz="1350" dirty="0">
                <a:solidFill>
                  <a:srgbClr val="5C6B7A"/>
                </a:solidFill>
                <a:latin typeface="Calibri" pitchFamily="34" charset="0"/>
                <a:ea typeface="Calibri" pitchFamily="34" charset="-122"/>
                <a:cs typeface="Calibri" pitchFamily="34" charset="-120"/>
              </a:rPr>
              <a:t>   in Google Auth Platform</a:t>
            </a:r>
            <a:endParaRPr lang="en-US" sz="1350" dirty="0"/>
          </a:p>
        </p:txBody>
      </p:sp>
      <p:sp>
        <p:nvSpPr>
          <p:cNvPr id="13" name="Shape 11"/>
          <p:cNvSpPr/>
          <p:nvPr/>
        </p:nvSpPr>
        <p:spPr>
          <a:xfrm>
            <a:off x="658368" y="2761488"/>
            <a:ext cx="539496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14" name="Shape 12"/>
          <p:cNvSpPr/>
          <p:nvPr/>
        </p:nvSpPr>
        <p:spPr>
          <a:xfrm>
            <a:off x="859536" y="2825496"/>
            <a:ext cx="347472" cy="347472"/>
          </a:xfrm>
          <a:prstGeom prst="ellipse">
            <a:avLst/>
          </a:prstGeom>
          <a:solidFill>
            <a:srgbClr val="2A6FB5"/>
          </a:solidFill>
          <a:ln w="12700">
            <a:solidFill>
              <a:srgbClr val="2A6FB5"/>
            </a:solidFill>
            <a:prstDash val="solid"/>
          </a:ln>
        </p:spPr>
        <p:txBody>
          <a:bodyPr/>
          <a:lstStyle/>
          <a:p>
            <a:endParaRPr lang="en-US"/>
          </a:p>
        </p:txBody>
      </p:sp>
      <p:sp>
        <p:nvSpPr>
          <p:cNvPr id="15" name="Text 13"/>
          <p:cNvSpPr/>
          <p:nvPr/>
        </p:nvSpPr>
        <p:spPr>
          <a:xfrm>
            <a:off x="859536" y="282549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353312" y="2761488"/>
            <a:ext cx="446227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Application type</a:t>
            </a:r>
            <a:r>
              <a:rPr lang="en-US" sz="1350" dirty="0">
                <a:solidFill>
                  <a:srgbClr val="5C6B7A"/>
                </a:solidFill>
                <a:latin typeface="Calibri" pitchFamily="34" charset="0"/>
                <a:ea typeface="Calibri" pitchFamily="34" charset="-122"/>
                <a:cs typeface="Calibri" pitchFamily="34" charset="-120"/>
              </a:rPr>
              <a:t>   Web application</a:t>
            </a:r>
            <a:endParaRPr lang="en-US" sz="1350" dirty="0"/>
          </a:p>
        </p:txBody>
      </p:sp>
      <p:sp>
        <p:nvSpPr>
          <p:cNvPr id="17" name="Shape 15"/>
          <p:cNvSpPr/>
          <p:nvPr/>
        </p:nvSpPr>
        <p:spPr>
          <a:xfrm>
            <a:off x="658368" y="3328416"/>
            <a:ext cx="539496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18" name="Shape 16"/>
          <p:cNvSpPr/>
          <p:nvPr/>
        </p:nvSpPr>
        <p:spPr>
          <a:xfrm>
            <a:off x="859536" y="3392424"/>
            <a:ext cx="347472" cy="347472"/>
          </a:xfrm>
          <a:prstGeom prst="ellipse">
            <a:avLst/>
          </a:prstGeom>
          <a:solidFill>
            <a:srgbClr val="2A6FB5"/>
          </a:solidFill>
          <a:ln w="12700">
            <a:solidFill>
              <a:srgbClr val="2A6FB5"/>
            </a:solidFill>
            <a:prstDash val="solid"/>
          </a:ln>
        </p:spPr>
        <p:txBody>
          <a:bodyPr/>
          <a:lstStyle/>
          <a:p>
            <a:endParaRPr lang="en-US"/>
          </a:p>
        </p:txBody>
      </p:sp>
      <p:sp>
        <p:nvSpPr>
          <p:cNvPr id="19" name="Text 17"/>
          <p:cNvSpPr/>
          <p:nvPr/>
        </p:nvSpPr>
        <p:spPr>
          <a:xfrm>
            <a:off x="859536" y="33924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1353312" y="3328416"/>
            <a:ext cx="446227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JavaScript origins</a:t>
            </a:r>
            <a:r>
              <a:rPr lang="en-US" sz="1350" dirty="0">
                <a:solidFill>
                  <a:srgbClr val="5C6B7A"/>
                </a:solidFill>
                <a:latin typeface="Calibri" pitchFamily="34" charset="0"/>
                <a:ea typeface="Calibri" pitchFamily="34" charset="-122"/>
                <a:cs typeface="Calibri" pitchFamily="34" charset="-120"/>
              </a:rPr>
              <a:t>   leave completely empty</a:t>
            </a:r>
            <a:endParaRPr lang="en-US" sz="1350" dirty="0"/>
          </a:p>
        </p:txBody>
      </p:sp>
      <p:sp>
        <p:nvSpPr>
          <p:cNvPr id="21" name="Shape 19"/>
          <p:cNvSpPr/>
          <p:nvPr/>
        </p:nvSpPr>
        <p:spPr>
          <a:xfrm>
            <a:off x="658368" y="3895344"/>
            <a:ext cx="5394960" cy="475488"/>
          </a:xfrm>
          <a:prstGeom prst="roundRect">
            <a:avLst>
              <a:gd name="adj" fmla="val 13462"/>
            </a:avLst>
          </a:prstGeom>
          <a:solidFill>
            <a:srgbClr val="F2F5F9"/>
          </a:solidFill>
          <a:ln w="12700">
            <a:solidFill>
              <a:srgbClr val="F2F5F9"/>
            </a:solidFill>
            <a:prstDash val="solid"/>
          </a:ln>
        </p:spPr>
        <p:txBody>
          <a:bodyPr/>
          <a:lstStyle/>
          <a:p>
            <a:endParaRPr lang="en-US"/>
          </a:p>
        </p:txBody>
      </p:sp>
      <p:sp>
        <p:nvSpPr>
          <p:cNvPr id="22" name="Shape 20"/>
          <p:cNvSpPr/>
          <p:nvPr/>
        </p:nvSpPr>
        <p:spPr>
          <a:xfrm>
            <a:off x="859536" y="3959352"/>
            <a:ext cx="347472" cy="347472"/>
          </a:xfrm>
          <a:prstGeom prst="ellipse">
            <a:avLst/>
          </a:prstGeom>
          <a:solidFill>
            <a:srgbClr val="2A6FB5"/>
          </a:solidFill>
          <a:ln w="12700">
            <a:solidFill>
              <a:srgbClr val="2A6FB5"/>
            </a:solidFill>
            <a:prstDash val="solid"/>
          </a:ln>
        </p:spPr>
        <p:txBody>
          <a:bodyPr/>
          <a:lstStyle/>
          <a:p>
            <a:endParaRPr lang="en-US"/>
          </a:p>
        </p:txBody>
      </p:sp>
      <p:sp>
        <p:nvSpPr>
          <p:cNvPr id="23" name="Text 21"/>
          <p:cNvSpPr/>
          <p:nvPr/>
        </p:nvSpPr>
        <p:spPr>
          <a:xfrm>
            <a:off x="859536" y="395935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p:nvPr/>
        </p:nvSpPr>
        <p:spPr>
          <a:xfrm>
            <a:off x="1353312" y="3895344"/>
            <a:ext cx="4462272" cy="475488"/>
          </a:xfrm>
          <a:prstGeom prst="rect">
            <a:avLst/>
          </a:prstGeom>
          <a:noFill/>
          <a:ln/>
        </p:spPr>
        <p:txBody>
          <a:bodyPr wrap="square" lIns="0" tIns="0" rIns="0" bIns="0" rtlCol="0" anchor="ctr"/>
          <a:lstStyle/>
          <a:p>
            <a:pPr marL="0" indent="0" algn="l">
              <a:lnSpc>
                <a:spcPct val="108000"/>
              </a:lnSpc>
              <a:buNone/>
            </a:pPr>
            <a:r>
              <a:rPr lang="en-US" sz="1350" b="1" dirty="0">
                <a:solidFill>
                  <a:srgbClr val="13233F"/>
                </a:solidFill>
                <a:latin typeface="Calibri" pitchFamily="34" charset="0"/>
                <a:ea typeface="Calibri" pitchFamily="34" charset="-122"/>
                <a:cs typeface="Calibri" pitchFamily="34" charset="-120"/>
              </a:rPr>
              <a:t>Authorised redirect URIs</a:t>
            </a:r>
            <a:r>
              <a:rPr lang="en-US" sz="1350" dirty="0">
                <a:solidFill>
                  <a:srgbClr val="5C6B7A"/>
                </a:solidFill>
                <a:latin typeface="Calibri" pitchFamily="34" charset="0"/>
                <a:ea typeface="Calibri" pitchFamily="34" charset="-122"/>
                <a:cs typeface="Calibri" pitchFamily="34" charset="-120"/>
              </a:rPr>
              <a:t>   + Add URI, then paste it in</a:t>
            </a:r>
            <a:endParaRPr lang="en-US" sz="1350" dirty="0"/>
          </a:p>
        </p:txBody>
      </p:sp>
      <p:sp>
        <p:nvSpPr>
          <p:cNvPr id="25" name="Shape 23"/>
          <p:cNvSpPr/>
          <p:nvPr/>
        </p:nvSpPr>
        <p:spPr>
          <a:xfrm>
            <a:off x="6726686" y="1536192"/>
            <a:ext cx="4499043" cy="2514600"/>
          </a:xfrm>
          <a:prstGeom prst="roundRect">
            <a:avLst>
              <a:gd name="adj" fmla="val 2182"/>
            </a:avLst>
          </a:prstGeom>
          <a:solidFill>
            <a:srgbClr val="F2F5F9"/>
          </a:solidFill>
          <a:ln w="12700">
            <a:solidFill>
              <a:srgbClr val="E4EBF3"/>
            </a:solidFill>
            <a:prstDash val="solid"/>
          </a:ln>
        </p:spPr>
        <p:txBody>
          <a:bodyPr/>
          <a:lstStyle/>
          <a:p>
            <a:endParaRPr lang="en-US"/>
          </a:p>
        </p:txBody>
      </p:sp>
      <p:pic>
        <p:nvPicPr>
          <p:cNvPr id="26" name="Image 0" descr="/tmp/build/img/image26.png"/>
          <p:cNvPicPr>
            <a:picLocks noChangeAspect="1"/>
          </p:cNvPicPr>
          <p:nvPr/>
        </p:nvPicPr>
        <p:blipFill>
          <a:blip r:embed="rId3"/>
          <a:stretch>
            <a:fillRect/>
          </a:stretch>
        </p:blipFill>
        <p:spPr>
          <a:xfrm>
            <a:off x="6818126" y="1627632"/>
            <a:ext cx="4316163" cy="2331720"/>
          </a:xfrm>
          <a:prstGeom prst="rect">
            <a:avLst/>
          </a:prstGeom>
        </p:spPr>
      </p:pic>
      <p:sp>
        <p:nvSpPr>
          <p:cNvPr id="27" name="Text 24"/>
          <p:cNvSpPr/>
          <p:nvPr/>
        </p:nvSpPr>
        <p:spPr>
          <a:xfrm>
            <a:off x="6726686" y="4105656"/>
            <a:ext cx="4499043"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Paste it exactly — and note Google’s timing warning.</a:t>
            </a:r>
            <a:endParaRPr lang="en-US" sz="1100" dirty="0"/>
          </a:p>
        </p:txBody>
      </p:sp>
      <p:sp>
        <p:nvSpPr>
          <p:cNvPr id="28" name="Shape 25"/>
          <p:cNvSpPr/>
          <p:nvPr/>
        </p:nvSpPr>
        <p:spPr>
          <a:xfrm>
            <a:off x="658368" y="4709160"/>
            <a:ext cx="5254600" cy="1051560"/>
          </a:xfrm>
          <a:prstGeom prst="roundRect">
            <a:avLst>
              <a:gd name="adj" fmla="val 6957"/>
            </a:avLst>
          </a:prstGeom>
          <a:solidFill>
            <a:srgbClr val="FCF2E4"/>
          </a:solidFill>
          <a:ln w="12700">
            <a:solidFill>
              <a:srgbClr val="FCF2E4"/>
            </a:solidFill>
            <a:prstDash val="solid"/>
          </a:ln>
        </p:spPr>
        <p:txBody>
          <a:bodyPr/>
          <a:lstStyle/>
          <a:p>
            <a:endParaRPr lang="en-US"/>
          </a:p>
        </p:txBody>
      </p:sp>
      <p:sp>
        <p:nvSpPr>
          <p:cNvPr id="29" name="Text 26"/>
          <p:cNvSpPr/>
          <p:nvPr/>
        </p:nvSpPr>
        <p:spPr>
          <a:xfrm>
            <a:off x="932688" y="4855464"/>
            <a:ext cx="4705960" cy="219456"/>
          </a:xfrm>
          <a:prstGeom prst="rect">
            <a:avLst/>
          </a:prstGeom>
          <a:noFill/>
          <a:ln/>
        </p:spPr>
        <p:txBody>
          <a:bodyPr wrap="square" lIns="0" tIns="0" rIns="0" bIns="0" rtlCol="0" anchor="ctr"/>
          <a:lstStyle/>
          <a:p>
            <a:pPr marL="0" indent="0" algn="l">
              <a:buNone/>
            </a:pPr>
            <a:r>
              <a:rPr lang="en-US" sz="1050" b="1" kern="0" spc="160" dirty="0">
                <a:solidFill>
                  <a:srgbClr val="A85F12"/>
                </a:solidFill>
                <a:latin typeface="Calibri" pitchFamily="34" charset="0"/>
                <a:ea typeface="Calibri" pitchFamily="34" charset="-122"/>
                <a:cs typeface="Calibri" pitchFamily="34" charset="-120"/>
              </a:rPr>
              <a:t>REDIRECT_URI_MISMATCH</a:t>
            </a:r>
            <a:endParaRPr lang="en-US" sz="1050" dirty="0"/>
          </a:p>
        </p:txBody>
      </p:sp>
      <p:sp>
        <p:nvSpPr>
          <p:cNvPr id="30" name="Text 27"/>
          <p:cNvSpPr/>
          <p:nvPr/>
        </p:nvSpPr>
        <p:spPr>
          <a:xfrm>
            <a:off x="932688" y="5111496"/>
            <a:ext cx="4705960" cy="484632"/>
          </a:xfrm>
          <a:prstGeom prst="rect">
            <a:avLst/>
          </a:prstGeom>
          <a:noFill/>
          <a:ln/>
        </p:spPr>
        <p:txBody>
          <a:bodyPr wrap="square" lIns="0" tIns="0" rIns="0" bIns="0" rtlCol="0" anchor="t"/>
          <a:lstStyle/>
          <a:p>
            <a:pPr marL="0" indent="0" algn="l">
              <a:lnSpc>
                <a:spcPct val="110000"/>
              </a:lnSpc>
              <a:buNone/>
            </a:pPr>
            <a:r>
              <a:rPr lang="en-US" sz="1350" dirty="0">
                <a:solidFill>
                  <a:srgbClr val="1D2530"/>
                </a:solidFill>
                <a:latin typeface="Calibri" pitchFamily="34" charset="0"/>
                <a:ea typeface="Calibri" pitchFamily="34" charset="-122"/>
                <a:cs typeface="Calibri" pitchFamily="34" charset="-120"/>
              </a:rPr>
              <a:t>Google compares character by character:</a:t>
            </a:r>
            <a:endParaRPr lang="en-US" sz="1350" dirty="0"/>
          </a:p>
          <a:p>
            <a:pPr marL="0" indent="0" algn="l">
              <a:lnSpc>
                <a:spcPct val="110000"/>
              </a:lnSpc>
              <a:buNone/>
            </a:pPr>
            <a:r>
              <a:rPr lang="en-US" sz="1350" dirty="0">
                <a:solidFill>
                  <a:srgbClr val="1D2530"/>
                </a:solidFill>
                <a:latin typeface="Calibri" pitchFamily="34" charset="0"/>
                <a:ea typeface="Calibri" pitchFamily="34" charset="-122"/>
                <a:cs typeface="Calibri" pitchFamily="34" charset="-120"/>
              </a:rPr>
              <a:t>http:// vs https://  ·  /callback vs /callback/  ·  5678 vs 5679</a:t>
            </a:r>
            <a:endParaRPr lang="en-US" sz="1350" dirty="0"/>
          </a:p>
        </p:txBody>
      </p:sp>
      <p:sp>
        <p:nvSpPr>
          <p:cNvPr id="31" name="Shape 28"/>
          <p:cNvSpPr/>
          <p:nvPr/>
        </p:nvSpPr>
        <p:spPr>
          <a:xfrm>
            <a:off x="6278728" y="4709160"/>
            <a:ext cx="5254600" cy="1051560"/>
          </a:xfrm>
          <a:prstGeom prst="roundRect">
            <a:avLst>
              <a:gd name="adj" fmla="val 6957"/>
            </a:avLst>
          </a:prstGeom>
          <a:solidFill>
            <a:srgbClr val="FBEBEE"/>
          </a:solidFill>
          <a:ln w="12700">
            <a:solidFill>
              <a:srgbClr val="FBEBEE"/>
            </a:solidFill>
            <a:prstDash val="solid"/>
          </a:ln>
        </p:spPr>
        <p:txBody>
          <a:bodyPr/>
          <a:lstStyle/>
          <a:p>
            <a:endParaRPr lang="en-US"/>
          </a:p>
        </p:txBody>
      </p:sp>
      <p:sp>
        <p:nvSpPr>
          <p:cNvPr id="32" name="Text 29"/>
          <p:cNvSpPr/>
          <p:nvPr/>
        </p:nvSpPr>
        <p:spPr>
          <a:xfrm>
            <a:off x="6553048" y="4855464"/>
            <a:ext cx="4705960" cy="219456"/>
          </a:xfrm>
          <a:prstGeom prst="rect">
            <a:avLst/>
          </a:prstGeom>
          <a:noFill/>
          <a:ln/>
        </p:spPr>
        <p:txBody>
          <a:bodyPr wrap="square" lIns="0" tIns="0" rIns="0" bIns="0" rtlCol="0" anchor="ctr"/>
          <a:lstStyle/>
          <a:p>
            <a:pPr marL="0" indent="0" algn="l">
              <a:buNone/>
            </a:pPr>
            <a:r>
              <a:rPr lang="en-US" sz="1050" b="1" kern="0" spc="160" dirty="0">
                <a:solidFill>
                  <a:srgbClr val="B32E4C"/>
                </a:solidFill>
                <a:latin typeface="Calibri" pitchFamily="34" charset="0"/>
                <a:ea typeface="Calibri" pitchFamily="34" charset="-122"/>
                <a:cs typeface="Calibri" pitchFamily="34" charset="-120"/>
              </a:rPr>
              <a:t>SECURITY RULE</a:t>
            </a:r>
            <a:endParaRPr lang="en-US" sz="1050" dirty="0"/>
          </a:p>
        </p:txBody>
      </p:sp>
      <p:sp>
        <p:nvSpPr>
          <p:cNvPr id="33" name="Text 30"/>
          <p:cNvSpPr/>
          <p:nvPr/>
        </p:nvSpPr>
        <p:spPr>
          <a:xfrm>
            <a:off x="6553048" y="5111496"/>
            <a:ext cx="4705960" cy="484632"/>
          </a:xfrm>
          <a:prstGeom prst="rect">
            <a:avLst/>
          </a:prstGeom>
          <a:noFill/>
          <a:ln/>
        </p:spPr>
        <p:txBody>
          <a:bodyPr wrap="square" lIns="0" tIns="0" rIns="0" bIns="0" rtlCol="0" anchor="t"/>
          <a:lstStyle/>
          <a:p>
            <a:pPr marL="0" indent="0" algn="l">
              <a:lnSpc>
                <a:spcPct val="110000"/>
              </a:lnSpc>
              <a:buNone/>
            </a:pPr>
            <a:r>
              <a:rPr lang="en-US" sz="1350" dirty="0">
                <a:solidFill>
                  <a:srgbClr val="1D2530"/>
                </a:solidFill>
                <a:latin typeface="Calibri" pitchFamily="34" charset="0"/>
                <a:ea typeface="Calibri" pitchFamily="34" charset="-122"/>
                <a:cs typeface="Calibri" pitchFamily="34" charset="-120"/>
              </a:rPr>
              <a:t>The Client Secret is a password. Copy it into n8n and nowhere else — never into a slide, a chat or a screenshot.</a:t>
            </a:r>
            <a:endParaRPr lang="en-US" sz="1350" dirty="0"/>
          </a:p>
        </p:txBody>
      </p:sp>
      <p:sp>
        <p:nvSpPr>
          <p:cNvPr id="34" name="Text 31"/>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STEP 6</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Connect the credential in n8n</a:t>
            </a:r>
            <a:endParaRPr lang="en-US" sz="3000" dirty="0"/>
          </a:p>
        </p:txBody>
      </p:sp>
      <p:sp>
        <p:nvSpPr>
          <p:cNvPr id="4" name="Shape 2"/>
          <p:cNvSpPr/>
          <p:nvPr/>
        </p:nvSpPr>
        <p:spPr>
          <a:xfrm>
            <a:off x="658368" y="1600200"/>
            <a:ext cx="5577840" cy="491490"/>
          </a:xfrm>
          <a:prstGeom prst="roundRect">
            <a:avLst>
              <a:gd name="adj" fmla="val 13023"/>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59536" y="1672209"/>
            <a:ext cx="347472" cy="347472"/>
          </a:xfrm>
          <a:prstGeom prst="ellipse">
            <a:avLst/>
          </a:prstGeom>
          <a:solidFill>
            <a:srgbClr val="1B8F62"/>
          </a:solidFill>
          <a:ln w="12700">
            <a:solidFill>
              <a:srgbClr val="1B8F62"/>
            </a:solidFill>
            <a:prstDash val="solid"/>
          </a:ln>
        </p:spPr>
        <p:txBody>
          <a:bodyPr/>
          <a:lstStyle/>
          <a:p>
            <a:endParaRPr lang="en-US"/>
          </a:p>
        </p:txBody>
      </p:sp>
      <p:sp>
        <p:nvSpPr>
          <p:cNvPr id="6" name="Text 4"/>
          <p:cNvSpPr/>
          <p:nvPr/>
        </p:nvSpPr>
        <p:spPr>
          <a:xfrm>
            <a:off x="859536" y="1672209"/>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600200"/>
            <a:ext cx="4645152" cy="491490"/>
          </a:xfrm>
          <a:prstGeom prst="rect">
            <a:avLst/>
          </a:prstGeom>
          <a:noFill/>
          <a:ln/>
        </p:spPr>
        <p:txBody>
          <a:bodyPr wrap="square" lIns="0" tIns="0" rIns="0" bIns="0" rtlCol="0" anchor="ctr"/>
          <a:lstStyle/>
          <a:p>
            <a:pPr marL="0" indent="0" algn="l">
              <a:lnSpc>
                <a:spcPct val="108000"/>
              </a:lnSpc>
              <a:buNone/>
            </a:pPr>
            <a:r>
              <a:rPr lang="en-US" sz="1300" b="1" dirty="0">
                <a:solidFill>
                  <a:srgbClr val="13233F"/>
                </a:solidFill>
                <a:latin typeface="Calibri" pitchFamily="34" charset="0"/>
                <a:ea typeface="Calibri" pitchFamily="34" charset="-122"/>
                <a:cs typeface="Calibri" pitchFamily="34" charset="-120"/>
              </a:rPr>
              <a:t>Paste Client ID and Client Secret</a:t>
            </a:r>
            <a:r>
              <a:rPr lang="en-US" sz="1300" dirty="0">
                <a:solidFill>
                  <a:srgbClr val="5C6B7A"/>
                </a:solidFill>
                <a:latin typeface="Calibri" pitchFamily="34" charset="0"/>
                <a:ea typeface="Calibri" pitchFamily="34" charset="-122"/>
                <a:cs typeface="Calibri" pitchFamily="34" charset="-120"/>
              </a:rPr>
              <a:t>   into the n8n credential</a:t>
            </a:r>
            <a:endParaRPr lang="en-US" sz="1300" dirty="0"/>
          </a:p>
        </p:txBody>
      </p:sp>
      <p:sp>
        <p:nvSpPr>
          <p:cNvPr id="8" name="Shape 6"/>
          <p:cNvSpPr/>
          <p:nvPr/>
        </p:nvSpPr>
        <p:spPr>
          <a:xfrm>
            <a:off x="658368" y="2183130"/>
            <a:ext cx="5577840" cy="491490"/>
          </a:xfrm>
          <a:prstGeom prst="roundRect">
            <a:avLst>
              <a:gd name="adj" fmla="val 13023"/>
            </a:avLst>
          </a:prstGeom>
          <a:solidFill>
            <a:srgbClr val="F2F5F9"/>
          </a:solidFill>
          <a:ln w="12700">
            <a:solidFill>
              <a:srgbClr val="F2F5F9"/>
            </a:solidFill>
            <a:prstDash val="solid"/>
          </a:ln>
        </p:spPr>
        <p:txBody>
          <a:bodyPr/>
          <a:lstStyle/>
          <a:p>
            <a:endParaRPr lang="en-US"/>
          </a:p>
        </p:txBody>
      </p:sp>
      <p:sp>
        <p:nvSpPr>
          <p:cNvPr id="9" name="Shape 7"/>
          <p:cNvSpPr/>
          <p:nvPr/>
        </p:nvSpPr>
        <p:spPr>
          <a:xfrm>
            <a:off x="859536" y="2255139"/>
            <a:ext cx="347472" cy="347472"/>
          </a:xfrm>
          <a:prstGeom prst="ellipse">
            <a:avLst/>
          </a:prstGeom>
          <a:solidFill>
            <a:srgbClr val="1B8F62"/>
          </a:solidFill>
          <a:ln w="12700">
            <a:solidFill>
              <a:srgbClr val="1B8F62"/>
            </a:solidFill>
            <a:prstDash val="solid"/>
          </a:ln>
        </p:spPr>
        <p:txBody>
          <a:bodyPr/>
          <a:lstStyle/>
          <a:p>
            <a:endParaRPr lang="en-US"/>
          </a:p>
        </p:txBody>
      </p:sp>
      <p:sp>
        <p:nvSpPr>
          <p:cNvPr id="10" name="Text 8"/>
          <p:cNvSpPr/>
          <p:nvPr/>
        </p:nvSpPr>
        <p:spPr>
          <a:xfrm>
            <a:off x="859536" y="2255139"/>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353312" y="2183130"/>
            <a:ext cx="4645152" cy="491490"/>
          </a:xfrm>
          <a:prstGeom prst="rect">
            <a:avLst/>
          </a:prstGeom>
          <a:noFill/>
          <a:ln/>
        </p:spPr>
        <p:txBody>
          <a:bodyPr wrap="square" lIns="0" tIns="0" rIns="0" bIns="0" rtlCol="0" anchor="ctr"/>
          <a:lstStyle/>
          <a:p>
            <a:pPr marL="0" indent="0" algn="l">
              <a:lnSpc>
                <a:spcPct val="108000"/>
              </a:lnSpc>
              <a:buNone/>
            </a:pPr>
            <a:r>
              <a:rPr lang="en-US" sz="1300" b="1" dirty="0">
                <a:solidFill>
                  <a:srgbClr val="13233F"/>
                </a:solidFill>
                <a:latin typeface="Calibri" pitchFamily="34" charset="0"/>
                <a:ea typeface="Calibri" pitchFamily="34" charset="-122"/>
                <a:cs typeface="Calibri" pitchFamily="34" charset="-120"/>
              </a:rPr>
              <a:t>Click Sign in with Google</a:t>
            </a:r>
            <a:r>
              <a:rPr lang="en-US" sz="1300" dirty="0">
                <a:solidFill>
                  <a:srgbClr val="5C6B7A"/>
                </a:solidFill>
                <a:latin typeface="Calibri" pitchFamily="34" charset="0"/>
                <a:ea typeface="Calibri" pitchFamily="34" charset="-122"/>
                <a:cs typeface="Calibri" pitchFamily="34" charset="-120"/>
              </a:rPr>
              <a:t>   a Google window opens</a:t>
            </a:r>
            <a:endParaRPr lang="en-US" sz="1300" dirty="0"/>
          </a:p>
        </p:txBody>
      </p:sp>
      <p:sp>
        <p:nvSpPr>
          <p:cNvPr id="12" name="Shape 10"/>
          <p:cNvSpPr/>
          <p:nvPr/>
        </p:nvSpPr>
        <p:spPr>
          <a:xfrm>
            <a:off x="658368" y="2766060"/>
            <a:ext cx="5577840" cy="491490"/>
          </a:xfrm>
          <a:prstGeom prst="roundRect">
            <a:avLst>
              <a:gd name="adj" fmla="val 13023"/>
            </a:avLst>
          </a:prstGeom>
          <a:solidFill>
            <a:srgbClr val="F2F5F9"/>
          </a:solidFill>
          <a:ln w="12700">
            <a:solidFill>
              <a:srgbClr val="F2F5F9"/>
            </a:solidFill>
            <a:prstDash val="solid"/>
          </a:ln>
        </p:spPr>
        <p:txBody>
          <a:bodyPr/>
          <a:lstStyle/>
          <a:p>
            <a:endParaRPr lang="en-US"/>
          </a:p>
        </p:txBody>
      </p:sp>
      <p:sp>
        <p:nvSpPr>
          <p:cNvPr id="13" name="Shape 11"/>
          <p:cNvSpPr/>
          <p:nvPr/>
        </p:nvSpPr>
        <p:spPr>
          <a:xfrm>
            <a:off x="859536" y="2838069"/>
            <a:ext cx="347472" cy="347472"/>
          </a:xfrm>
          <a:prstGeom prst="ellipse">
            <a:avLst/>
          </a:prstGeom>
          <a:solidFill>
            <a:srgbClr val="1B8F62"/>
          </a:solidFill>
          <a:ln w="12700">
            <a:solidFill>
              <a:srgbClr val="1B8F62"/>
            </a:solidFill>
            <a:prstDash val="solid"/>
          </a:ln>
        </p:spPr>
        <p:txBody>
          <a:bodyPr/>
          <a:lstStyle/>
          <a:p>
            <a:endParaRPr lang="en-US"/>
          </a:p>
        </p:txBody>
      </p:sp>
      <p:sp>
        <p:nvSpPr>
          <p:cNvPr id="14" name="Text 12"/>
          <p:cNvSpPr/>
          <p:nvPr/>
        </p:nvSpPr>
        <p:spPr>
          <a:xfrm>
            <a:off x="859536" y="2838069"/>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353312" y="2766060"/>
            <a:ext cx="4645152" cy="491490"/>
          </a:xfrm>
          <a:prstGeom prst="rect">
            <a:avLst/>
          </a:prstGeom>
          <a:noFill/>
          <a:ln/>
        </p:spPr>
        <p:txBody>
          <a:bodyPr wrap="square" lIns="0" tIns="0" rIns="0" bIns="0" rtlCol="0" anchor="ctr"/>
          <a:lstStyle/>
          <a:p>
            <a:pPr marL="0" indent="0" algn="l">
              <a:lnSpc>
                <a:spcPct val="108000"/>
              </a:lnSpc>
              <a:buNone/>
            </a:pPr>
            <a:r>
              <a:rPr lang="en-US" sz="1300" b="1" dirty="0">
                <a:solidFill>
                  <a:srgbClr val="13233F"/>
                </a:solidFill>
                <a:latin typeface="Calibri" pitchFamily="34" charset="0"/>
                <a:ea typeface="Calibri" pitchFamily="34" charset="-122"/>
                <a:cs typeface="Calibri" pitchFamily="34" charset="-120"/>
              </a:rPr>
              <a:t>Choose the right account</a:t>
            </a:r>
            <a:r>
              <a:rPr lang="en-US" sz="1300" dirty="0">
                <a:solidFill>
                  <a:srgbClr val="5C6B7A"/>
                </a:solidFill>
                <a:latin typeface="Calibri" pitchFamily="34" charset="0"/>
                <a:ea typeface="Calibri" pitchFamily="34" charset="-122"/>
                <a:cs typeface="Calibri" pitchFamily="34" charset="-120"/>
              </a:rPr>
              <a:t>   the one you added as a test user</a:t>
            </a:r>
            <a:endParaRPr lang="en-US" sz="1300" dirty="0"/>
          </a:p>
        </p:txBody>
      </p:sp>
      <p:sp>
        <p:nvSpPr>
          <p:cNvPr id="16" name="Shape 14"/>
          <p:cNvSpPr/>
          <p:nvPr/>
        </p:nvSpPr>
        <p:spPr>
          <a:xfrm>
            <a:off x="658368" y="3348990"/>
            <a:ext cx="5577840" cy="491490"/>
          </a:xfrm>
          <a:prstGeom prst="roundRect">
            <a:avLst>
              <a:gd name="adj" fmla="val 13023"/>
            </a:avLst>
          </a:prstGeom>
          <a:solidFill>
            <a:srgbClr val="F2F5F9"/>
          </a:solidFill>
          <a:ln w="12700">
            <a:solidFill>
              <a:srgbClr val="F2F5F9"/>
            </a:solidFill>
            <a:prstDash val="solid"/>
          </a:ln>
        </p:spPr>
        <p:txBody>
          <a:bodyPr/>
          <a:lstStyle/>
          <a:p>
            <a:endParaRPr lang="en-US"/>
          </a:p>
        </p:txBody>
      </p:sp>
      <p:sp>
        <p:nvSpPr>
          <p:cNvPr id="17" name="Shape 15"/>
          <p:cNvSpPr/>
          <p:nvPr/>
        </p:nvSpPr>
        <p:spPr>
          <a:xfrm>
            <a:off x="859536" y="3420999"/>
            <a:ext cx="347472" cy="347472"/>
          </a:xfrm>
          <a:prstGeom prst="ellipse">
            <a:avLst/>
          </a:prstGeom>
          <a:solidFill>
            <a:srgbClr val="1B8F62"/>
          </a:solidFill>
          <a:ln w="12700">
            <a:solidFill>
              <a:srgbClr val="1B8F62"/>
            </a:solidFill>
            <a:prstDash val="solid"/>
          </a:ln>
        </p:spPr>
        <p:txBody>
          <a:bodyPr/>
          <a:lstStyle/>
          <a:p>
            <a:endParaRPr lang="en-US"/>
          </a:p>
        </p:txBody>
      </p:sp>
      <p:sp>
        <p:nvSpPr>
          <p:cNvPr id="18" name="Text 16"/>
          <p:cNvSpPr/>
          <p:nvPr/>
        </p:nvSpPr>
        <p:spPr>
          <a:xfrm>
            <a:off x="859536" y="3420999"/>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353312" y="3348990"/>
            <a:ext cx="4645152" cy="491490"/>
          </a:xfrm>
          <a:prstGeom prst="rect">
            <a:avLst/>
          </a:prstGeom>
          <a:noFill/>
          <a:ln/>
        </p:spPr>
        <p:txBody>
          <a:bodyPr wrap="square" lIns="0" tIns="0" rIns="0" bIns="0" rtlCol="0" anchor="ctr"/>
          <a:lstStyle/>
          <a:p>
            <a:pPr marL="0" indent="0" algn="l">
              <a:lnSpc>
                <a:spcPct val="108000"/>
              </a:lnSpc>
              <a:buNone/>
            </a:pPr>
            <a:r>
              <a:rPr lang="en-US" sz="1300" b="1" dirty="0">
                <a:solidFill>
                  <a:srgbClr val="13233F"/>
                </a:solidFill>
                <a:latin typeface="Calibri" pitchFamily="34" charset="0"/>
                <a:ea typeface="Calibri" pitchFamily="34" charset="-122"/>
                <a:cs typeface="Calibri" pitchFamily="34" charset="-120"/>
              </a:rPr>
              <a:t>Approve Drive access</a:t>
            </a:r>
            <a:r>
              <a:rPr lang="en-US" sz="1300" dirty="0">
                <a:solidFill>
                  <a:srgbClr val="5C6B7A"/>
                </a:solidFill>
                <a:latin typeface="Calibri" pitchFamily="34" charset="0"/>
                <a:ea typeface="Calibri" pitchFamily="34" charset="-122"/>
                <a:cs typeface="Calibri" pitchFamily="34" charset="-120"/>
              </a:rPr>
              <a:t>   then name and save the credential</a:t>
            </a:r>
            <a:endParaRPr lang="en-US" sz="1300" dirty="0"/>
          </a:p>
        </p:txBody>
      </p:sp>
      <p:sp>
        <p:nvSpPr>
          <p:cNvPr id="20" name="Shape 18"/>
          <p:cNvSpPr/>
          <p:nvPr/>
        </p:nvSpPr>
        <p:spPr>
          <a:xfrm>
            <a:off x="7659620" y="1536192"/>
            <a:ext cx="2816055" cy="1234440"/>
          </a:xfrm>
          <a:prstGeom prst="roundRect">
            <a:avLst>
              <a:gd name="adj" fmla="val 4444"/>
            </a:avLst>
          </a:prstGeom>
          <a:solidFill>
            <a:srgbClr val="F2F5F9"/>
          </a:solidFill>
          <a:ln w="12700">
            <a:solidFill>
              <a:srgbClr val="E4EBF3"/>
            </a:solidFill>
            <a:prstDash val="solid"/>
          </a:ln>
        </p:spPr>
        <p:txBody>
          <a:bodyPr/>
          <a:lstStyle/>
          <a:p>
            <a:endParaRPr lang="en-US"/>
          </a:p>
        </p:txBody>
      </p:sp>
      <p:pic>
        <p:nvPicPr>
          <p:cNvPr id="21" name="Image 0" descr="/tmp/build/img/image7.png"/>
          <p:cNvPicPr>
            <a:picLocks noChangeAspect="1"/>
          </p:cNvPicPr>
          <p:nvPr/>
        </p:nvPicPr>
        <p:blipFill>
          <a:blip r:embed="rId3"/>
          <a:stretch>
            <a:fillRect/>
          </a:stretch>
        </p:blipFill>
        <p:spPr>
          <a:xfrm>
            <a:off x="7751060" y="1627632"/>
            <a:ext cx="2633175" cy="1051560"/>
          </a:xfrm>
          <a:prstGeom prst="rect">
            <a:avLst/>
          </a:prstGeom>
        </p:spPr>
      </p:pic>
      <p:sp>
        <p:nvSpPr>
          <p:cNvPr id="22" name="Text 19"/>
          <p:cNvSpPr/>
          <p:nvPr/>
        </p:nvSpPr>
        <p:spPr>
          <a:xfrm>
            <a:off x="7659620" y="2825496"/>
            <a:ext cx="2816055"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1 · the Google pop-up closes itself</a:t>
            </a:r>
            <a:endParaRPr lang="en-US" sz="1100" dirty="0"/>
          </a:p>
        </p:txBody>
      </p:sp>
      <p:sp>
        <p:nvSpPr>
          <p:cNvPr id="23" name="Shape 20"/>
          <p:cNvSpPr/>
          <p:nvPr/>
        </p:nvSpPr>
        <p:spPr>
          <a:xfrm>
            <a:off x="6510528" y="3154680"/>
            <a:ext cx="5114239" cy="827178"/>
          </a:xfrm>
          <a:prstGeom prst="roundRect">
            <a:avLst>
              <a:gd name="adj" fmla="val 6633"/>
            </a:avLst>
          </a:prstGeom>
          <a:solidFill>
            <a:srgbClr val="F2F5F9"/>
          </a:solidFill>
          <a:ln w="12700">
            <a:solidFill>
              <a:srgbClr val="E4EBF3"/>
            </a:solidFill>
            <a:prstDash val="solid"/>
          </a:ln>
        </p:spPr>
        <p:txBody>
          <a:bodyPr/>
          <a:lstStyle/>
          <a:p>
            <a:endParaRPr lang="en-US"/>
          </a:p>
        </p:txBody>
      </p:sp>
      <p:pic>
        <p:nvPicPr>
          <p:cNvPr id="24" name="Image 1" descr="/tmp/build/img/image22.png"/>
          <p:cNvPicPr>
            <a:picLocks noChangeAspect="1"/>
          </p:cNvPicPr>
          <p:nvPr/>
        </p:nvPicPr>
        <p:blipFill>
          <a:blip r:embed="rId4"/>
          <a:stretch>
            <a:fillRect/>
          </a:stretch>
        </p:blipFill>
        <p:spPr>
          <a:xfrm>
            <a:off x="6601968" y="3246120"/>
            <a:ext cx="4931359" cy="644298"/>
          </a:xfrm>
          <a:prstGeom prst="rect">
            <a:avLst/>
          </a:prstGeom>
        </p:spPr>
      </p:pic>
      <p:sp>
        <p:nvSpPr>
          <p:cNvPr id="25" name="Text 21"/>
          <p:cNvSpPr/>
          <p:nvPr/>
        </p:nvSpPr>
        <p:spPr>
          <a:xfrm>
            <a:off x="6510528" y="4036722"/>
            <a:ext cx="5114239"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2 · and n8n shows Account connected</a:t>
            </a:r>
            <a:endParaRPr lang="en-US" sz="1100" dirty="0"/>
          </a:p>
        </p:txBody>
      </p:sp>
      <p:sp>
        <p:nvSpPr>
          <p:cNvPr id="26" name="Shape 22"/>
          <p:cNvSpPr/>
          <p:nvPr/>
        </p:nvSpPr>
        <p:spPr>
          <a:xfrm>
            <a:off x="658368" y="4343400"/>
            <a:ext cx="10874959" cy="1463040"/>
          </a:xfrm>
          <a:prstGeom prst="roundRect">
            <a:avLst>
              <a:gd name="adj" fmla="val 5000"/>
            </a:avLst>
          </a:prstGeom>
          <a:solidFill>
            <a:srgbClr val="FCF2E4"/>
          </a:solidFill>
          <a:ln w="12700">
            <a:solidFill>
              <a:srgbClr val="FCF2E4"/>
            </a:solidFill>
            <a:prstDash val="solid"/>
          </a:ln>
        </p:spPr>
        <p:txBody>
          <a:bodyPr/>
          <a:lstStyle/>
          <a:p>
            <a:endParaRPr lang="en-US"/>
          </a:p>
        </p:txBody>
      </p:sp>
      <p:sp>
        <p:nvSpPr>
          <p:cNvPr id="27" name="Text 23"/>
          <p:cNvSpPr/>
          <p:nvPr/>
        </p:nvSpPr>
        <p:spPr>
          <a:xfrm>
            <a:off x="932688" y="4489704"/>
            <a:ext cx="10326319" cy="219456"/>
          </a:xfrm>
          <a:prstGeom prst="rect">
            <a:avLst/>
          </a:prstGeom>
          <a:noFill/>
          <a:ln/>
        </p:spPr>
        <p:txBody>
          <a:bodyPr wrap="square" lIns="0" tIns="0" rIns="0" bIns="0" rtlCol="0" anchor="ctr"/>
          <a:lstStyle/>
          <a:p>
            <a:pPr marL="0" indent="0" algn="l">
              <a:buNone/>
            </a:pPr>
            <a:r>
              <a:rPr lang="en-US" sz="1050" b="1" kern="0" spc="160" dirty="0">
                <a:solidFill>
                  <a:srgbClr val="A85F12"/>
                </a:solidFill>
                <a:latin typeface="Calibri" pitchFamily="34" charset="0"/>
                <a:ea typeface="Calibri" pitchFamily="34" charset="-122"/>
                <a:cs typeface="Calibri" pitchFamily="34" charset="-120"/>
              </a:rPr>
              <a:t>IF IT FAILS, STOP HERE</a:t>
            </a:r>
            <a:endParaRPr lang="en-US" sz="1050" dirty="0"/>
          </a:p>
        </p:txBody>
      </p:sp>
      <p:sp>
        <p:nvSpPr>
          <p:cNvPr id="28" name="Text 24"/>
          <p:cNvSpPr/>
          <p:nvPr/>
        </p:nvSpPr>
        <p:spPr>
          <a:xfrm>
            <a:off x="932688" y="4745736"/>
            <a:ext cx="10326319" cy="89611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Access blocked / 403  →  you are not on the Test users list, or signed in with another account</a:t>
            </a:r>
            <a:endParaRPr lang="en-US" sz="1400" dirty="0"/>
          </a:p>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redirect_uri_mismatch  →  re-copy the URL from n8n into the OAuth client</a:t>
            </a:r>
            <a:endParaRPr lang="en-US" sz="1400" dirty="0"/>
          </a:p>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invalid_client  →  a stray space in the ID or secret; re-copy both</a:t>
            </a:r>
            <a:endParaRPr lang="en-US" sz="1400" dirty="0"/>
          </a:p>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Nothing happens at all  →  your browser blocked the pop-up</a:t>
            </a:r>
            <a:endParaRPr lang="en-US" sz="1400" dirty="0"/>
          </a:p>
        </p:txBody>
      </p:sp>
      <p:sp>
        <p:nvSpPr>
          <p:cNvPr id="29" name="Text 25"/>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STEPS 7 AND 8</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Import the workflow, then read the input</a:t>
            </a:r>
            <a:endParaRPr lang="en-US" sz="3000" dirty="0"/>
          </a:p>
        </p:txBody>
      </p:sp>
      <p:sp>
        <p:nvSpPr>
          <p:cNvPr id="4" name="Shape 2"/>
          <p:cNvSpPr/>
          <p:nvPr/>
        </p:nvSpPr>
        <p:spPr>
          <a:xfrm>
            <a:off x="2673706" y="1444752"/>
            <a:ext cx="6844284" cy="2331720"/>
          </a:xfrm>
          <a:prstGeom prst="roundRect">
            <a:avLst>
              <a:gd name="adj" fmla="val 2353"/>
            </a:avLst>
          </a:prstGeom>
          <a:solidFill>
            <a:srgbClr val="F2F5F9"/>
          </a:solidFill>
          <a:ln w="12700">
            <a:solidFill>
              <a:srgbClr val="E4EBF3"/>
            </a:solidFill>
            <a:prstDash val="solid"/>
          </a:ln>
        </p:spPr>
        <p:txBody>
          <a:bodyPr/>
          <a:lstStyle/>
          <a:p>
            <a:endParaRPr lang="en-US"/>
          </a:p>
        </p:txBody>
      </p:sp>
      <p:pic>
        <p:nvPicPr>
          <p:cNvPr id="5" name="Image 0" descr="/tmp/build/img/image9.png"/>
          <p:cNvPicPr>
            <a:picLocks noChangeAspect="1"/>
          </p:cNvPicPr>
          <p:nvPr/>
        </p:nvPicPr>
        <p:blipFill>
          <a:blip r:embed="rId3"/>
          <a:stretch>
            <a:fillRect/>
          </a:stretch>
        </p:blipFill>
        <p:spPr>
          <a:xfrm>
            <a:off x="2765146" y="1536192"/>
            <a:ext cx="6661404" cy="2148840"/>
          </a:xfrm>
          <a:prstGeom prst="rect">
            <a:avLst/>
          </a:prstGeom>
        </p:spPr>
      </p:pic>
      <p:sp>
        <p:nvSpPr>
          <p:cNvPr id="6" name="Text 3"/>
          <p:cNvSpPr/>
          <p:nvPr/>
        </p:nvSpPr>
        <p:spPr>
          <a:xfrm>
            <a:off x="2673706" y="3831336"/>
            <a:ext cx="6844284"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After import these are the only two nodes Lesson 1 uses.</a:t>
            </a:r>
            <a:endParaRPr lang="en-US" sz="1100" dirty="0"/>
          </a:p>
        </p:txBody>
      </p:sp>
      <p:sp>
        <p:nvSpPr>
          <p:cNvPr id="7" name="Text 4"/>
          <p:cNvSpPr/>
          <p:nvPr/>
        </p:nvSpPr>
        <p:spPr>
          <a:xfrm>
            <a:off x="658368" y="4114800"/>
            <a:ext cx="10874959" cy="365760"/>
          </a:xfrm>
          <a:prstGeom prst="rect">
            <a:avLst/>
          </a:prstGeom>
          <a:noFill/>
          <a:ln/>
        </p:spPr>
        <p:txBody>
          <a:bodyPr wrap="square" lIns="0" tIns="0" rIns="0" bIns="0" rtlCol="0" anchor="ctr"/>
          <a:lstStyle/>
          <a:p>
            <a:pPr marL="0" indent="0" algn="l">
              <a:buNone/>
            </a:pPr>
            <a:r>
              <a:rPr lang="en-US" sz="1600" b="1" dirty="0">
                <a:solidFill>
                  <a:srgbClr val="13233F"/>
                </a:solidFill>
                <a:latin typeface="Calibri" pitchFamily="34" charset="0"/>
                <a:ea typeface="Calibri" pitchFamily="34" charset="-122"/>
                <a:cs typeface="Calibri" pitchFamily="34" charset="-120"/>
              </a:rPr>
              <a:t>The input field is called query. The file name is the value you pass into it.</a:t>
            </a:r>
            <a:endParaRPr lang="en-US" sz="1600" dirty="0"/>
          </a:p>
        </p:txBody>
      </p:sp>
      <p:sp>
        <p:nvSpPr>
          <p:cNvPr id="8" name="Shape 5"/>
          <p:cNvSpPr/>
          <p:nvPr/>
        </p:nvSpPr>
        <p:spPr>
          <a:xfrm>
            <a:off x="658368" y="4498848"/>
            <a:ext cx="5254600" cy="1371600"/>
          </a:xfrm>
          <a:prstGeom prst="roundRect">
            <a:avLst>
              <a:gd name="adj" fmla="val 6000"/>
            </a:avLst>
          </a:prstGeom>
          <a:solidFill>
            <a:srgbClr val="E7F5EE"/>
          </a:solidFill>
          <a:ln w="12700">
            <a:solidFill>
              <a:srgbClr val="E7F5EE"/>
            </a:solidFill>
            <a:prstDash val="solid"/>
          </a:ln>
          <a:effectLst>
            <a:outerShdw blurRad="127000" dist="25400" dir="5400000" algn="bl" rotWithShape="0">
              <a:srgbClr val="8496AC">
                <a:alpha val="18000"/>
              </a:srgbClr>
            </a:outerShdw>
          </a:effectLst>
        </p:spPr>
        <p:txBody>
          <a:bodyPr/>
          <a:lstStyle/>
          <a:p>
            <a:endParaRPr lang="en-US"/>
          </a:p>
        </p:txBody>
      </p:sp>
      <p:sp>
        <p:nvSpPr>
          <p:cNvPr id="9" name="Text 6"/>
          <p:cNvSpPr/>
          <p:nvPr/>
        </p:nvSpPr>
        <p:spPr>
          <a:xfrm>
            <a:off x="914400" y="4736592"/>
            <a:ext cx="4742536" cy="310896"/>
          </a:xfrm>
          <a:prstGeom prst="rect">
            <a:avLst/>
          </a:prstGeom>
          <a:noFill/>
          <a:ln/>
        </p:spPr>
        <p:txBody>
          <a:bodyPr wrap="square" lIns="0" tIns="0" rIns="0" bIns="0" rtlCol="0" anchor="ctr"/>
          <a:lstStyle/>
          <a:p>
            <a:pPr marL="0" indent="0" algn="l">
              <a:lnSpc>
                <a:spcPct val="102000"/>
              </a:lnSpc>
              <a:buNone/>
            </a:pPr>
            <a:r>
              <a:rPr lang="en-US" sz="1500" b="1" dirty="0">
                <a:solidFill>
                  <a:srgbClr val="1B8F62"/>
                </a:solidFill>
                <a:latin typeface="Calibri" pitchFamily="34" charset="0"/>
                <a:ea typeface="Calibri" pitchFamily="34" charset="-122"/>
                <a:cs typeface="Calibri" pitchFamily="34" charset="-120"/>
              </a:rPr>
              <a:t>✓   Correct</a:t>
            </a:r>
            <a:endParaRPr lang="en-US" sz="1500" dirty="0"/>
          </a:p>
        </p:txBody>
      </p:sp>
      <p:sp>
        <p:nvSpPr>
          <p:cNvPr id="10" name="Text 7"/>
          <p:cNvSpPr/>
          <p:nvPr/>
        </p:nvSpPr>
        <p:spPr>
          <a:xfrm>
            <a:off x="914400" y="5102352"/>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Field name:  query</a:t>
            </a:r>
            <a:endParaRPr lang="en-US" sz="1300" dirty="0"/>
          </a:p>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Value passed in:  University_AI_Course.txt</a:t>
            </a:r>
            <a:endParaRPr lang="en-US" sz="1300" dirty="0"/>
          </a:p>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The workflow can search for any file.</a:t>
            </a:r>
            <a:endParaRPr lang="en-US" sz="1300" dirty="0"/>
          </a:p>
        </p:txBody>
      </p:sp>
      <p:sp>
        <p:nvSpPr>
          <p:cNvPr id="11" name="Shape 8"/>
          <p:cNvSpPr/>
          <p:nvPr/>
        </p:nvSpPr>
        <p:spPr>
          <a:xfrm>
            <a:off x="6278728" y="4498848"/>
            <a:ext cx="5254600" cy="1371600"/>
          </a:xfrm>
          <a:prstGeom prst="roundRect">
            <a:avLst>
              <a:gd name="adj" fmla="val 6000"/>
            </a:avLst>
          </a:prstGeom>
          <a:solidFill>
            <a:srgbClr val="FBEBEE"/>
          </a:solidFill>
          <a:ln w="12700">
            <a:solidFill>
              <a:srgbClr val="FBEBEE"/>
            </a:solidFill>
            <a:prstDash val="solid"/>
          </a:ln>
          <a:effectLst>
            <a:outerShdw blurRad="127000" dist="25400" dir="5400000" algn="bl" rotWithShape="0">
              <a:srgbClr val="8496AC">
                <a:alpha val="18000"/>
              </a:srgbClr>
            </a:outerShdw>
          </a:effectLst>
        </p:spPr>
        <p:txBody>
          <a:bodyPr/>
          <a:lstStyle/>
          <a:p>
            <a:endParaRPr lang="en-US"/>
          </a:p>
        </p:txBody>
      </p:sp>
      <p:sp>
        <p:nvSpPr>
          <p:cNvPr id="12" name="Text 9"/>
          <p:cNvSpPr/>
          <p:nvPr/>
        </p:nvSpPr>
        <p:spPr>
          <a:xfrm>
            <a:off x="6534760" y="4736592"/>
            <a:ext cx="4742536" cy="310896"/>
          </a:xfrm>
          <a:prstGeom prst="rect">
            <a:avLst/>
          </a:prstGeom>
          <a:noFill/>
          <a:ln/>
        </p:spPr>
        <p:txBody>
          <a:bodyPr wrap="square" lIns="0" tIns="0" rIns="0" bIns="0" rtlCol="0" anchor="ctr"/>
          <a:lstStyle/>
          <a:p>
            <a:pPr marL="0" indent="0" algn="l">
              <a:lnSpc>
                <a:spcPct val="102000"/>
              </a:lnSpc>
              <a:buNone/>
            </a:pPr>
            <a:r>
              <a:rPr lang="en-US" sz="1500" b="1" dirty="0">
                <a:solidFill>
                  <a:srgbClr val="B32E4C"/>
                </a:solidFill>
                <a:latin typeface="Calibri" pitchFamily="34" charset="0"/>
                <a:ea typeface="Calibri" pitchFamily="34" charset="-122"/>
                <a:cs typeface="Calibri" pitchFamily="34" charset="-120"/>
              </a:rPr>
              <a:t>✕   Incorrect</a:t>
            </a:r>
            <a:endParaRPr lang="en-US" sz="1500" dirty="0"/>
          </a:p>
        </p:txBody>
      </p:sp>
      <p:sp>
        <p:nvSpPr>
          <p:cNvPr id="13" name="Text 10"/>
          <p:cNvSpPr/>
          <p:nvPr/>
        </p:nvSpPr>
        <p:spPr>
          <a:xfrm>
            <a:off x="6534760" y="5102352"/>
            <a:ext cx="4742536" cy="566928"/>
          </a:xfrm>
          <a:prstGeom prst="rect">
            <a:avLst/>
          </a:prstGeom>
          <a:noFill/>
          <a:ln/>
        </p:spPr>
        <p:txBody>
          <a:bodyPr wrap="square" lIns="0" tIns="0" rIns="0" bIns="0" rtlCol="0" anchor="t"/>
          <a:lstStyle/>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Field name:  University_AI_Course.txt</a:t>
            </a:r>
            <a:endParaRPr lang="en-US" sz="1300" dirty="0"/>
          </a:p>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The node reads {{ $json.query }} — rename the field and that expression points at nothing.</a:t>
            </a:r>
            <a:endParaRPr lang="en-US" sz="1300" dirty="0"/>
          </a:p>
        </p:txBody>
      </p:sp>
      <p:sp>
        <p:nvSpPr>
          <p:cNvPr id="14" name="Text 11"/>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STEP 9</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Search for the file and read the result</a:t>
            </a:r>
            <a:endParaRPr lang="en-US" sz="3000" dirty="0"/>
          </a:p>
        </p:txBody>
      </p:sp>
      <p:sp>
        <p:nvSpPr>
          <p:cNvPr id="4" name="Shape 2"/>
          <p:cNvSpPr/>
          <p:nvPr/>
        </p:nvSpPr>
        <p:spPr>
          <a:xfrm>
            <a:off x="658368" y="1572768"/>
            <a:ext cx="4846320" cy="396240"/>
          </a:xfrm>
          <a:prstGeom prst="roundRect">
            <a:avLst>
              <a:gd name="adj" fmla="val 16154"/>
            </a:avLst>
          </a:prstGeom>
          <a:solidFill>
            <a:srgbClr val="F2F5F9"/>
          </a:solidFill>
          <a:ln w="12700">
            <a:solidFill>
              <a:srgbClr val="F2F5F9"/>
            </a:solidFill>
            <a:prstDash val="solid"/>
          </a:ln>
        </p:spPr>
        <p:txBody>
          <a:bodyPr/>
          <a:lstStyle/>
          <a:p>
            <a:endParaRPr lang="en-US"/>
          </a:p>
        </p:txBody>
      </p:sp>
      <p:sp>
        <p:nvSpPr>
          <p:cNvPr id="5" name="Text 3"/>
          <p:cNvSpPr/>
          <p:nvPr/>
        </p:nvSpPr>
        <p:spPr>
          <a:xfrm>
            <a:off x="896112" y="1572768"/>
            <a:ext cx="4370832" cy="396240"/>
          </a:xfrm>
          <a:prstGeom prst="rect">
            <a:avLst/>
          </a:prstGeom>
          <a:noFill/>
          <a:ln/>
        </p:spPr>
        <p:txBody>
          <a:bodyPr wrap="square" lIns="0" tIns="0" rIns="0" bIns="0" rtlCol="0" anchor="ctr"/>
          <a:lstStyle/>
          <a:p>
            <a:pPr marL="0" indent="0" algn="l">
              <a:lnSpc>
                <a:spcPct val="108000"/>
              </a:lnSpc>
              <a:buNone/>
            </a:pPr>
            <a:r>
              <a:rPr lang="en-US" sz="1250" b="1" dirty="0">
                <a:solidFill>
                  <a:srgbClr val="13233F"/>
                </a:solidFill>
                <a:latin typeface="Calibri" pitchFamily="34" charset="0"/>
                <a:ea typeface="Calibri" pitchFamily="34" charset="-122"/>
                <a:cs typeface="Calibri" pitchFamily="34" charset="-120"/>
              </a:rPr>
              <a:t>Resource</a:t>
            </a:r>
            <a:r>
              <a:rPr lang="en-US" sz="1250" dirty="0">
                <a:solidFill>
                  <a:srgbClr val="5C6B7A"/>
                </a:solidFill>
                <a:latin typeface="Calibri" pitchFamily="34" charset="0"/>
                <a:ea typeface="Calibri" pitchFamily="34" charset="-122"/>
                <a:cs typeface="Calibri" pitchFamily="34" charset="-120"/>
              </a:rPr>
              <a:t>   File/Folder</a:t>
            </a:r>
            <a:endParaRPr lang="en-US" sz="1250" dirty="0"/>
          </a:p>
        </p:txBody>
      </p:sp>
      <p:sp>
        <p:nvSpPr>
          <p:cNvPr id="6" name="Shape 4"/>
          <p:cNvSpPr/>
          <p:nvPr/>
        </p:nvSpPr>
        <p:spPr>
          <a:xfrm>
            <a:off x="658368" y="2042160"/>
            <a:ext cx="4846320" cy="396240"/>
          </a:xfrm>
          <a:prstGeom prst="roundRect">
            <a:avLst>
              <a:gd name="adj" fmla="val 16154"/>
            </a:avLst>
          </a:prstGeom>
          <a:solidFill>
            <a:srgbClr val="F2F5F9"/>
          </a:solidFill>
          <a:ln w="12700">
            <a:solidFill>
              <a:srgbClr val="F2F5F9"/>
            </a:solidFill>
            <a:prstDash val="solid"/>
          </a:ln>
        </p:spPr>
        <p:txBody>
          <a:bodyPr/>
          <a:lstStyle/>
          <a:p>
            <a:endParaRPr lang="en-US"/>
          </a:p>
        </p:txBody>
      </p:sp>
      <p:sp>
        <p:nvSpPr>
          <p:cNvPr id="7" name="Text 5"/>
          <p:cNvSpPr/>
          <p:nvPr/>
        </p:nvSpPr>
        <p:spPr>
          <a:xfrm>
            <a:off x="896112" y="2042160"/>
            <a:ext cx="4370832" cy="396240"/>
          </a:xfrm>
          <a:prstGeom prst="rect">
            <a:avLst/>
          </a:prstGeom>
          <a:noFill/>
          <a:ln/>
        </p:spPr>
        <p:txBody>
          <a:bodyPr wrap="square" lIns="0" tIns="0" rIns="0" bIns="0" rtlCol="0" anchor="ctr"/>
          <a:lstStyle/>
          <a:p>
            <a:pPr marL="0" indent="0" algn="l">
              <a:lnSpc>
                <a:spcPct val="108000"/>
              </a:lnSpc>
              <a:buNone/>
            </a:pPr>
            <a:r>
              <a:rPr lang="en-US" sz="1250" b="1" dirty="0">
                <a:solidFill>
                  <a:srgbClr val="13233F"/>
                </a:solidFill>
                <a:latin typeface="Calibri" pitchFamily="34" charset="0"/>
                <a:ea typeface="Calibri" pitchFamily="34" charset="-122"/>
                <a:cs typeface="Calibri" pitchFamily="34" charset="-120"/>
              </a:rPr>
              <a:t>Operation</a:t>
            </a:r>
            <a:r>
              <a:rPr lang="en-US" sz="1250" dirty="0">
                <a:solidFill>
                  <a:srgbClr val="5C6B7A"/>
                </a:solidFill>
                <a:latin typeface="Calibri" pitchFamily="34" charset="0"/>
                <a:ea typeface="Calibri" pitchFamily="34" charset="-122"/>
                <a:cs typeface="Calibri" pitchFamily="34" charset="-120"/>
              </a:rPr>
              <a:t>   Search</a:t>
            </a:r>
            <a:endParaRPr lang="en-US" sz="1250" dirty="0"/>
          </a:p>
        </p:txBody>
      </p:sp>
      <p:sp>
        <p:nvSpPr>
          <p:cNvPr id="8" name="Shape 6"/>
          <p:cNvSpPr/>
          <p:nvPr/>
        </p:nvSpPr>
        <p:spPr>
          <a:xfrm>
            <a:off x="658368" y="2511552"/>
            <a:ext cx="4846320" cy="396240"/>
          </a:xfrm>
          <a:prstGeom prst="roundRect">
            <a:avLst>
              <a:gd name="adj" fmla="val 16154"/>
            </a:avLst>
          </a:prstGeom>
          <a:solidFill>
            <a:srgbClr val="F2F5F9"/>
          </a:solidFill>
          <a:ln w="12700">
            <a:solidFill>
              <a:srgbClr val="F2F5F9"/>
            </a:solidFill>
            <a:prstDash val="solid"/>
          </a:ln>
        </p:spPr>
        <p:txBody>
          <a:bodyPr/>
          <a:lstStyle/>
          <a:p>
            <a:endParaRPr lang="en-US"/>
          </a:p>
        </p:txBody>
      </p:sp>
      <p:sp>
        <p:nvSpPr>
          <p:cNvPr id="9" name="Text 7"/>
          <p:cNvSpPr/>
          <p:nvPr/>
        </p:nvSpPr>
        <p:spPr>
          <a:xfrm>
            <a:off x="896112" y="2511552"/>
            <a:ext cx="4370832" cy="396240"/>
          </a:xfrm>
          <a:prstGeom prst="rect">
            <a:avLst/>
          </a:prstGeom>
          <a:noFill/>
          <a:ln/>
        </p:spPr>
        <p:txBody>
          <a:bodyPr wrap="square" lIns="0" tIns="0" rIns="0" bIns="0" rtlCol="0" anchor="ctr"/>
          <a:lstStyle/>
          <a:p>
            <a:pPr marL="0" indent="0" algn="l">
              <a:lnSpc>
                <a:spcPct val="108000"/>
              </a:lnSpc>
              <a:buNone/>
            </a:pPr>
            <a:r>
              <a:rPr lang="en-US" sz="1250" b="1" dirty="0">
                <a:solidFill>
                  <a:srgbClr val="13233F"/>
                </a:solidFill>
                <a:latin typeface="Calibri" pitchFamily="34" charset="0"/>
                <a:ea typeface="Calibri" pitchFamily="34" charset="-122"/>
                <a:cs typeface="Calibri" pitchFamily="34" charset="-120"/>
              </a:rPr>
              <a:t>Search Method</a:t>
            </a:r>
            <a:r>
              <a:rPr lang="en-US" sz="1250" dirty="0">
                <a:solidFill>
                  <a:srgbClr val="5C6B7A"/>
                </a:solidFill>
                <a:latin typeface="Calibri" pitchFamily="34" charset="0"/>
                <a:ea typeface="Calibri" pitchFamily="34" charset="-122"/>
                <a:cs typeface="Calibri" pitchFamily="34" charset="-120"/>
              </a:rPr>
              <a:t>   Search File/Folder Name</a:t>
            </a:r>
            <a:endParaRPr lang="en-US" sz="1250" dirty="0"/>
          </a:p>
        </p:txBody>
      </p:sp>
      <p:sp>
        <p:nvSpPr>
          <p:cNvPr id="10" name="Shape 8"/>
          <p:cNvSpPr/>
          <p:nvPr/>
        </p:nvSpPr>
        <p:spPr>
          <a:xfrm>
            <a:off x="658368" y="2980944"/>
            <a:ext cx="4846320" cy="396240"/>
          </a:xfrm>
          <a:prstGeom prst="roundRect">
            <a:avLst>
              <a:gd name="adj" fmla="val 16154"/>
            </a:avLst>
          </a:prstGeom>
          <a:solidFill>
            <a:srgbClr val="F2F5F9"/>
          </a:solidFill>
          <a:ln w="12700">
            <a:solidFill>
              <a:srgbClr val="F2F5F9"/>
            </a:solidFill>
            <a:prstDash val="solid"/>
          </a:ln>
        </p:spPr>
        <p:txBody>
          <a:bodyPr/>
          <a:lstStyle/>
          <a:p>
            <a:endParaRPr lang="en-US"/>
          </a:p>
        </p:txBody>
      </p:sp>
      <p:sp>
        <p:nvSpPr>
          <p:cNvPr id="11" name="Text 9"/>
          <p:cNvSpPr/>
          <p:nvPr/>
        </p:nvSpPr>
        <p:spPr>
          <a:xfrm>
            <a:off x="896112" y="2980944"/>
            <a:ext cx="4370832" cy="396240"/>
          </a:xfrm>
          <a:prstGeom prst="rect">
            <a:avLst/>
          </a:prstGeom>
          <a:noFill/>
          <a:ln/>
        </p:spPr>
        <p:txBody>
          <a:bodyPr wrap="square" lIns="0" tIns="0" rIns="0" bIns="0" rtlCol="0" anchor="ctr"/>
          <a:lstStyle/>
          <a:p>
            <a:pPr marL="0" indent="0" algn="l">
              <a:lnSpc>
                <a:spcPct val="108000"/>
              </a:lnSpc>
              <a:buNone/>
            </a:pPr>
            <a:r>
              <a:rPr lang="en-US" sz="1250" b="1" dirty="0">
                <a:solidFill>
                  <a:srgbClr val="13233F"/>
                </a:solidFill>
                <a:latin typeface="Calibri" pitchFamily="34" charset="0"/>
                <a:ea typeface="Calibri" pitchFamily="34" charset="-122"/>
                <a:cs typeface="Calibri" pitchFamily="34" charset="-120"/>
              </a:rPr>
              <a:t>Search Query</a:t>
            </a:r>
            <a:r>
              <a:rPr lang="en-US" sz="1250" dirty="0">
                <a:solidFill>
                  <a:srgbClr val="5C6B7A"/>
                </a:solidFill>
                <a:latin typeface="Calibri" pitchFamily="34" charset="0"/>
                <a:ea typeface="Calibri" pitchFamily="34" charset="-122"/>
                <a:cs typeface="Calibri" pitchFamily="34" charset="-120"/>
              </a:rPr>
              <a:t>   University_AI_Course.txt</a:t>
            </a:r>
            <a:endParaRPr lang="en-US" sz="1250" dirty="0"/>
          </a:p>
        </p:txBody>
      </p:sp>
      <p:sp>
        <p:nvSpPr>
          <p:cNvPr id="12" name="Shape 10"/>
          <p:cNvSpPr/>
          <p:nvPr/>
        </p:nvSpPr>
        <p:spPr>
          <a:xfrm>
            <a:off x="658368" y="3450336"/>
            <a:ext cx="4846320" cy="396240"/>
          </a:xfrm>
          <a:prstGeom prst="roundRect">
            <a:avLst>
              <a:gd name="adj" fmla="val 16154"/>
            </a:avLst>
          </a:prstGeom>
          <a:solidFill>
            <a:srgbClr val="F2F5F9"/>
          </a:solidFill>
          <a:ln w="12700">
            <a:solidFill>
              <a:srgbClr val="F2F5F9"/>
            </a:solidFill>
            <a:prstDash val="solid"/>
          </a:ln>
        </p:spPr>
        <p:txBody>
          <a:bodyPr/>
          <a:lstStyle/>
          <a:p>
            <a:endParaRPr lang="en-US"/>
          </a:p>
        </p:txBody>
      </p:sp>
      <p:sp>
        <p:nvSpPr>
          <p:cNvPr id="13" name="Text 11"/>
          <p:cNvSpPr/>
          <p:nvPr/>
        </p:nvSpPr>
        <p:spPr>
          <a:xfrm>
            <a:off x="896112" y="3450336"/>
            <a:ext cx="4370832" cy="396240"/>
          </a:xfrm>
          <a:prstGeom prst="rect">
            <a:avLst/>
          </a:prstGeom>
          <a:noFill/>
          <a:ln/>
        </p:spPr>
        <p:txBody>
          <a:bodyPr wrap="square" lIns="0" tIns="0" rIns="0" bIns="0" rtlCol="0" anchor="ctr"/>
          <a:lstStyle/>
          <a:p>
            <a:pPr marL="0" indent="0" algn="l">
              <a:lnSpc>
                <a:spcPct val="108000"/>
              </a:lnSpc>
              <a:buNone/>
            </a:pPr>
            <a:r>
              <a:rPr lang="en-US" sz="1250" b="1" dirty="0">
                <a:solidFill>
                  <a:srgbClr val="13233F"/>
                </a:solidFill>
                <a:latin typeface="Calibri" pitchFamily="34" charset="0"/>
                <a:ea typeface="Calibri" pitchFamily="34" charset="-122"/>
                <a:cs typeface="Calibri" pitchFamily="34" charset="-120"/>
              </a:rPr>
              <a:t>Return All</a:t>
            </a:r>
            <a:r>
              <a:rPr lang="en-US" sz="1250" dirty="0">
                <a:solidFill>
                  <a:srgbClr val="5C6B7A"/>
                </a:solidFill>
                <a:latin typeface="Calibri" pitchFamily="34" charset="0"/>
                <a:ea typeface="Calibri" pitchFamily="34" charset="-122"/>
                <a:cs typeface="Calibri" pitchFamily="34" charset="-120"/>
              </a:rPr>
              <a:t>   Off</a:t>
            </a:r>
            <a:endParaRPr lang="en-US" sz="1250" dirty="0"/>
          </a:p>
        </p:txBody>
      </p:sp>
      <p:sp>
        <p:nvSpPr>
          <p:cNvPr id="14" name="Shape 12"/>
          <p:cNvSpPr/>
          <p:nvPr/>
        </p:nvSpPr>
        <p:spPr>
          <a:xfrm>
            <a:off x="658368" y="3919728"/>
            <a:ext cx="4846320" cy="396240"/>
          </a:xfrm>
          <a:prstGeom prst="roundRect">
            <a:avLst>
              <a:gd name="adj" fmla="val 16154"/>
            </a:avLst>
          </a:prstGeom>
          <a:solidFill>
            <a:srgbClr val="F2F5F9"/>
          </a:solidFill>
          <a:ln w="12700">
            <a:solidFill>
              <a:srgbClr val="F2F5F9"/>
            </a:solidFill>
            <a:prstDash val="solid"/>
          </a:ln>
        </p:spPr>
        <p:txBody>
          <a:bodyPr/>
          <a:lstStyle/>
          <a:p>
            <a:endParaRPr lang="en-US"/>
          </a:p>
        </p:txBody>
      </p:sp>
      <p:sp>
        <p:nvSpPr>
          <p:cNvPr id="15" name="Text 13"/>
          <p:cNvSpPr/>
          <p:nvPr/>
        </p:nvSpPr>
        <p:spPr>
          <a:xfrm>
            <a:off x="896112" y="3919728"/>
            <a:ext cx="4370832" cy="396240"/>
          </a:xfrm>
          <a:prstGeom prst="rect">
            <a:avLst/>
          </a:prstGeom>
          <a:noFill/>
          <a:ln/>
        </p:spPr>
        <p:txBody>
          <a:bodyPr wrap="square" lIns="0" tIns="0" rIns="0" bIns="0" rtlCol="0" anchor="ctr"/>
          <a:lstStyle/>
          <a:p>
            <a:pPr marL="0" indent="0" algn="l">
              <a:lnSpc>
                <a:spcPct val="108000"/>
              </a:lnSpc>
              <a:buNone/>
            </a:pPr>
            <a:r>
              <a:rPr lang="en-US" sz="1250" b="1" dirty="0">
                <a:solidFill>
                  <a:srgbClr val="13233F"/>
                </a:solidFill>
                <a:latin typeface="Calibri" pitchFamily="34" charset="0"/>
                <a:ea typeface="Calibri" pitchFamily="34" charset="-122"/>
                <a:cs typeface="Calibri" pitchFamily="34" charset="-120"/>
              </a:rPr>
              <a:t>Limit</a:t>
            </a:r>
            <a:r>
              <a:rPr lang="en-US" sz="1250" dirty="0">
                <a:solidFill>
                  <a:srgbClr val="5C6B7A"/>
                </a:solidFill>
                <a:latin typeface="Calibri" pitchFamily="34" charset="0"/>
                <a:ea typeface="Calibri" pitchFamily="34" charset="-122"/>
                <a:cs typeface="Calibri" pitchFamily="34" charset="-120"/>
              </a:rPr>
              <a:t>   1</a:t>
            </a:r>
            <a:endParaRPr lang="en-US" sz="1250" dirty="0"/>
          </a:p>
        </p:txBody>
      </p:sp>
      <p:sp>
        <p:nvSpPr>
          <p:cNvPr id="16" name="Shape 14"/>
          <p:cNvSpPr/>
          <p:nvPr/>
        </p:nvSpPr>
        <p:spPr>
          <a:xfrm>
            <a:off x="6726874" y="1481328"/>
            <a:ext cx="3950027" cy="2788920"/>
          </a:xfrm>
          <a:prstGeom prst="roundRect">
            <a:avLst>
              <a:gd name="adj" fmla="val 1967"/>
            </a:avLst>
          </a:prstGeom>
          <a:solidFill>
            <a:srgbClr val="F2F5F9"/>
          </a:solidFill>
          <a:ln w="12700">
            <a:solidFill>
              <a:srgbClr val="E4EBF3"/>
            </a:solidFill>
            <a:prstDash val="solid"/>
          </a:ln>
        </p:spPr>
        <p:txBody>
          <a:bodyPr/>
          <a:lstStyle/>
          <a:p>
            <a:endParaRPr lang="en-US"/>
          </a:p>
        </p:txBody>
      </p:sp>
      <p:pic>
        <p:nvPicPr>
          <p:cNvPr id="17" name="Image 0" descr="/tmp/build/img/image8s.png"/>
          <p:cNvPicPr>
            <a:picLocks noChangeAspect="1"/>
          </p:cNvPicPr>
          <p:nvPr/>
        </p:nvPicPr>
        <p:blipFill>
          <a:blip r:embed="rId3"/>
          <a:stretch>
            <a:fillRect/>
          </a:stretch>
        </p:blipFill>
        <p:spPr>
          <a:xfrm>
            <a:off x="6818314" y="1572768"/>
            <a:ext cx="3767147" cy="2606040"/>
          </a:xfrm>
          <a:prstGeom prst="rect">
            <a:avLst/>
          </a:prstGeom>
        </p:spPr>
      </p:pic>
      <p:sp>
        <p:nvSpPr>
          <p:cNvPr id="18" name="Text 15"/>
          <p:cNvSpPr/>
          <p:nvPr/>
        </p:nvSpPr>
        <p:spPr>
          <a:xfrm>
            <a:off x="6726874" y="4325112"/>
            <a:ext cx="3950027" cy="274320"/>
          </a:xfrm>
          <a:prstGeom prst="rect">
            <a:avLst/>
          </a:prstGeom>
          <a:noFill/>
          <a:ln/>
        </p:spPr>
        <p:txBody>
          <a:bodyPr wrap="square" lIns="0" tIns="0" rIns="0" bIns="0" rtlCol="0" anchor="t"/>
          <a:lstStyle/>
          <a:p>
            <a:pPr marL="0" indent="0" algn="ctr">
              <a:buNone/>
            </a:pPr>
            <a:r>
              <a:rPr lang="en-US" sz="1100" i="1" dirty="0">
                <a:solidFill>
                  <a:srgbClr val="5C6B7A"/>
                </a:solidFill>
                <a:latin typeface="Calibri" pitchFamily="34" charset="0"/>
                <a:ea typeface="Calibri" pitchFamily="34" charset="-122"/>
                <a:cs typeface="Calibri" pitchFamily="34" charset="-120"/>
              </a:rPr>
              <a:t>The output panel — a real name and a real file ID.</a:t>
            </a:r>
            <a:endParaRPr lang="en-US" sz="1100" dirty="0"/>
          </a:p>
        </p:txBody>
      </p:sp>
      <p:sp>
        <p:nvSpPr>
          <p:cNvPr id="19" name="Shape 16"/>
          <p:cNvSpPr/>
          <p:nvPr/>
        </p:nvSpPr>
        <p:spPr>
          <a:xfrm>
            <a:off x="658368" y="4773168"/>
            <a:ext cx="5254600" cy="1097280"/>
          </a:xfrm>
          <a:prstGeom prst="roundRect">
            <a:avLst>
              <a:gd name="adj" fmla="val 7500"/>
            </a:avLst>
          </a:prstGeom>
          <a:solidFill>
            <a:srgbClr val="EAF1FA"/>
          </a:solidFill>
          <a:ln w="12700">
            <a:solidFill>
              <a:srgbClr val="EAF1FA"/>
            </a:solidFill>
            <a:prstDash val="solid"/>
          </a:ln>
          <a:effectLst>
            <a:outerShdw blurRad="127000" dist="25400" dir="5400000" algn="bl" rotWithShape="0">
              <a:srgbClr val="8496AC">
                <a:alpha val="18000"/>
              </a:srgbClr>
            </a:outerShdw>
          </a:effectLst>
        </p:spPr>
        <p:txBody>
          <a:bodyPr/>
          <a:lstStyle/>
          <a:p>
            <a:endParaRPr lang="en-US"/>
          </a:p>
        </p:txBody>
      </p:sp>
      <p:sp>
        <p:nvSpPr>
          <p:cNvPr id="20" name="Text 17"/>
          <p:cNvSpPr/>
          <p:nvPr/>
        </p:nvSpPr>
        <p:spPr>
          <a:xfrm>
            <a:off x="914400" y="5010912"/>
            <a:ext cx="4742536" cy="310896"/>
          </a:xfrm>
          <a:prstGeom prst="rect">
            <a:avLst/>
          </a:prstGeom>
          <a:noFill/>
          <a:ln/>
        </p:spPr>
        <p:txBody>
          <a:bodyPr wrap="square" lIns="0" tIns="0" rIns="0" bIns="0" rtlCol="0" anchor="ctr"/>
          <a:lstStyle/>
          <a:p>
            <a:pPr marL="0" indent="0" algn="l">
              <a:lnSpc>
                <a:spcPct val="102000"/>
              </a:lnSpc>
              <a:buNone/>
            </a:pPr>
            <a:r>
              <a:rPr lang="en-US" sz="1500" b="1" dirty="0">
                <a:solidFill>
                  <a:srgbClr val="2A6FB5"/>
                </a:solidFill>
                <a:latin typeface="Calibri" pitchFamily="34" charset="0"/>
                <a:ea typeface="Calibri" pitchFamily="34" charset="-122"/>
                <a:cs typeface="Calibri" pitchFamily="34" charset="-120"/>
              </a:rPr>
              <a:t>name</a:t>
            </a:r>
            <a:endParaRPr lang="en-US" sz="1500" dirty="0"/>
          </a:p>
        </p:txBody>
      </p:sp>
      <p:sp>
        <p:nvSpPr>
          <p:cNvPr id="21" name="Text 18"/>
          <p:cNvSpPr/>
          <p:nvPr/>
        </p:nvSpPr>
        <p:spPr>
          <a:xfrm>
            <a:off x="914400" y="5376672"/>
            <a:ext cx="4742536" cy="292608"/>
          </a:xfrm>
          <a:prstGeom prst="rect">
            <a:avLst/>
          </a:prstGeom>
          <a:noFill/>
          <a:ln/>
        </p:spPr>
        <p:txBody>
          <a:bodyPr wrap="square" lIns="0" tIns="0" rIns="0" bIns="0" rtlCol="0" anchor="t"/>
          <a:lstStyle/>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Confirms you found the file you meant, not a similarly named one.</a:t>
            </a:r>
            <a:endParaRPr lang="en-US" sz="1300" dirty="0"/>
          </a:p>
        </p:txBody>
      </p:sp>
      <p:sp>
        <p:nvSpPr>
          <p:cNvPr id="22" name="Shape 19"/>
          <p:cNvSpPr/>
          <p:nvPr/>
        </p:nvSpPr>
        <p:spPr>
          <a:xfrm>
            <a:off x="6278728" y="4773168"/>
            <a:ext cx="5254600" cy="1097280"/>
          </a:xfrm>
          <a:prstGeom prst="roundRect">
            <a:avLst>
              <a:gd name="adj" fmla="val 7500"/>
            </a:avLst>
          </a:prstGeom>
          <a:solidFill>
            <a:srgbClr val="E7F5EE"/>
          </a:solidFill>
          <a:ln w="12700">
            <a:solidFill>
              <a:srgbClr val="E7F5EE"/>
            </a:solidFill>
            <a:prstDash val="solid"/>
          </a:ln>
          <a:effectLst>
            <a:outerShdw blurRad="127000" dist="25400" dir="5400000" algn="bl" rotWithShape="0">
              <a:srgbClr val="8496AC">
                <a:alpha val="18000"/>
              </a:srgbClr>
            </a:outerShdw>
          </a:effectLst>
        </p:spPr>
        <p:txBody>
          <a:bodyPr/>
          <a:lstStyle/>
          <a:p>
            <a:endParaRPr lang="en-US"/>
          </a:p>
        </p:txBody>
      </p:sp>
      <p:sp>
        <p:nvSpPr>
          <p:cNvPr id="23" name="Text 20"/>
          <p:cNvSpPr/>
          <p:nvPr/>
        </p:nvSpPr>
        <p:spPr>
          <a:xfrm>
            <a:off x="6534760" y="5010912"/>
            <a:ext cx="4742536" cy="310896"/>
          </a:xfrm>
          <a:prstGeom prst="rect">
            <a:avLst/>
          </a:prstGeom>
          <a:noFill/>
          <a:ln/>
        </p:spPr>
        <p:txBody>
          <a:bodyPr wrap="square" lIns="0" tIns="0" rIns="0" bIns="0" rtlCol="0" anchor="ctr"/>
          <a:lstStyle/>
          <a:p>
            <a:pPr marL="0" indent="0" algn="l">
              <a:lnSpc>
                <a:spcPct val="102000"/>
              </a:lnSpc>
              <a:buNone/>
            </a:pPr>
            <a:r>
              <a:rPr lang="en-US" sz="1500" b="1" dirty="0">
                <a:solidFill>
                  <a:srgbClr val="1B8F62"/>
                </a:solidFill>
                <a:latin typeface="Calibri" pitchFamily="34" charset="0"/>
                <a:ea typeface="Calibri" pitchFamily="34" charset="-122"/>
                <a:cs typeface="Calibri" pitchFamily="34" charset="-120"/>
              </a:rPr>
              <a:t>id</a:t>
            </a:r>
            <a:endParaRPr lang="en-US" sz="1500" dirty="0"/>
          </a:p>
        </p:txBody>
      </p:sp>
      <p:sp>
        <p:nvSpPr>
          <p:cNvPr id="24" name="Text 21"/>
          <p:cNvSpPr/>
          <p:nvPr/>
        </p:nvSpPr>
        <p:spPr>
          <a:xfrm>
            <a:off x="6534760" y="5376672"/>
            <a:ext cx="4742536" cy="292608"/>
          </a:xfrm>
          <a:prstGeom prst="rect">
            <a:avLst/>
          </a:prstGeom>
          <a:noFill/>
          <a:ln/>
        </p:spPr>
        <p:txBody>
          <a:bodyPr wrap="square" lIns="0" tIns="0" rIns="0" bIns="0" rtlCol="0" anchor="t"/>
          <a:lstStyle/>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The file’s permanent address in Drive — Lesson 2 downloads by ID, never by name.</a:t>
            </a:r>
            <a:endParaRPr lang="en-US" sz="1300" dirty="0"/>
          </a:p>
        </p:txBody>
      </p:sp>
      <p:sp>
        <p:nvSpPr>
          <p:cNvPr id="25" name="Text 22"/>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TROUBLESHOOTING</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The two errors you will almost certainly meet</a:t>
            </a:r>
            <a:endParaRPr lang="en-US" sz="3000" dirty="0"/>
          </a:p>
        </p:txBody>
      </p:sp>
      <p:sp>
        <p:nvSpPr>
          <p:cNvPr id="4" name="Shape 2"/>
          <p:cNvSpPr/>
          <p:nvPr/>
        </p:nvSpPr>
        <p:spPr>
          <a:xfrm>
            <a:off x="990191" y="1554480"/>
            <a:ext cx="2536754" cy="2514600"/>
          </a:xfrm>
          <a:prstGeom prst="roundRect">
            <a:avLst>
              <a:gd name="adj" fmla="val 2182"/>
            </a:avLst>
          </a:prstGeom>
          <a:solidFill>
            <a:srgbClr val="F2F5F9"/>
          </a:solidFill>
          <a:ln w="12700">
            <a:solidFill>
              <a:srgbClr val="E4EBF3"/>
            </a:solidFill>
            <a:prstDash val="solid"/>
          </a:ln>
        </p:spPr>
        <p:txBody>
          <a:bodyPr/>
          <a:lstStyle/>
          <a:p>
            <a:endParaRPr lang="en-US"/>
          </a:p>
        </p:txBody>
      </p:sp>
      <p:pic>
        <p:nvPicPr>
          <p:cNvPr id="5" name="Image 0" descr="/tmp/build/img/image21.png"/>
          <p:cNvPicPr>
            <a:picLocks noChangeAspect="1"/>
          </p:cNvPicPr>
          <p:nvPr/>
        </p:nvPicPr>
        <p:blipFill>
          <a:blip r:embed="rId3"/>
          <a:stretch>
            <a:fillRect/>
          </a:stretch>
        </p:blipFill>
        <p:spPr>
          <a:xfrm>
            <a:off x="1081631" y="1645920"/>
            <a:ext cx="2353874" cy="2331720"/>
          </a:xfrm>
          <a:prstGeom prst="rect">
            <a:avLst/>
          </a:prstGeom>
        </p:spPr>
      </p:pic>
      <p:sp>
        <p:nvSpPr>
          <p:cNvPr id="6" name="Shape 3"/>
          <p:cNvSpPr/>
          <p:nvPr/>
        </p:nvSpPr>
        <p:spPr>
          <a:xfrm>
            <a:off x="4224528" y="1554480"/>
            <a:ext cx="3471520" cy="2514600"/>
          </a:xfrm>
          <a:prstGeom prst="roundRect">
            <a:avLst>
              <a:gd name="adj" fmla="val 3273"/>
            </a:avLst>
          </a:prstGeom>
          <a:solidFill>
            <a:srgbClr val="FBEBEE"/>
          </a:solidFill>
          <a:ln w="12700">
            <a:solidFill>
              <a:srgbClr val="FBEBEE"/>
            </a:solidFill>
            <a:prstDash val="solid"/>
          </a:ln>
          <a:effectLst>
            <a:outerShdw blurRad="127000" dist="25400" dir="5400000" algn="bl" rotWithShape="0">
              <a:srgbClr val="8496AC">
                <a:alpha val="18000"/>
              </a:srgbClr>
            </a:outerShdw>
          </a:effectLst>
        </p:spPr>
        <p:txBody>
          <a:bodyPr/>
          <a:lstStyle/>
          <a:p>
            <a:endParaRPr lang="en-US"/>
          </a:p>
        </p:txBody>
      </p:sp>
      <p:sp>
        <p:nvSpPr>
          <p:cNvPr id="7" name="Text 4"/>
          <p:cNvSpPr/>
          <p:nvPr/>
        </p:nvSpPr>
        <p:spPr>
          <a:xfrm>
            <a:off x="4480560" y="1792224"/>
            <a:ext cx="2959456" cy="777240"/>
          </a:xfrm>
          <a:prstGeom prst="rect">
            <a:avLst/>
          </a:prstGeom>
          <a:noFill/>
          <a:ln/>
        </p:spPr>
        <p:txBody>
          <a:bodyPr wrap="square" lIns="0" tIns="0" rIns="0" bIns="0" rtlCol="0" anchor="t"/>
          <a:lstStyle/>
          <a:p>
            <a:pPr marL="0" indent="0" algn="l">
              <a:lnSpc>
                <a:spcPct val="102000"/>
              </a:lnSpc>
              <a:buNone/>
            </a:pPr>
            <a:r>
              <a:rPr lang="en-US" sz="1500" b="1" dirty="0">
                <a:solidFill>
                  <a:srgbClr val="B32E4C"/>
                </a:solidFill>
                <a:latin typeface="Calibri" pitchFamily="34" charset="0"/>
                <a:ea typeface="Calibri" pitchFamily="34" charset="-122"/>
                <a:cs typeface="Calibri" pitchFamily="34" charset="-120"/>
              </a:rPr>
              <a:t>“Access blocked: … has not completed the Google verification process”</a:t>
            </a:r>
            <a:endParaRPr lang="en-US" sz="1500" dirty="0"/>
          </a:p>
        </p:txBody>
      </p:sp>
      <p:sp>
        <p:nvSpPr>
          <p:cNvPr id="8" name="Text 5"/>
          <p:cNvSpPr/>
          <p:nvPr/>
        </p:nvSpPr>
        <p:spPr>
          <a:xfrm>
            <a:off x="4480560" y="2624328"/>
            <a:ext cx="2959456" cy="1243584"/>
          </a:xfrm>
          <a:prstGeom prst="rect">
            <a:avLst/>
          </a:prstGeom>
          <a:noFill/>
          <a:ln/>
        </p:spPr>
        <p:txBody>
          <a:bodyPr wrap="square" lIns="0" tIns="0" rIns="0" bIns="0" rtlCol="0" anchor="t"/>
          <a:lstStyle/>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Cause: your app is in Testing and the account you signed in with is not a test user.</a:t>
            </a:r>
            <a:endParaRPr lang="en-US" sz="1300" dirty="0"/>
          </a:p>
          <a:p>
            <a:pPr marL="0" indent="0" algn="l">
              <a:lnSpc>
                <a:spcPct val="112000"/>
              </a:lnSpc>
              <a:buNone/>
            </a:pPr>
            <a:endParaRPr lang="en-US" sz="1300" dirty="0"/>
          </a:p>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Fix: Google Auth Platform → Audience → Test users → add that exact address, then sign in again.</a:t>
            </a:r>
            <a:endParaRPr lang="en-US" sz="1300" dirty="0"/>
          </a:p>
        </p:txBody>
      </p:sp>
      <p:sp>
        <p:nvSpPr>
          <p:cNvPr id="9" name="Shape 6"/>
          <p:cNvSpPr/>
          <p:nvPr/>
        </p:nvSpPr>
        <p:spPr>
          <a:xfrm>
            <a:off x="8061808" y="1554480"/>
            <a:ext cx="3471520" cy="2514600"/>
          </a:xfrm>
          <a:prstGeom prst="roundRect">
            <a:avLst>
              <a:gd name="adj" fmla="val 3273"/>
            </a:avLst>
          </a:prstGeom>
          <a:solidFill>
            <a:srgbClr val="FCF2E4"/>
          </a:solidFill>
          <a:ln w="12700">
            <a:solidFill>
              <a:srgbClr val="FCF2E4"/>
            </a:solidFill>
            <a:prstDash val="solid"/>
          </a:ln>
          <a:effectLst>
            <a:outerShdw blurRad="127000" dist="25400" dir="5400000" algn="bl" rotWithShape="0">
              <a:srgbClr val="8496AC">
                <a:alpha val="18000"/>
              </a:srgbClr>
            </a:outerShdw>
          </a:effectLst>
        </p:spPr>
        <p:txBody>
          <a:bodyPr/>
          <a:lstStyle/>
          <a:p>
            <a:endParaRPr lang="en-US"/>
          </a:p>
        </p:txBody>
      </p:sp>
      <p:sp>
        <p:nvSpPr>
          <p:cNvPr id="10" name="Text 7"/>
          <p:cNvSpPr/>
          <p:nvPr/>
        </p:nvSpPr>
        <p:spPr>
          <a:xfrm>
            <a:off x="8317840" y="1792224"/>
            <a:ext cx="2959456" cy="777240"/>
          </a:xfrm>
          <a:prstGeom prst="rect">
            <a:avLst/>
          </a:prstGeom>
          <a:noFill/>
          <a:ln/>
        </p:spPr>
        <p:txBody>
          <a:bodyPr wrap="square" lIns="0" tIns="0" rIns="0" bIns="0" rtlCol="0" anchor="t"/>
          <a:lstStyle/>
          <a:p>
            <a:pPr marL="0" indent="0" algn="l">
              <a:lnSpc>
                <a:spcPct val="102000"/>
              </a:lnSpc>
              <a:buNone/>
            </a:pPr>
            <a:r>
              <a:rPr lang="en-US" sz="1500" b="1" dirty="0">
                <a:solidFill>
                  <a:srgbClr val="A85F12"/>
                </a:solidFill>
                <a:latin typeface="Calibri" pitchFamily="34" charset="0"/>
                <a:ea typeface="Calibri" pitchFamily="34" charset="-122"/>
                <a:cs typeface="Calibri" pitchFamily="34" charset="-120"/>
              </a:rPr>
              <a:t>“Google Drive API has not been used in project 3175… or it is disabled”</a:t>
            </a:r>
            <a:endParaRPr lang="en-US" sz="1500" dirty="0"/>
          </a:p>
        </p:txBody>
      </p:sp>
      <p:sp>
        <p:nvSpPr>
          <p:cNvPr id="11" name="Text 8"/>
          <p:cNvSpPr/>
          <p:nvPr/>
        </p:nvSpPr>
        <p:spPr>
          <a:xfrm>
            <a:off x="8317840" y="2624328"/>
            <a:ext cx="2959456" cy="1243584"/>
          </a:xfrm>
          <a:prstGeom prst="rect">
            <a:avLst/>
          </a:prstGeom>
          <a:noFill/>
          <a:ln/>
        </p:spPr>
        <p:txBody>
          <a:bodyPr wrap="square" lIns="0" tIns="0" rIns="0" bIns="0" rtlCol="0" anchor="t"/>
          <a:lstStyle/>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Cause: the API is enabled in a different project from your OAuth client.</a:t>
            </a:r>
            <a:endParaRPr lang="en-US" sz="1300" dirty="0"/>
          </a:p>
          <a:p>
            <a:pPr marL="0" indent="0" algn="l">
              <a:lnSpc>
                <a:spcPct val="112000"/>
              </a:lnSpc>
              <a:buNone/>
            </a:pPr>
            <a:endParaRPr lang="en-US" sz="1300" dirty="0"/>
          </a:p>
          <a:p>
            <a:pPr marL="0" indent="0" algn="l">
              <a:lnSpc>
                <a:spcPct val="112000"/>
              </a:lnSpc>
              <a:buNone/>
            </a:pPr>
            <a:r>
              <a:rPr lang="en-US" sz="1300" dirty="0">
                <a:solidFill>
                  <a:srgbClr val="1D2530"/>
                </a:solidFill>
                <a:latin typeface="Calibri" pitchFamily="34" charset="0"/>
                <a:ea typeface="Calibri" pitchFamily="34" charset="-122"/>
                <a:cs typeface="Calibri" pitchFamily="34" charset="-120"/>
              </a:rPr>
              <a:t>Fix: open the project named in the message, enable the Drive API, wait 2–5 minutes, retry.</a:t>
            </a:r>
            <a:endParaRPr lang="en-US" sz="1300" dirty="0"/>
          </a:p>
        </p:txBody>
      </p:sp>
      <p:sp>
        <p:nvSpPr>
          <p:cNvPr id="12" name="Shape 9"/>
          <p:cNvSpPr/>
          <p:nvPr/>
        </p:nvSpPr>
        <p:spPr>
          <a:xfrm>
            <a:off x="658368" y="4343400"/>
            <a:ext cx="10874959" cy="1417320"/>
          </a:xfrm>
          <a:prstGeom prst="roundRect">
            <a:avLst>
              <a:gd name="adj" fmla="val 6452"/>
            </a:avLst>
          </a:prstGeom>
          <a:solidFill>
            <a:srgbClr val="13233F"/>
          </a:solidFill>
          <a:ln w="12700">
            <a:solidFill>
              <a:srgbClr val="13233F"/>
            </a:solidFill>
            <a:prstDash val="solid"/>
          </a:ln>
        </p:spPr>
        <p:txBody>
          <a:bodyPr/>
          <a:lstStyle/>
          <a:p>
            <a:endParaRPr lang="en-US"/>
          </a:p>
        </p:txBody>
      </p:sp>
      <p:sp>
        <p:nvSpPr>
          <p:cNvPr id="13" name="Text 10"/>
          <p:cNvSpPr/>
          <p:nvPr/>
        </p:nvSpPr>
        <p:spPr>
          <a:xfrm>
            <a:off x="978408" y="4480560"/>
            <a:ext cx="10234879" cy="274320"/>
          </a:xfrm>
          <a:prstGeom prst="rect">
            <a:avLst/>
          </a:prstGeom>
          <a:noFill/>
          <a:ln/>
        </p:spPr>
        <p:txBody>
          <a:bodyPr wrap="square" lIns="0" tIns="0" rIns="0" bIns="0" rtlCol="0" anchor="ctr"/>
          <a:lstStyle/>
          <a:p>
            <a:pPr marL="0" indent="0" algn="l">
              <a:buNone/>
            </a:pPr>
            <a:r>
              <a:rPr lang="en-US" sz="1050" b="1" kern="0" spc="160" dirty="0">
                <a:solidFill>
                  <a:srgbClr val="8FA3BF"/>
                </a:solidFill>
                <a:latin typeface="Calibri" pitchFamily="34" charset="0"/>
                <a:ea typeface="Calibri" pitchFamily="34" charset="-122"/>
                <a:cs typeface="Calibri" pitchFamily="34" charset="-120"/>
              </a:rPr>
              <a:t>THE ONE QUESTION THAT SOLVES MOST PROBLEMS</a:t>
            </a:r>
            <a:endParaRPr lang="en-US" sz="1050" dirty="0"/>
          </a:p>
        </p:txBody>
      </p:sp>
      <p:sp>
        <p:nvSpPr>
          <p:cNvPr id="14" name="Text 11"/>
          <p:cNvSpPr/>
          <p:nvPr/>
        </p:nvSpPr>
        <p:spPr>
          <a:xfrm>
            <a:off x="978408" y="4800600"/>
            <a:ext cx="10234879" cy="822960"/>
          </a:xfrm>
          <a:prstGeom prst="rect">
            <a:avLst/>
          </a:prstGeom>
          <a:noFill/>
          <a:ln/>
        </p:spPr>
        <p:txBody>
          <a:bodyPr wrap="square" lIns="0" tIns="0" rIns="0" bIns="0" rtlCol="0" anchor="ctr"/>
          <a:lstStyle/>
          <a:p>
            <a:pPr marL="0" indent="0" algn="l">
              <a:lnSpc>
                <a:spcPct val="105000"/>
              </a:lnSpc>
              <a:buNone/>
            </a:pPr>
            <a:r>
              <a:rPr lang="en-US" sz="1700" b="1" dirty="0">
                <a:solidFill>
                  <a:srgbClr val="FFFFFF"/>
                </a:solidFill>
                <a:latin typeface="Calibri" pitchFamily="34" charset="0"/>
                <a:ea typeface="Calibri" pitchFamily="34" charset="-122"/>
                <a:cs typeface="Calibri" pitchFamily="34" charset="-120"/>
              </a:rPr>
              <a:t>Are the enabled Drive API, the OAuth client and the n8n credential all in the same Google Cloud project — authorised with the same Google account?</a:t>
            </a:r>
            <a:endParaRPr lang="en-US" sz="1700" dirty="0"/>
          </a:p>
        </p:txBody>
      </p:sp>
      <p:sp>
        <p:nvSpPr>
          <p:cNvPr id="15" name="Text 12"/>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256032"/>
            <a:ext cx="10874959" cy="237744"/>
          </a:xfrm>
          <a:prstGeom prst="rect">
            <a:avLst/>
          </a:prstGeom>
          <a:noFill/>
          <a:ln/>
        </p:spPr>
        <p:txBody>
          <a:bodyPr wrap="square" lIns="0" tIns="0" rIns="0" bIns="0" rtlCol="0" anchor="ctr"/>
          <a:lstStyle/>
          <a:p>
            <a:pPr marL="0" indent="0" algn="l">
              <a:buNone/>
            </a:pPr>
            <a:r>
              <a:rPr lang="en-US" sz="1100" b="1" kern="0" spc="220" dirty="0">
                <a:solidFill>
                  <a:srgbClr val="E04E6B"/>
                </a:solidFill>
                <a:latin typeface="Calibri" pitchFamily="34" charset="0"/>
                <a:ea typeface="Calibri" pitchFamily="34" charset="-122"/>
                <a:cs typeface="Calibri" pitchFamily="34" charset="-120"/>
              </a:rPr>
              <a:t>CHECKPOINT</a:t>
            </a:r>
            <a:endParaRPr lang="en-US" sz="1100" dirty="0"/>
          </a:p>
        </p:txBody>
      </p:sp>
      <p:sp>
        <p:nvSpPr>
          <p:cNvPr id="3" name="Text 1"/>
          <p:cNvSpPr/>
          <p:nvPr/>
        </p:nvSpPr>
        <p:spPr>
          <a:xfrm>
            <a:off x="658368" y="512064"/>
            <a:ext cx="10874959" cy="640080"/>
          </a:xfrm>
          <a:prstGeom prst="rect">
            <a:avLst/>
          </a:prstGeom>
          <a:noFill/>
          <a:ln/>
        </p:spPr>
        <p:txBody>
          <a:bodyPr wrap="square" lIns="0" tIns="0" rIns="0" bIns="0" rtlCol="0" anchor="ctr"/>
          <a:lstStyle/>
          <a:p>
            <a:pPr marL="0" indent="0" algn="l">
              <a:buNone/>
            </a:pPr>
            <a:r>
              <a:rPr lang="en-US" sz="3000" b="1" dirty="0">
                <a:solidFill>
                  <a:srgbClr val="13233F"/>
                </a:solidFill>
                <a:latin typeface="Calibri" pitchFamily="34" charset="0"/>
                <a:ea typeface="Calibri" pitchFamily="34" charset="-122"/>
                <a:cs typeface="Calibri" pitchFamily="34" charset="-120"/>
              </a:rPr>
              <a:t>Before you leave the session</a:t>
            </a:r>
            <a:endParaRPr lang="en-US" sz="3000" dirty="0"/>
          </a:p>
        </p:txBody>
      </p:sp>
      <p:sp>
        <p:nvSpPr>
          <p:cNvPr id="4" name="Shape 2"/>
          <p:cNvSpPr/>
          <p:nvPr/>
        </p:nvSpPr>
        <p:spPr>
          <a:xfrm>
            <a:off x="658368" y="1691640"/>
            <a:ext cx="5254600" cy="548640"/>
          </a:xfrm>
          <a:prstGeom prst="roundRect">
            <a:avLst>
              <a:gd name="adj" fmla="val 10000"/>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59536" y="1828800"/>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6" name="Text 4"/>
          <p:cNvSpPr/>
          <p:nvPr/>
        </p:nvSpPr>
        <p:spPr>
          <a:xfrm>
            <a:off x="1280160" y="1691640"/>
            <a:ext cx="4431640" cy="548640"/>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Google Drive API enabled in my project</a:t>
            </a:r>
            <a:endParaRPr lang="en-US" sz="1350" dirty="0"/>
          </a:p>
        </p:txBody>
      </p:sp>
      <p:sp>
        <p:nvSpPr>
          <p:cNvPr id="7" name="Shape 5"/>
          <p:cNvSpPr/>
          <p:nvPr/>
        </p:nvSpPr>
        <p:spPr>
          <a:xfrm>
            <a:off x="658368" y="2350008"/>
            <a:ext cx="5254600" cy="548640"/>
          </a:xfrm>
          <a:prstGeom prst="roundRect">
            <a:avLst>
              <a:gd name="adj" fmla="val 10000"/>
            </a:avLst>
          </a:prstGeom>
          <a:solidFill>
            <a:srgbClr val="F2F5F9"/>
          </a:solidFill>
          <a:ln w="12700">
            <a:solidFill>
              <a:srgbClr val="F2F5F9"/>
            </a:solidFill>
            <a:prstDash val="solid"/>
          </a:ln>
        </p:spPr>
        <p:txBody>
          <a:bodyPr/>
          <a:lstStyle/>
          <a:p>
            <a:endParaRPr lang="en-US"/>
          </a:p>
        </p:txBody>
      </p:sp>
      <p:sp>
        <p:nvSpPr>
          <p:cNvPr id="8" name="Shape 6"/>
          <p:cNvSpPr/>
          <p:nvPr/>
        </p:nvSpPr>
        <p:spPr>
          <a:xfrm>
            <a:off x="859536" y="2487168"/>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9" name="Text 7"/>
          <p:cNvSpPr/>
          <p:nvPr/>
        </p:nvSpPr>
        <p:spPr>
          <a:xfrm>
            <a:off x="1280160" y="2350008"/>
            <a:ext cx="4431640" cy="548640"/>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OAuth consent screen configured</a:t>
            </a:r>
            <a:endParaRPr lang="en-US" sz="1350" dirty="0"/>
          </a:p>
        </p:txBody>
      </p:sp>
      <p:sp>
        <p:nvSpPr>
          <p:cNvPr id="10" name="Shape 8"/>
          <p:cNvSpPr/>
          <p:nvPr/>
        </p:nvSpPr>
        <p:spPr>
          <a:xfrm>
            <a:off x="658368" y="3008376"/>
            <a:ext cx="5254600" cy="548640"/>
          </a:xfrm>
          <a:prstGeom prst="roundRect">
            <a:avLst>
              <a:gd name="adj" fmla="val 10000"/>
            </a:avLst>
          </a:prstGeom>
          <a:solidFill>
            <a:srgbClr val="F2F5F9"/>
          </a:solidFill>
          <a:ln w="12700">
            <a:solidFill>
              <a:srgbClr val="F2F5F9"/>
            </a:solidFill>
            <a:prstDash val="solid"/>
          </a:ln>
        </p:spPr>
        <p:txBody>
          <a:bodyPr/>
          <a:lstStyle/>
          <a:p>
            <a:endParaRPr lang="en-US"/>
          </a:p>
        </p:txBody>
      </p:sp>
      <p:sp>
        <p:nvSpPr>
          <p:cNvPr id="11" name="Shape 9"/>
          <p:cNvSpPr/>
          <p:nvPr/>
        </p:nvSpPr>
        <p:spPr>
          <a:xfrm>
            <a:off x="859536" y="3145536"/>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12" name="Text 10"/>
          <p:cNvSpPr/>
          <p:nvPr/>
        </p:nvSpPr>
        <p:spPr>
          <a:xfrm>
            <a:off x="1280160" y="3008376"/>
            <a:ext cx="4431640" cy="548640"/>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My account listed as a test user</a:t>
            </a:r>
            <a:endParaRPr lang="en-US" sz="1350" dirty="0"/>
          </a:p>
        </p:txBody>
      </p:sp>
      <p:sp>
        <p:nvSpPr>
          <p:cNvPr id="13" name="Shape 11"/>
          <p:cNvSpPr/>
          <p:nvPr/>
        </p:nvSpPr>
        <p:spPr>
          <a:xfrm>
            <a:off x="658368" y="3666744"/>
            <a:ext cx="5254600" cy="548640"/>
          </a:xfrm>
          <a:prstGeom prst="roundRect">
            <a:avLst>
              <a:gd name="adj" fmla="val 10000"/>
            </a:avLst>
          </a:prstGeom>
          <a:solidFill>
            <a:srgbClr val="F2F5F9"/>
          </a:solidFill>
          <a:ln w="12700">
            <a:solidFill>
              <a:srgbClr val="F2F5F9"/>
            </a:solidFill>
            <a:prstDash val="solid"/>
          </a:ln>
        </p:spPr>
        <p:txBody>
          <a:bodyPr/>
          <a:lstStyle/>
          <a:p>
            <a:endParaRPr lang="en-US"/>
          </a:p>
        </p:txBody>
      </p:sp>
      <p:sp>
        <p:nvSpPr>
          <p:cNvPr id="14" name="Shape 12"/>
          <p:cNvSpPr/>
          <p:nvPr/>
        </p:nvSpPr>
        <p:spPr>
          <a:xfrm>
            <a:off x="859536" y="380390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15" name="Text 13"/>
          <p:cNvSpPr/>
          <p:nvPr/>
        </p:nvSpPr>
        <p:spPr>
          <a:xfrm>
            <a:off x="1280160" y="3666744"/>
            <a:ext cx="4431640" cy="548640"/>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OAuth client created with n8n’s redirect URL</a:t>
            </a:r>
            <a:endParaRPr lang="en-US" sz="1350" dirty="0"/>
          </a:p>
        </p:txBody>
      </p:sp>
      <p:sp>
        <p:nvSpPr>
          <p:cNvPr id="16" name="Shape 14"/>
          <p:cNvSpPr/>
          <p:nvPr/>
        </p:nvSpPr>
        <p:spPr>
          <a:xfrm>
            <a:off x="6278728" y="1691640"/>
            <a:ext cx="5254600" cy="548640"/>
          </a:xfrm>
          <a:prstGeom prst="roundRect">
            <a:avLst>
              <a:gd name="adj" fmla="val 10000"/>
            </a:avLst>
          </a:prstGeom>
          <a:solidFill>
            <a:srgbClr val="F2F5F9"/>
          </a:solidFill>
          <a:ln w="12700">
            <a:solidFill>
              <a:srgbClr val="F2F5F9"/>
            </a:solidFill>
            <a:prstDash val="solid"/>
          </a:ln>
        </p:spPr>
        <p:txBody>
          <a:bodyPr/>
          <a:lstStyle/>
          <a:p>
            <a:endParaRPr lang="en-US"/>
          </a:p>
        </p:txBody>
      </p:sp>
      <p:sp>
        <p:nvSpPr>
          <p:cNvPr id="17" name="Shape 15"/>
          <p:cNvSpPr/>
          <p:nvPr/>
        </p:nvSpPr>
        <p:spPr>
          <a:xfrm>
            <a:off x="6479896" y="1828800"/>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18" name="Text 16"/>
          <p:cNvSpPr/>
          <p:nvPr/>
        </p:nvSpPr>
        <p:spPr>
          <a:xfrm>
            <a:off x="6900520" y="1691640"/>
            <a:ext cx="4431640" cy="548640"/>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n8n credential connected and green</a:t>
            </a:r>
            <a:endParaRPr lang="en-US" sz="1350" dirty="0"/>
          </a:p>
        </p:txBody>
      </p:sp>
      <p:sp>
        <p:nvSpPr>
          <p:cNvPr id="19" name="Shape 17"/>
          <p:cNvSpPr/>
          <p:nvPr/>
        </p:nvSpPr>
        <p:spPr>
          <a:xfrm>
            <a:off x="6278728" y="2350008"/>
            <a:ext cx="5254600" cy="548640"/>
          </a:xfrm>
          <a:prstGeom prst="roundRect">
            <a:avLst>
              <a:gd name="adj" fmla="val 10000"/>
            </a:avLst>
          </a:prstGeom>
          <a:solidFill>
            <a:srgbClr val="F2F5F9"/>
          </a:solidFill>
          <a:ln w="12700">
            <a:solidFill>
              <a:srgbClr val="F2F5F9"/>
            </a:solidFill>
            <a:prstDash val="solid"/>
          </a:ln>
        </p:spPr>
        <p:txBody>
          <a:bodyPr/>
          <a:lstStyle/>
          <a:p>
            <a:endParaRPr lang="en-US"/>
          </a:p>
        </p:txBody>
      </p:sp>
      <p:sp>
        <p:nvSpPr>
          <p:cNvPr id="20" name="Shape 18"/>
          <p:cNvSpPr/>
          <p:nvPr/>
        </p:nvSpPr>
        <p:spPr>
          <a:xfrm>
            <a:off x="6479896" y="2487168"/>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21" name="Text 19"/>
          <p:cNvSpPr/>
          <p:nvPr/>
        </p:nvSpPr>
        <p:spPr>
          <a:xfrm>
            <a:off x="6900520" y="2350008"/>
            <a:ext cx="4431640" cy="548640"/>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Workflow imported — eight nodes on the canvas</a:t>
            </a:r>
            <a:endParaRPr lang="en-US" sz="1350" dirty="0"/>
          </a:p>
        </p:txBody>
      </p:sp>
      <p:sp>
        <p:nvSpPr>
          <p:cNvPr id="22" name="Shape 20"/>
          <p:cNvSpPr/>
          <p:nvPr/>
        </p:nvSpPr>
        <p:spPr>
          <a:xfrm>
            <a:off x="6278728" y="3008376"/>
            <a:ext cx="5254600" cy="548640"/>
          </a:xfrm>
          <a:prstGeom prst="roundRect">
            <a:avLst>
              <a:gd name="adj" fmla="val 10000"/>
            </a:avLst>
          </a:prstGeom>
          <a:solidFill>
            <a:srgbClr val="F2F5F9"/>
          </a:solidFill>
          <a:ln w="12700">
            <a:solidFill>
              <a:srgbClr val="F2F5F9"/>
            </a:solidFill>
            <a:prstDash val="solid"/>
          </a:ln>
        </p:spPr>
        <p:txBody>
          <a:bodyPr/>
          <a:lstStyle/>
          <a:p>
            <a:endParaRPr lang="en-US"/>
          </a:p>
        </p:txBody>
      </p:sp>
      <p:sp>
        <p:nvSpPr>
          <p:cNvPr id="23" name="Shape 21"/>
          <p:cNvSpPr/>
          <p:nvPr/>
        </p:nvSpPr>
        <p:spPr>
          <a:xfrm>
            <a:off x="6479896" y="3145536"/>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24" name="Text 22"/>
          <p:cNvSpPr/>
          <p:nvPr/>
        </p:nvSpPr>
        <p:spPr>
          <a:xfrm>
            <a:off x="6900520" y="3008376"/>
            <a:ext cx="4431640" cy="548640"/>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Search File returns a name and an id</a:t>
            </a:r>
            <a:endParaRPr lang="en-US" sz="1350" dirty="0"/>
          </a:p>
        </p:txBody>
      </p:sp>
      <p:sp>
        <p:nvSpPr>
          <p:cNvPr id="25" name="Shape 23"/>
          <p:cNvSpPr/>
          <p:nvPr/>
        </p:nvSpPr>
        <p:spPr>
          <a:xfrm>
            <a:off x="6278728" y="3666744"/>
            <a:ext cx="5254600" cy="548640"/>
          </a:xfrm>
          <a:prstGeom prst="roundRect">
            <a:avLst>
              <a:gd name="adj" fmla="val 10000"/>
            </a:avLst>
          </a:prstGeom>
          <a:solidFill>
            <a:srgbClr val="F2F5F9"/>
          </a:solidFill>
          <a:ln w="12700">
            <a:solidFill>
              <a:srgbClr val="F2F5F9"/>
            </a:solidFill>
            <a:prstDash val="solid"/>
          </a:ln>
        </p:spPr>
        <p:txBody>
          <a:bodyPr/>
          <a:lstStyle/>
          <a:p>
            <a:endParaRPr lang="en-US"/>
          </a:p>
        </p:txBody>
      </p:sp>
      <p:sp>
        <p:nvSpPr>
          <p:cNvPr id="26" name="Shape 24"/>
          <p:cNvSpPr/>
          <p:nvPr/>
        </p:nvSpPr>
        <p:spPr>
          <a:xfrm>
            <a:off x="6479896" y="3803904"/>
            <a:ext cx="274320" cy="274320"/>
          </a:xfrm>
          <a:prstGeom prst="roundRect">
            <a:avLst>
              <a:gd name="adj" fmla="val 13333"/>
            </a:avLst>
          </a:prstGeom>
          <a:solidFill>
            <a:srgbClr val="FFFFFF"/>
          </a:solidFill>
          <a:ln w="12700">
            <a:solidFill>
              <a:srgbClr val="AFBECD"/>
            </a:solidFill>
            <a:prstDash val="solid"/>
          </a:ln>
        </p:spPr>
        <p:txBody>
          <a:bodyPr/>
          <a:lstStyle/>
          <a:p>
            <a:endParaRPr lang="en-US"/>
          </a:p>
        </p:txBody>
      </p:sp>
      <p:sp>
        <p:nvSpPr>
          <p:cNvPr id="27" name="Text 25"/>
          <p:cNvSpPr/>
          <p:nvPr/>
        </p:nvSpPr>
        <p:spPr>
          <a:xfrm>
            <a:off x="6900520" y="3666744"/>
            <a:ext cx="4431640" cy="548640"/>
          </a:xfrm>
          <a:prstGeom prst="rect">
            <a:avLst/>
          </a:prstGeom>
          <a:noFill/>
          <a:ln/>
        </p:spPr>
        <p:txBody>
          <a:bodyPr wrap="square" lIns="0" tIns="0" rIns="0" bIns="0" rtlCol="0" anchor="ctr"/>
          <a:lstStyle/>
          <a:p>
            <a:pPr marL="0" indent="0" algn="l">
              <a:buNone/>
            </a:pPr>
            <a:r>
              <a:rPr lang="en-US" sz="1350" dirty="0">
                <a:solidFill>
                  <a:srgbClr val="1D2530"/>
                </a:solidFill>
                <a:latin typeface="Calibri" pitchFamily="34" charset="0"/>
                <a:ea typeface="Calibri" pitchFamily="34" charset="-122"/>
                <a:cs typeface="Calibri" pitchFamily="34" charset="-120"/>
              </a:rPr>
              <a:t>I can explain field name versus value</a:t>
            </a:r>
            <a:endParaRPr lang="en-US" sz="1350" dirty="0"/>
          </a:p>
        </p:txBody>
      </p:sp>
      <p:sp>
        <p:nvSpPr>
          <p:cNvPr id="28" name="Shape 26"/>
          <p:cNvSpPr/>
          <p:nvPr/>
        </p:nvSpPr>
        <p:spPr>
          <a:xfrm>
            <a:off x="658368" y="4526280"/>
            <a:ext cx="10874959" cy="1188720"/>
          </a:xfrm>
          <a:prstGeom prst="roundRect">
            <a:avLst>
              <a:gd name="adj" fmla="val 6154"/>
            </a:avLst>
          </a:prstGeom>
          <a:solidFill>
            <a:srgbClr val="E7F5EE"/>
          </a:solidFill>
          <a:ln w="12700">
            <a:solidFill>
              <a:srgbClr val="E7F5EE"/>
            </a:solidFill>
            <a:prstDash val="solid"/>
          </a:ln>
        </p:spPr>
        <p:txBody>
          <a:bodyPr/>
          <a:lstStyle/>
          <a:p>
            <a:endParaRPr lang="en-US"/>
          </a:p>
        </p:txBody>
      </p:sp>
      <p:sp>
        <p:nvSpPr>
          <p:cNvPr id="29" name="Text 27"/>
          <p:cNvSpPr/>
          <p:nvPr/>
        </p:nvSpPr>
        <p:spPr>
          <a:xfrm>
            <a:off x="932688" y="4672584"/>
            <a:ext cx="10326319" cy="219456"/>
          </a:xfrm>
          <a:prstGeom prst="rect">
            <a:avLst/>
          </a:prstGeom>
          <a:noFill/>
          <a:ln/>
        </p:spPr>
        <p:txBody>
          <a:bodyPr wrap="square" lIns="0" tIns="0" rIns="0" bIns="0" rtlCol="0" anchor="ctr"/>
          <a:lstStyle/>
          <a:p>
            <a:pPr marL="0" indent="0" algn="l">
              <a:buNone/>
            </a:pPr>
            <a:r>
              <a:rPr lang="en-US" sz="1050" b="1" kern="0" spc="160" dirty="0">
                <a:solidFill>
                  <a:srgbClr val="1B8F62"/>
                </a:solidFill>
                <a:latin typeface="Calibri" pitchFamily="34" charset="0"/>
                <a:ea typeface="Calibri" pitchFamily="34" charset="-122"/>
                <a:cs typeface="Calibri" pitchFamily="34" charset="-120"/>
              </a:rPr>
              <a:t>THEN TEACH IT TO SOMEONE ELSE</a:t>
            </a:r>
            <a:endParaRPr lang="en-US" sz="1050" dirty="0"/>
          </a:p>
        </p:txBody>
      </p:sp>
      <p:sp>
        <p:nvSpPr>
          <p:cNvPr id="30" name="Text 28"/>
          <p:cNvSpPr/>
          <p:nvPr/>
        </p:nvSpPr>
        <p:spPr>
          <a:xfrm>
            <a:off x="932688" y="4928616"/>
            <a:ext cx="10326319" cy="621792"/>
          </a:xfrm>
          <a:prstGeom prst="rect">
            <a:avLst/>
          </a:prstGeom>
          <a:noFill/>
          <a:ln/>
        </p:spPr>
        <p:txBody>
          <a:bodyPr wrap="square" lIns="0" tIns="0" rIns="0" bIns="0" rtlCol="0" anchor="t"/>
          <a:lstStyle/>
          <a:p>
            <a:pPr marL="0" indent="0" algn="l">
              <a:lnSpc>
                <a:spcPct val="110000"/>
              </a:lnSpc>
              <a:buNone/>
            </a:pPr>
            <a:r>
              <a:rPr lang="en-US" sz="1400" dirty="0">
                <a:solidFill>
                  <a:srgbClr val="1D2530"/>
                </a:solidFill>
                <a:latin typeface="Calibri" pitchFamily="34" charset="0"/>
                <a:ea typeface="Calibri" pitchFamily="34" charset="-122"/>
                <a:cs typeface="Calibri" pitchFamily="34" charset="-120"/>
              </a:rPr>
              <a:t>Turn to the person next to you and explain in under a minute what happened when you clicked “Sign in with Google” — what n8n asked for, what Google checked, and what n8n received. If you can do that fluently, you understand OAuth better than most people who use it daily.</a:t>
            </a:r>
            <a:endParaRPr lang="en-US" sz="1400" dirty="0"/>
          </a:p>
        </p:txBody>
      </p:sp>
      <p:sp>
        <p:nvSpPr>
          <p:cNvPr id="31" name="Text 29"/>
          <p:cNvSpPr/>
          <p:nvPr/>
        </p:nvSpPr>
        <p:spPr>
          <a:xfrm>
            <a:off x="658368" y="6291072"/>
            <a:ext cx="10051999" cy="256032"/>
          </a:xfrm>
          <a:prstGeom prst="rect">
            <a:avLst/>
          </a:prstGeom>
          <a:noFill/>
          <a:ln/>
        </p:spPr>
        <p:txBody>
          <a:bodyPr wrap="square" lIns="0" tIns="0" rIns="0" bIns="0" rtlCol="0" anchor="ctr"/>
          <a:lstStyle/>
          <a:p>
            <a:pPr marL="0" indent="0" algn="l">
              <a:buNone/>
            </a:pPr>
            <a:r>
              <a:rPr lang="en-US" sz="1000" dirty="0">
                <a:solidFill>
                  <a:srgbClr val="6B7A8A"/>
                </a:solidFill>
                <a:latin typeface="Calibri" pitchFamily="34" charset="0"/>
                <a:ea typeface="Calibri" pitchFamily="34" charset="-122"/>
                <a:cs typeface="Calibri" pitchFamily="34" charset="-120"/>
              </a:rPr>
              <a:t>Lesson 1 — Connect, Authenticate &amp; Find a Real File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4318</Words>
  <Application>Microsoft Office PowerPoint</Application>
  <PresentationFormat>Widescreen</PresentationFormat>
  <Paragraphs>420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RAG with n8n — Lesson 1</dc:title>
  <dc:subject>Connect, Authenticate &amp; Find a Real File</dc:subject>
  <dc:creator>Data Science Academy</dc:creator>
  <cp:lastModifiedBy>Wael Rahhal</cp:lastModifiedBy>
  <cp:revision>1</cp:revision>
  <dcterms:created xsi:type="dcterms:W3CDTF">2026-08-11T18:04:52Z</dcterms:created>
  <dcterms:modified xsi:type="dcterms:W3CDTF">2026-08-11T21:51:15Z</dcterms:modified>
</cp:coreProperties>
</file>
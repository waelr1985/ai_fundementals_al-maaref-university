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77" r:id="rId16"/>
    <p:sldId id="278" r:id="rId17"/>
    <p:sldId id="272" r:id="rId18"/>
    <p:sldId id="273"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C30190-86D8-4C86-AB2C-ED7D004E183B}" v="1" dt="2026-08-18T21:39:31.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6" d="100"/>
          <a:sy n="46" d="100"/>
        </p:scale>
        <p:origin x="891"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el Rahhal" userId="afaccfd8e26ace3b" providerId="LiveId" clId="{462B6756-69BB-4E0B-B430-22A60DFF5832}"/>
    <pc:docChg chg="addSld delSld modSld sldOrd">
      <pc:chgData name="Wael Rahhal" userId="afaccfd8e26ace3b" providerId="LiveId" clId="{462B6756-69BB-4E0B-B430-22A60DFF5832}" dt="2026-08-18T21:42:33.679" v="8" actId="22"/>
      <pc:docMkLst>
        <pc:docMk/>
      </pc:docMkLst>
      <pc:sldChg chg="ord">
        <pc:chgData name="Wael Rahhal" userId="afaccfd8e26ace3b" providerId="LiveId" clId="{462B6756-69BB-4E0B-B430-22A60DFF5832}" dt="2026-08-18T21:39:56.954" v="2"/>
        <pc:sldMkLst>
          <pc:docMk/>
          <pc:sldMk cId="0" sldId="268"/>
        </pc:sldMkLst>
      </pc:sldChg>
      <pc:sldChg chg="del">
        <pc:chgData name="Wael Rahhal" userId="afaccfd8e26ace3b" providerId="LiveId" clId="{462B6756-69BB-4E0B-B430-22A60DFF5832}" dt="2026-08-18T21:40:02.717" v="3" actId="47"/>
        <pc:sldMkLst>
          <pc:docMk/>
          <pc:sldMk cId="0" sldId="269"/>
        </pc:sldMkLst>
      </pc:sldChg>
      <pc:sldChg chg="del">
        <pc:chgData name="Wael Rahhal" userId="afaccfd8e26ace3b" providerId="LiveId" clId="{462B6756-69BB-4E0B-B430-22A60DFF5832}" dt="2026-08-18T21:40:02.717" v="3" actId="47"/>
        <pc:sldMkLst>
          <pc:docMk/>
          <pc:sldMk cId="0" sldId="270"/>
        </pc:sldMkLst>
      </pc:sldChg>
      <pc:sldChg chg="del">
        <pc:chgData name="Wael Rahhal" userId="afaccfd8e26ace3b" providerId="LiveId" clId="{462B6756-69BB-4E0B-B430-22A60DFF5832}" dt="2026-08-18T21:40:14.092" v="4" actId="47"/>
        <pc:sldMkLst>
          <pc:docMk/>
          <pc:sldMk cId="0" sldId="271"/>
        </pc:sldMkLst>
      </pc:sldChg>
      <pc:sldChg chg="del">
        <pc:chgData name="Wael Rahhal" userId="afaccfd8e26ace3b" providerId="LiveId" clId="{462B6756-69BB-4E0B-B430-22A60DFF5832}" dt="2026-08-18T21:41:25.479" v="5" actId="47"/>
        <pc:sldMkLst>
          <pc:docMk/>
          <pc:sldMk cId="0" sldId="274"/>
        </pc:sldMkLst>
      </pc:sldChg>
      <pc:sldChg chg="del">
        <pc:chgData name="Wael Rahhal" userId="afaccfd8e26ace3b" providerId="LiveId" clId="{462B6756-69BB-4E0B-B430-22A60DFF5832}" dt="2026-08-18T21:41:34.704" v="6" actId="47"/>
        <pc:sldMkLst>
          <pc:docMk/>
          <pc:sldMk cId="0" sldId="276"/>
        </pc:sldMkLst>
      </pc:sldChg>
      <pc:sldChg chg="add">
        <pc:chgData name="Wael Rahhal" userId="afaccfd8e26ace3b" providerId="LiveId" clId="{462B6756-69BB-4E0B-B430-22A60DFF5832}" dt="2026-08-18T21:39:31.914" v="0"/>
        <pc:sldMkLst>
          <pc:docMk/>
          <pc:sldMk cId="343578960" sldId="277"/>
        </pc:sldMkLst>
      </pc:sldChg>
      <pc:sldChg chg="add">
        <pc:chgData name="Wael Rahhal" userId="afaccfd8e26ace3b" providerId="LiveId" clId="{462B6756-69BB-4E0B-B430-22A60DFF5832}" dt="2026-08-18T21:39:31.914" v="0"/>
        <pc:sldMkLst>
          <pc:docMk/>
          <pc:sldMk cId="3941403754" sldId="278"/>
        </pc:sldMkLst>
      </pc:sldChg>
      <pc:sldChg chg="addSp new mod">
        <pc:chgData name="Wael Rahhal" userId="afaccfd8e26ace3b" providerId="LiveId" clId="{462B6756-69BB-4E0B-B430-22A60DFF5832}" dt="2026-08-18T21:42:33.679" v="8" actId="22"/>
        <pc:sldMkLst>
          <pc:docMk/>
          <pc:sldMk cId="2868471632" sldId="279"/>
        </pc:sldMkLst>
        <pc:picChg chg="add">
          <ac:chgData name="Wael Rahhal" userId="afaccfd8e26ace3b" providerId="LiveId" clId="{462B6756-69BB-4E0B-B430-22A60DFF5832}" dt="2026-08-18T21:42:33.679" v="8" actId="22"/>
          <ac:picMkLst>
            <pc:docMk/>
            <pc:sldMk cId="2868471632" sldId="279"/>
            <ac:picMk id="5" creationId="{665DAA97-E5CC-D732-4407-483B400BDF7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584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Lesson 1 was about permission — proving n8n could see a file. Today is about the part people actually mean when they say RAG: a question comes in, the store is searched by meaning, and an answer is written from what came back. Two warnings to set up front: we start by finishing Workflow 1, because you cannot retrieve from an empty store; and the most important thing you will learn today is how to make the agent admit it does not know.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pace: 25 minutes finishing Workflow 1, 25 on theory, 55 building, 15 testing. Tell them now that one tool on the canvas is deliberately dormant, or half the class will spend the lab convinced they broke something.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Ask: what did Lesson 1 actually achieve? Answer: permission and a file ID. Nothing was stored. That is what we fix in the next twenty-five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diagram to draw on the whiteboard and leave up all lesson. When a student is lost later, point at it and ask which box they are standing in. The meeting-point idea matters: students expect the workflows to be connected, and they are not — they share a name, nothing more.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one to slow down on. Have every student read their embedding model name aloud, because they will need the identical value in Workflow 2 and a mismatch there fails silently. Ending on the wall of numbers is worth the thirty seconds — it makes the abstraction concrete.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single most common support question of the whole lesson. Say it plainly: if the agent claims it cannot find anything, do not debug the agent — re-run Workflow 1 first. It takes fifteen seconds and resolves it most of the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concepts. They now have a populated store, so everything here is about something real rather than hypothetical.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find a shared keyword between the question and the source sentence. There isn't one. That gap is the whole argument for embeddings, and it is the same example from Lesson 1 — now they can watch it actually happen.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spare five minutes in the lab, set Top K to 1 live and ask a question whose answer spans two chunks. The degradation is obvious and memorable, and it costs nothing to demonstrate.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routinely assume that once a document is indexed it is 'in the chat's memory'. Separating these two ideas early prevents a lot of confused questions in Lesson 3, where both are in play at once.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retrieval were a fixed step it would run on 'Hello' too, and the model would receive four random chunks of a syllabus before saying hello back. That is the concrete argument for making it a tool.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clicking. Eight short steps. Circulate during steps 5 and 6, which are where mismatches creep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shape: only one node is in the main line. Everything else hangs underneath as a capability. That layout is what an agent workflow looks like, and it is quite different from the straight left-to-right chain of Workflow 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that every student opens the log at least once. It converts RAG from magic into a pipeline they can inspect, and it is the single most useful debugging habit they will take from this course.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RAG demo ever given answers the easy questions. Tell students to run this test on every retrieval system they ever build, and to run it before showing the system to anyone. A tool that invents a course fee is worse than no tool at all.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two minutes for the pair explanation. It is the fastest way to find out who followed the clicks without following the idea.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F738-CCF9-DAED-B205-B1C893BF2F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096777-1B5D-3CBE-0175-1586997937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91A93B-0F08-1578-F4B2-C940BC9695DA}"/>
              </a:ext>
            </a:extLst>
          </p:cNvPr>
          <p:cNvSpPr>
            <a:spLocks noGrp="1"/>
          </p:cNvSpPr>
          <p:nvPr>
            <p:ph type="dt" sz="half" idx="10"/>
          </p:nvPr>
        </p:nvSpPr>
        <p:spPr/>
        <p:txBody>
          <a:bodyPr/>
          <a:lstStyle/>
          <a:p>
            <a:fld id="{1590B05C-189E-442C-84E9-F3D00D9C3565}" type="datetimeFigureOut">
              <a:rPr lang="en-US" smtClean="0"/>
              <a:t>8/18/2026</a:t>
            </a:fld>
            <a:endParaRPr lang="en-US"/>
          </a:p>
        </p:txBody>
      </p:sp>
      <p:sp>
        <p:nvSpPr>
          <p:cNvPr id="5" name="Footer Placeholder 4">
            <a:extLst>
              <a:ext uri="{FF2B5EF4-FFF2-40B4-BE49-F238E27FC236}">
                <a16:creationId xmlns:a16="http://schemas.microsoft.com/office/drawing/2014/main" id="{3328CBBB-8878-84AE-FC51-487CBCD78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F81EB-4644-479D-FAE3-9B062EA3086A}"/>
              </a:ext>
            </a:extLst>
          </p:cNvPr>
          <p:cNvSpPr>
            <a:spLocks noGrp="1"/>
          </p:cNvSpPr>
          <p:nvPr>
            <p:ph type="sldNum" sz="quarter" idx="12"/>
          </p:nvPr>
        </p:nvSpPr>
        <p:spPr/>
        <p:txBody>
          <a:bodyPr/>
          <a:lstStyle/>
          <a:p>
            <a:fld id="{95B4952D-8C52-42CE-809F-FDC2F62DA6E6}" type="slidenum">
              <a:rPr lang="en-US" smtClean="0"/>
              <a:t>‹#›</a:t>
            </a:fld>
            <a:endParaRPr lang="en-US"/>
          </a:p>
        </p:txBody>
      </p:sp>
    </p:spTree>
    <p:extLst>
      <p:ext uri="{BB962C8B-B14F-4D97-AF65-F5344CB8AC3E}">
        <p14:creationId xmlns:p14="http://schemas.microsoft.com/office/powerpoint/2010/main" val="108567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D384C-255F-14FC-B73A-AF050FCE7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277AD6-A571-9F00-1121-718BB357FA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F8316-2DB1-6042-C20E-EE58CA0F4183}"/>
              </a:ext>
            </a:extLst>
          </p:cNvPr>
          <p:cNvSpPr>
            <a:spLocks noGrp="1"/>
          </p:cNvSpPr>
          <p:nvPr>
            <p:ph type="dt" sz="half" idx="10"/>
          </p:nvPr>
        </p:nvSpPr>
        <p:spPr/>
        <p:txBody>
          <a:bodyPr/>
          <a:lstStyle/>
          <a:p>
            <a:fld id="{1590B05C-189E-442C-84E9-F3D00D9C3565}" type="datetimeFigureOut">
              <a:rPr lang="en-US" smtClean="0"/>
              <a:t>8/18/2026</a:t>
            </a:fld>
            <a:endParaRPr lang="en-US"/>
          </a:p>
        </p:txBody>
      </p:sp>
      <p:sp>
        <p:nvSpPr>
          <p:cNvPr id="5" name="Footer Placeholder 4">
            <a:extLst>
              <a:ext uri="{FF2B5EF4-FFF2-40B4-BE49-F238E27FC236}">
                <a16:creationId xmlns:a16="http://schemas.microsoft.com/office/drawing/2014/main" id="{91A88424-77A7-66A4-0D46-BB5CCC65F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3CEB8-BD4C-BEA2-EBF7-53A04F188506}"/>
              </a:ext>
            </a:extLst>
          </p:cNvPr>
          <p:cNvSpPr>
            <a:spLocks noGrp="1"/>
          </p:cNvSpPr>
          <p:nvPr>
            <p:ph type="sldNum" sz="quarter" idx="12"/>
          </p:nvPr>
        </p:nvSpPr>
        <p:spPr/>
        <p:txBody>
          <a:bodyPr/>
          <a:lstStyle/>
          <a:p>
            <a:fld id="{95B4952D-8C52-42CE-809F-FDC2F62DA6E6}" type="slidenum">
              <a:rPr lang="en-US" smtClean="0"/>
              <a:t>‹#›</a:t>
            </a:fld>
            <a:endParaRPr lang="en-US"/>
          </a:p>
        </p:txBody>
      </p:sp>
    </p:spTree>
    <p:extLst>
      <p:ext uri="{BB962C8B-B14F-4D97-AF65-F5344CB8AC3E}">
        <p14:creationId xmlns:p14="http://schemas.microsoft.com/office/powerpoint/2010/main" val="895045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8595360" y="-1737360"/>
            <a:ext cx="5669280" cy="5669280"/>
          </a:xfrm>
          <a:prstGeom prst="ellipse">
            <a:avLst/>
          </a:prstGeom>
          <a:solidFill>
            <a:srgbClr val="1B2E4F"/>
          </a:solidFill>
          <a:ln w="12700">
            <a:solidFill>
              <a:srgbClr val="1B2E4F"/>
            </a:solidFill>
            <a:prstDash val="solid"/>
          </a:ln>
        </p:spPr>
        <p:txBody>
          <a:bodyPr/>
          <a:lstStyle/>
          <a:p>
            <a:endParaRPr lang="en-US"/>
          </a:p>
        </p:txBody>
      </p:sp>
      <p:sp>
        <p:nvSpPr>
          <p:cNvPr id="3" name="Shape 1"/>
          <p:cNvSpPr/>
          <p:nvPr/>
        </p:nvSpPr>
        <p:spPr>
          <a:xfrm>
            <a:off x="10241280" y="3383280"/>
            <a:ext cx="3291840" cy="3291840"/>
          </a:xfrm>
          <a:prstGeom prst="ellipse">
            <a:avLst/>
          </a:prstGeom>
          <a:solidFill>
            <a:srgbClr val="1A2C4C"/>
          </a:solidFill>
          <a:ln w="12700">
            <a:solidFill>
              <a:srgbClr val="1A2C4C"/>
            </a:solidFill>
            <a:prstDash val="solid"/>
          </a:ln>
        </p:spPr>
        <p:txBody>
          <a:bodyPr/>
          <a:lstStyle/>
          <a:p>
            <a:endParaRPr lang="en-US"/>
          </a:p>
        </p:txBody>
      </p:sp>
      <p:sp>
        <p:nvSpPr>
          <p:cNvPr id="4" name="Text 2"/>
          <p:cNvSpPr/>
          <p:nvPr/>
        </p:nvSpPr>
        <p:spPr>
          <a:xfrm>
            <a:off x="658368" y="1417320"/>
            <a:ext cx="8229600" cy="310896"/>
          </a:xfrm>
          <a:prstGeom prst="rect">
            <a:avLst/>
          </a:prstGeom>
          <a:noFill/>
          <a:ln/>
        </p:spPr>
        <p:txBody>
          <a:bodyPr wrap="square" lIns="0" tIns="0" rIns="0" bIns="0" rtlCol="0" anchor="ctr"/>
          <a:lstStyle/>
          <a:p>
            <a:pPr marL="0" indent="0" algn="l">
              <a:buNone/>
            </a:pPr>
            <a:r>
              <a:rPr lang="en-US" sz="1200" b="1" kern="0" spc="240" dirty="0">
                <a:solidFill>
                  <a:srgbClr val="F09CB0"/>
                </a:solidFill>
                <a:latin typeface="Calibri" pitchFamily="34" charset="0"/>
                <a:ea typeface="Calibri" pitchFamily="34" charset="-122"/>
                <a:cs typeface="Calibri" pitchFamily="34" charset="-120"/>
              </a:rPr>
              <a:t>AI AGENTS &amp; RAG   ·   LESSON 2 OF 3</a:t>
            </a:r>
            <a:endParaRPr lang="en-US" sz="1200" dirty="0"/>
          </a:p>
        </p:txBody>
      </p:sp>
      <p:sp>
        <p:nvSpPr>
          <p:cNvPr id="5" name="Text 3"/>
          <p:cNvSpPr/>
          <p:nvPr/>
        </p:nvSpPr>
        <p:spPr>
          <a:xfrm>
            <a:off x="658368" y="1828800"/>
            <a:ext cx="9326880" cy="105156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Building RAG with n8n</a:t>
            </a:r>
            <a:endParaRPr lang="en-US" sz="4800" dirty="0"/>
          </a:p>
        </p:txBody>
      </p:sp>
      <p:sp>
        <p:nvSpPr>
          <p:cNvPr id="6" name="Text 4"/>
          <p:cNvSpPr/>
          <p:nvPr/>
        </p:nvSpPr>
        <p:spPr>
          <a:xfrm>
            <a:off x="658368" y="2880360"/>
            <a:ext cx="9326880" cy="548640"/>
          </a:xfrm>
          <a:prstGeom prst="rect">
            <a:avLst/>
          </a:prstGeom>
          <a:noFill/>
          <a:ln/>
        </p:spPr>
        <p:txBody>
          <a:bodyPr wrap="square" lIns="0" tIns="0" rIns="0" bIns="0" rtlCol="0" anchor="ctr"/>
          <a:lstStyle/>
          <a:p>
            <a:pPr marL="0" indent="0" algn="l">
              <a:buNone/>
            </a:pPr>
            <a:r>
              <a:rPr lang="en-US" sz="2200" dirty="0">
                <a:solidFill>
                  <a:srgbClr val="C3D0E2"/>
                </a:solidFill>
                <a:latin typeface="Calibri" pitchFamily="34" charset="0"/>
                <a:ea typeface="Calibri" pitchFamily="34" charset="-122"/>
                <a:cs typeface="Calibri" pitchFamily="34" charset="-120"/>
              </a:rPr>
              <a:t>Lesson 2 — Retrieval and the RAG Chat Agent</a:t>
            </a:r>
            <a:endParaRPr lang="en-US" sz="2200" dirty="0"/>
          </a:p>
        </p:txBody>
      </p:sp>
      <p:sp>
        <p:nvSpPr>
          <p:cNvPr id="7" name="Shape 5"/>
          <p:cNvSpPr/>
          <p:nvPr/>
        </p:nvSpPr>
        <p:spPr>
          <a:xfrm>
            <a:off x="658368" y="3886200"/>
            <a:ext cx="5577840" cy="566928"/>
          </a:xfrm>
          <a:prstGeom prst="roundRect">
            <a:avLst>
              <a:gd name="adj" fmla="val 16129"/>
            </a:avLst>
          </a:prstGeom>
          <a:solidFill>
            <a:srgbClr val="E04E6B"/>
          </a:solidFill>
          <a:ln w="12700">
            <a:solidFill>
              <a:srgbClr val="E04E6B"/>
            </a:solidFill>
            <a:prstDash val="solid"/>
          </a:ln>
        </p:spPr>
        <p:txBody>
          <a:bodyPr/>
          <a:lstStyle/>
          <a:p>
            <a:endParaRPr lang="en-US"/>
          </a:p>
        </p:txBody>
      </p:sp>
      <p:sp>
        <p:nvSpPr>
          <p:cNvPr id="8" name="Text 6"/>
          <p:cNvSpPr/>
          <p:nvPr/>
        </p:nvSpPr>
        <p:spPr>
          <a:xfrm>
            <a:off x="658368" y="3886200"/>
            <a:ext cx="557784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Today: from a stored vector to a grounded answer</a:t>
            </a:r>
            <a:endParaRPr lang="en-US" sz="1400" dirty="0"/>
          </a:p>
        </p:txBody>
      </p:sp>
      <p:sp>
        <p:nvSpPr>
          <p:cNvPr id="9" name="Text 7"/>
          <p:cNvSpPr/>
          <p:nvPr/>
        </p:nvSpPr>
        <p:spPr>
          <a:xfrm>
            <a:off x="658368" y="4892040"/>
            <a:ext cx="8229600" cy="329184"/>
          </a:xfrm>
          <a:prstGeom prst="rect">
            <a:avLst/>
          </a:prstGeom>
          <a:noFill/>
          <a:ln/>
        </p:spPr>
        <p:txBody>
          <a:bodyPr wrap="square" lIns="0" tIns="0" rIns="0" bIns="0" rtlCol="0" anchor="ctr"/>
          <a:lstStyle/>
          <a:p>
            <a:pPr marL="0" indent="0" algn="l">
              <a:buNone/>
            </a:pPr>
            <a:r>
              <a:rPr lang="en-US" sz="1300" dirty="0">
                <a:solidFill>
                  <a:srgbClr val="8FA3BF"/>
                </a:solidFill>
                <a:latin typeface="Calibri" pitchFamily="34" charset="0"/>
                <a:ea typeface="Calibri" pitchFamily="34" charset="-122"/>
                <a:cs typeface="Calibri" pitchFamily="34" charset="-120"/>
              </a:rPr>
              <a:t>Beginner  ·  120 minutes  ·  No coding required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What we do today</a:t>
            </a:r>
            <a:endParaRPr lang="en-US" sz="3000" dirty="0"/>
          </a:p>
        </p:txBody>
      </p:sp>
      <p:sp>
        <p:nvSpPr>
          <p:cNvPr id="4" name="Shape 2"/>
          <p:cNvSpPr/>
          <p:nvPr/>
        </p:nvSpPr>
        <p:spPr>
          <a:xfrm>
            <a:off x="658368"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Shape 3"/>
          <p:cNvSpPr/>
          <p:nvPr/>
        </p:nvSpPr>
        <p:spPr>
          <a:xfrm>
            <a:off x="914400" y="2020824"/>
            <a:ext cx="402336" cy="402336"/>
          </a:xfrm>
          <a:prstGeom prst="ellipse">
            <a:avLst/>
          </a:prstGeom>
          <a:solidFill>
            <a:srgbClr val="E04E6B"/>
          </a:solidFill>
          <a:ln w="12700">
            <a:solidFill>
              <a:srgbClr val="E04E6B"/>
            </a:solidFill>
            <a:prstDash val="solid"/>
          </a:ln>
        </p:spPr>
        <p:txBody>
          <a:bodyPr/>
          <a:lstStyle/>
          <a:p>
            <a:endParaRPr lang="en-US"/>
          </a:p>
        </p:txBody>
      </p:sp>
      <p:sp>
        <p:nvSpPr>
          <p:cNvPr id="6" name="Text 4"/>
          <p:cNvSpPr/>
          <p:nvPr/>
        </p:nvSpPr>
        <p:spPr>
          <a:xfrm>
            <a:off x="914400"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Fill the store</a:t>
            </a:r>
            <a:endParaRPr lang="en-US" sz="1600" dirty="0"/>
          </a:p>
        </p:txBody>
      </p:sp>
      <p:sp>
        <p:nvSpPr>
          <p:cNvPr id="8" name="Text 6"/>
          <p:cNvSpPr/>
          <p:nvPr/>
        </p:nvSpPr>
        <p:spPr>
          <a:xfrm>
            <a:off x="914400"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Finish Workflow 1 and run it, so the document is actually indexed.</a:t>
            </a:r>
            <a:endParaRPr lang="en-US" sz="1350" dirty="0"/>
          </a:p>
        </p:txBody>
      </p:sp>
      <p:sp>
        <p:nvSpPr>
          <p:cNvPr id="9" name="Shape 7"/>
          <p:cNvSpPr/>
          <p:nvPr/>
        </p:nvSpPr>
        <p:spPr>
          <a:xfrm>
            <a:off x="3441116"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0" name="Shape 8"/>
          <p:cNvSpPr/>
          <p:nvPr/>
        </p:nvSpPr>
        <p:spPr>
          <a:xfrm>
            <a:off x="3697148" y="2020824"/>
            <a:ext cx="402336" cy="402336"/>
          </a:xfrm>
          <a:prstGeom prst="ellipse">
            <a:avLst/>
          </a:prstGeom>
          <a:solidFill>
            <a:srgbClr val="2A6FB5"/>
          </a:solidFill>
          <a:ln w="12700">
            <a:solidFill>
              <a:srgbClr val="2A6FB5"/>
            </a:solidFill>
            <a:prstDash val="solid"/>
          </a:ln>
        </p:spPr>
        <p:txBody>
          <a:bodyPr/>
          <a:lstStyle/>
          <a:p>
            <a:endParaRPr lang="en-US"/>
          </a:p>
        </p:txBody>
      </p:sp>
      <p:sp>
        <p:nvSpPr>
          <p:cNvPr id="11" name="Text 9"/>
          <p:cNvSpPr/>
          <p:nvPr/>
        </p:nvSpPr>
        <p:spPr>
          <a:xfrm>
            <a:off x="3697148"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697148"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Understand retrieval</a:t>
            </a:r>
            <a:endParaRPr lang="en-US" sz="1600" dirty="0"/>
          </a:p>
        </p:txBody>
      </p:sp>
      <p:sp>
        <p:nvSpPr>
          <p:cNvPr id="13" name="Text 11"/>
          <p:cNvSpPr/>
          <p:nvPr/>
        </p:nvSpPr>
        <p:spPr>
          <a:xfrm>
            <a:off x="3697148"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What happens between pressing Enter and reading an answer.</a:t>
            </a:r>
            <a:endParaRPr lang="en-US" sz="1350" dirty="0"/>
          </a:p>
        </p:txBody>
      </p:sp>
      <p:sp>
        <p:nvSpPr>
          <p:cNvPr id="14" name="Shape 12"/>
          <p:cNvSpPr/>
          <p:nvPr/>
        </p:nvSpPr>
        <p:spPr>
          <a:xfrm>
            <a:off x="6223864"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5" name="Shape 13"/>
          <p:cNvSpPr/>
          <p:nvPr/>
        </p:nvSpPr>
        <p:spPr>
          <a:xfrm>
            <a:off x="6479896" y="2020824"/>
            <a:ext cx="402336" cy="402336"/>
          </a:xfrm>
          <a:prstGeom prst="ellipse">
            <a:avLst/>
          </a:prstGeom>
          <a:solidFill>
            <a:srgbClr val="A85F12"/>
          </a:solidFill>
          <a:ln w="12700">
            <a:solidFill>
              <a:srgbClr val="A85F12"/>
            </a:solidFill>
            <a:prstDash val="solid"/>
          </a:ln>
        </p:spPr>
        <p:txBody>
          <a:bodyPr/>
          <a:lstStyle/>
          <a:p>
            <a:endParaRPr lang="en-US"/>
          </a:p>
        </p:txBody>
      </p:sp>
      <p:sp>
        <p:nvSpPr>
          <p:cNvPr id="16" name="Text 14"/>
          <p:cNvSpPr/>
          <p:nvPr/>
        </p:nvSpPr>
        <p:spPr>
          <a:xfrm>
            <a:off x="6479896"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479896"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Build the agent</a:t>
            </a:r>
            <a:endParaRPr lang="en-US" sz="1600" dirty="0"/>
          </a:p>
        </p:txBody>
      </p:sp>
      <p:sp>
        <p:nvSpPr>
          <p:cNvPr id="18" name="Text 16"/>
          <p:cNvSpPr/>
          <p:nvPr/>
        </p:nvSpPr>
        <p:spPr>
          <a:xfrm>
            <a:off x="6479896"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Chat trigger, Gemini, memory, and the retrieval tool.</a:t>
            </a:r>
            <a:endParaRPr lang="en-US" sz="1350" dirty="0"/>
          </a:p>
        </p:txBody>
      </p:sp>
      <p:sp>
        <p:nvSpPr>
          <p:cNvPr id="19" name="Shape 17"/>
          <p:cNvSpPr/>
          <p:nvPr/>
        </p:nvSpPr>
        <p:spPr>
          <a:xfrm>
            <a:off x="9006611"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20" name="Shape 18"/>
          <p:cNvSpPr/>
          <p:nvPr/>
        </p:nvSpPr>
        <p:spPr>
          <a:xfrm>
            <a:off x="9262643" y="2020824"/>
            <a:ext cx="402336" cy="402336"/>
          </a:xfrm>
          <a:prstGeom prst="ellipse">
            <a:avLst/>
          </a:prstGeom>
          <a:solidFill>
            <a:srgbClr val="1B8F62"/>
          </a:solidFill>
          <a:ln w="12700">
            <a:solidFill>
              <a:srgbClr val="1B8F62"/>
            </a:solidFill>
            <a:prstDash val="solid"/>
          </a:ln>
        </p:spPr>
        <p:txBody>
          <a:bodyPr/>
          <a:lstStyle/>
          <a:p>
            <a:endParaRPr lang="en-US"/>
          </a:p>
        </p:txBody>
      </p:sp>
      <p:sp>
        <p:nvSpPr>
          <p:cNvPr id="21" name="Text 19"/>
          <p:cNvSpPr/>
          <p:nvPr/>
        </p:nvSpPr>
        <p:spPr>
          <a:xfrm>
            <a:off x="9262643"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262643"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Test it honestly</a:t>
            </a:r>
            <a:endParaRPr lang="en-US" sz="1600" dirty="0"/>
          </a:p>
        </p:txBody>
      </p:sp>
      <p:sp>
        <p:nvSpPr>
          <p:cNvPr id="23" name="Text 21"/>
          <p:cNvSpPr/>
          <p:nvPr/>
        </p:nvSpPr>
        <p:spPr>
          <a:xfrm>
            <a:off x="9262643"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One question it can answer, and one it must refuse.</a:t>
            </a:r>
            <a:endParaRPr lang="en-US" sz="1350" dirty="0"/>
          </a:p>
        </p:txBody>
      </p:sp>
      <p:sp>
        <p:nvSpPr>
          <p:cNvPr id="24" name="Shape 22"/>
          <p:cNvSpPr/>
          <p:nvPr/>
        </p:nvSpPr>
        <p:spPr>
          <a:xfrm>
            <a:off x="658368" y="4480560"/>
            <a:ext cx="10874959" cy="1280160"/>
          </a:xfrm>
          <a:prstGeom prst="roundRect">
            <a:avLst>
              <a:gd name="adj" fmla="val 5714"/>
            </a:avLst>
          </a:prstGeom>
          <a:solidFill>
            <a:srgbClr val="E4EBF3"/>
          </a:solidFill>
          <a:ln w="12700">
            <a:solidFill>
              <a:srgbClr val="E4EBF3"/>
            </a:solidFill>
            <a:prstDash val="solid"/>
          </a:ln>
        </p:spPr>
        <p:txBody>
          <a:bodyPr/>
          <a:lstStyle/>
          <a:p>
            <a:endParaRPr lang="en-US"/>
          </a:p>
        </p:txBody>
      </p:sp>
      <p:sp>
        <p:nvSpPr>
          <p:cNvPr id="25" name="Text 23"/>
          <p:cNvSpPr/>
          <p:nvPr/>
        </p:nvSpPr>
        <p:spPr>
          <a:xfrm>
            <a:off x="932688" y="462686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WHERE WE STOP</a:t>
            </a:r>
            <a:endParaRPr lang="en-US" sz="1050" dirty="0"/>
          </a:p>
        </p:txBody>
      </p:sp>
      <p:sp>
        <p:nvSpPr>
          <p:cNvPr id="26" name="Text 24"/>
          <p:cNvSpPr/>
          <p:nvPr/>
        </p:nvSpPr>
        <p:spPr>
          <a:xfrm>
            <a:off x="932688" y="4882896"/>
            <a:ext cx="10326319" cy="713232"/>
          </a:xfrm>
          <a:prstGeom prst="rect">
            <a:avLst/>
          </a:prstGeom>
          <a:noFill/>
          <a:ln/>
        </p:spPr>
        <p:txBody>
          <a:bodyPr wrap="square" lIns="0" tIns="0" rIns="0" bIns="0" rtlCol="0" anchor="t"/>
          <a:lstStyle/>
          <a:p>
            <a:pPr marL="0" indent="0" algn="l">
              <a:lnSpc>
                <a:spcPct val="110000"/>
              </a:lnSpc>
              <a:buNone/>
            </a:pPr>
            <a:r>
              <a:rPr lang="en-US" sz="1600" dirty="0">
                <a:solidFill>
                  <a:srgbClr val="1D2530"/>
                </a:solidFill>
                <a:latin typeface="Calibri" pitchFamily="34" charset="0"/>
                <a:ea typeface="Calibri" pitchFamily="34" charset="-122"/>
                <a:cs typeface="Calibri" pitchFamily="34" charset="-120"/>
              </a:rPr>
              <a:t>By the end of today the system answers questions from your document. What it still cannot do is index a new file on request — the agent asks, but the tool is not wired up. That is Lesson 3, and it is deliberately left broken so you can see why it breaks.</a:t>
            </a:r>
            <a:endParaRPr lang="en-US" sz="1600" dirty="0"/>
          </a:p>
        </p:txBody>
      </p:sp>
      <p:sp>
        <p:nvSpPr>
          <p:cNvPr id="27" name="Text 25"/>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28" name="Text 26"/>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Fill the store first</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You cannot retrieve from an empty vector store. Before anything else, we finish the workflow Lesson 1 started.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MAP</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Every RAG system has two phases</a:t>
            </a:r>
            <a:endParaRPr lang="en-US" sz="3000" dirty="0"/>
          </a:p>
        </p:txBody>
      </p:sp>
      <p:sp>
        <p:nvSpPr>
          <p:cNvPr id="4" name="Text 2"/>
          <p:cNvSpPr/>
          <p:nvPr/>
        </p:nvSpPr>
        <p:spPr>
          <a:xfrm>
            <a:off x="658368" y="1325880"/>
            <a:ext cx="10874959" cy="256032"/>
          </a:xfrm>
          <a:prstGeom prst="rect">
            <a:avLst/>
          </a:prstGeom>
          <a:noFill/>
          <a:ln/>
        </p:spPr>
        <p:txBody>
          <a:bodyPr wrap="square" lIns="0" tIns="0" rIns="0" bIns="0" rtlCol="0" anchor="ctr"/>
          <a:lstStyle/>
          <a:p>
            <a:pPr marL="0" indent="0" algn="l">
              <a:buNone/>
            </a:pPr>
            <a:r>
              <a:rPr lang="en-US" sz="1100" b="1" dirty="0">
                <a:solidFill>
                  <a:srgbClr val="2A6FB5"/>
                </a:solidFill>
                <a:latin typeface="Calibri" pitchFamily="34" charset="0"/>
                <a:ea typeface="Calibri" pitchFamily="34" charset="-122"/>
                <a:cs typeface="Calibri" pitchFamily="34" charset="-120"/>
              </a:rPr>
              <a:t>PHASE A — INDEXING · once per document</a:t>
            </a:r>
            <a:endParaRPr lang="en-US" sz="1100" dirty="0"/>
          </a:p>
        </p:txBody>
      </p:sp>
      <p:sp>
        <p:nvSpPr>
          <p:cNvPr id="5" name="Shape 3"/>
          <p:cNvSpPr/>
          <p:nvPr/>
        </p:nvSpPr>
        <p:spPr>
          <a:xfrm>
            <a:off x="658368" y="1627632"/>
            <a:ext cx="1736293" cy="640080"/>
          </a:xfrm>
          <a:prstGeom prst="roundRect">
            <a:avLst>
              <a:gd name="adj" fmla="val 11429"/>
            </a:avLst>
          </a:prstGeom>
          <a:solidFill>
            <a:srgbClr val="13233F"/>
          </a:solidFill>
          <a:ln w="12700">
            <a:solidFill>
              <a:srgbClr val="13233F"/>
            </a:solidFill>
            <a:prstDash val="solid"/>
          </a:ln>
        </p:spPr>
        <p:txBody>
          <a:bodyPr/>
          <a:lstStyle/>
          <a:p>
            <a:endParaRPr lang="en-US"/>
          </a:p>
        </p:txBody>
      </p:sp>
      <p:sp>
        <p:nvSpPr>
          <p:cNvPr id="6" name="Text 4"/>
          <p:cNvSpPr/>
          <p:nvPr/>
        </p:nvSpPr>
        <p:spPr>
          <a:xfrm>
            <a:off x="749808" y="1627632"/>
            <a:ext cx="1553413"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Find</a:t>
            </a:r>
            <a:endParaRPr lang="en-US" sz="1300" dirty="0"/>
          </a:p>
        </p:txBody>
      </p:sp>
      <p:sp>
        <p:nvSpPr>
          <p:cNvPr id="7" name="Shape 5"/>
          <p:cNvSpPr/>
          <p:nvPr/>
        </p:nvSpPr>
        <p:spPr>
          <a:xfrm>
            <a:off x="2486101" y="1627632"/>
            <a:ext cx="1736293" cy="640080"/>
          </a:xfrm>
          <a:prstGeom prst="chevron">
            <a:avLst>
              <a:gd name="adj" fmla="val 11429"/>
            </a:avLst>
          </a:prstGeom>
          <a:solidFill>
            <a:srgbClr val="1B3054"/>
          </a:solidFill>
          <a:ln w="12700">
            <a:solidFill>
              <a:srgbClr val="1B3054"/>
            </a:solidFill>
            <a:prstDash val="solid"/>
          </a:ln>
        </p:spPr>
        <p:txBody>
          <a:bodyPr/>
          <a:lstStyle/>
          <a:p>
            <a:endParaRPr lang="en-US"/>
          </a:p>
        </p:txBody>
      </p:sp>
      <p:sp>
        <p:nvSpPr>
          <p:cNvPr id="8" name="Text 6"/>
          <p:cNvSpPr/>
          <p:nvPr/>
        </p:nvSpPr>
        <p:spPr>
          <a:xfrm>
            <a:off x="2760421" y="1627632"/>
            <a:ext cx="1352245"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Load</a:t>
            </a:r>
            <a:endParaRPr lang="en-US" sz="1300" dirty="0"/>
          </a:p>
        </p:txBody>
      </p:sp>
      <p:sp>
        <p:nvSpPr>
          <p:cNvPr id="9" name="Shape 7"/>
          <p:cNvSpPr/>
          <p:nvPr/>
        </p:nvSpPr>
        <p:spPr>
          <a:xfrm>
            <a:off x="4313834" y="1627632"/>
            <a:ext cx="1736293" cy="640080"/>
          </a:xfrm>
          <a:prstGeom prst="chevron">
            <a:avLst>
              <a:gd name="adj" fmla="val 11429"/>
            </a:avLst>
          </a:prstGeom>
          <a:solidFill>
            <a:srgbClr val="23406E"/>
          </a:solidFill>
          <a:ln w="12700">
            <a:solidFill>
              <a:srgbClr val="23406E"/>
            </a:solidFill>
            <a:prstDash val="solid"/>
          </a:ln>
        </p:spPr>
        <p:txBody>
          <a:bodyPr/>
          <a:lstStyle/>
          <a:p>
            <a:endParaRPr lang="en-US"/>
          </a:p>
        </p:txBody>
      </p:sp>
      <p:sp>
        <p:nvSpPr>
          <p:cNvPr id="10" name="Text 8"/>
          <p:cNvSpPr/>
          <p:nvPr/>
        </p:nvSpPr>
        <p:spPr>
          <a:xfrm>
            <a:off x="4588154" y="1627632"/>
            <a:ext cx="1352245"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Extract</a:t>
            </a:r>
            <a:endParaRPr lang="en-US" sz="1300" dirty="0"/>
          </a:p>
        </p:txBody>
      </p:sp>
      <p:sp>
        <p:nvSpPr>
          <p:cNvPr id="11" name="Shape 9"/>
          <p:cNvSpPr/>
          <p:nvPr/>
        </p:nvSpPr>
        <p:spPr>
          <a:xfrm>
            <a:off x="6141568" y="1627632"/>
            <a:ext cx="1736293" cy="640080"/>
          </a:xfrm>
          <a:prstGeom prst="chevron">
            <a:avLst>
              <a:gd name="adj" fmla="val 11429"/>
            </a:avLst>
          </a:prstGeom>
          <a:solidFill>
            <a:srgbClr val="2A5089"/>
          </a:solidFill>
          <a:ln w="12700">
            <a:solidFill>
              <a:srgbClr val="2A5089"/>
            </a:solidFill>
            <a:prstDash val="solid"/>
          </a:ln>
        </p:spPr>
        <p:txBody>
          <a:bodyPr/>
          <a:lstStyle/>
          <a:p>
            <a:endParaRPr lang="en-US"/>
          </a:p>
        </p:txBody>
      </p:sp>
      <p:sp>
        <p:nvSpPr>
          <p:cNvPr id="12" name="Text 10"/>
          <p:cNvSpPr/>
          <p:nvPr/>
        </p:nvSpPr>
        <p:spPr>
          <a:xfrm>
            <a:off x="6415888" y="1627632"/>
            <a:ext cx="1352245"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Split</a:t>
            </a:r>
            <a:endParaRPr lang="en-US" sz="1300" dirty="0"/>
          </a:p>
        </p:txBody>
      </p:sp>
      <p:sp>
        <p:nvSpPr>
          <p:cNvPr id="13" name="Shape 11"/>
          <p:cNvSpPr/>
          <p:nvPr/>
        </p:nvSpPr>
        <p:spPr>
          <a:xfrm>
            <a:off x="7969301" y="1627632"/>
            <a:ext cx="1736293" cy="640080"/>
          </a:xfrm>
          <a:prstGeom prst="chevron">
            <a:avLst>
              <a:gd name="adj" fmla="val 11429"/>
            </a:avLst>
          </a:prstGeom>
          <a:solidFill>
            <a:srgbClr val="32619F"/>
          </a:solidFill>
          <a:ln w="12700">
            <a:solidFill>
              <a:srgbClr val="32619F"/>
            </a:solidFill>
            <a:prstDash val="solid"/>
          </a:ln>
        </p:spPr>
        <p:txBody>
          <a:bodyPr/>
          <a:lstStyle/>
          <a:p>
            <a:endParaRPr lang="en-US"/>
          </a:p>
        </p:txBody>
      </p:sp>
      <p:sp>
        <p:nvSpPr>
          <p:cNvPr id="14" name="Text 12"/>
          <p:cNvSpPr/>
          <p:nvPr/>
        </p:nvSpPr>
        <p:spPr>
          <a:xfrm>
            <a:off x="8243621" y="1627632"/>
            <a:ext cx="1352245"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Embed</a:t>
            </a:r>
            <a:endParaRPr lang="en-US" sz="1300" dirty="0"/>
          </a:p>
        </p:txBody>
      </p:sp>
      <p:sp>
        <p:nvSpPr>
          <p:cNvPr id="15" name="Shape 13"/>
          <p:cNvSpPr/>
          <p:nvPr/>
        </p:nvSpPr>
        <p:spPr>
          <a:xfrm>
            <a:off x="9797034" y="1627632"/>
            <a:ext cx="1736293" cy="640080"/>
          </a:xfrm>
          <a:prstGeom prst="chevron">
            <a:avLst>
              <a:gd name="adj" fmla="val 11429"/>
            </a:avLst>
          </a:prstGeom>
          <a:solidFill>
            <a:srgbClr val="3A72B5"/>
          </a:solidFill>
          <a:ln w="12700">
            <a:solidFill>
              <a:srgbClr val="3A72B5"/>
            </a:solidFill>
            <a:prstDash val="solid"/>
          </a:ln>
        </p:spPr>
        <p:txBody>
          <a:bodyPr/>
          <a:lstStyle/>
          <a:p>
            <a:endParaRPr lang="en-US"/>
          </a:p>
        </p:txBody>
      </p:sp>
      <p:sp>
        <p:nvSpPr>
          <p:cNvPr id="16" name="Text 14"/>
          <p:cNvSpPr/>
          <p:nvPr/>
        </p:nvSpPr>
        <p:spPr>
          <a:xfrm>
            <a:off x="10071354" y="1627632"/>
            <a:ext cx="1352245"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Store</a:t>
            </a:r>
            <a:endParaRPr lang="en-US" sz="1300" dirty="0"/>
          </a:p>
        </p:txBody>
      </p:sp>
      <p:sp>
        <p:nvSpPr>
          <p:cNvPr id="17" name="Text 15"/>
          <p:cNvSpPr/>
          <p:nvPr/>
        </p:nvSpPr>
        <p:spPr>
          <a:xfrm>
            <a:off x="658368" y="2331720"/>
            <a:ext cx="10874959" cy="274320"/>
          </a:xfrm>
          <a:prstGeom prst="rect">
            <a:avLst/>
          </a:prstGeom>
          <a:noFill/>
          <a:ln/>
        </p:spPr>
        <p:txBody>
          <a:bodyPr wrap="square" lIns="0" tIns="0" rIns="0" bIns="0" rtlCol="0" anchor="ctr"/>
          <a:lstStyle/>
          <a:p>
            <a:pPr marL="0" indent="0" algn="l">
              <a:buNone/>
            </a:pPr>
            <a:r>
              <a:rPr lang="en-US" sz="1250" i="1" dirty="0">
                <a:solidFill>
                  <a:srgbClr val="5C6B7A"/>
                </a:solidFill>
                <a:latin typeface="Calibri" pitchFamily="34" charset="0"/>
                <a:ea typeface="Calibri" pitchFamily="34" charset="-122"/>
                <a:cs typeface="Calibri" pitchFamily="34" charset="-120"/>
              </a:rPr>
              <a:t>Lesson 1 did the first one. Today we do the other five.</a:t>
            </a:r>
            <a:endParaRPr lang="en-US" sz="1250" dirty="0"/>
          </a:p>
        </p:txBody>
      </p:sp>
      <p:sp>
        <p:nvSpPr>
          <p:cNvPr id="18" name="Text 16"/>
          <p:cNvSpPr/>
          <p:nvPr/>
        </p:nvSpPr>
        <p:spPr>
          <a:xfrm>
            <a:off x="658368" y="2788920"/>
            <a:ext cx="10874959" cy="256032"/>
          </a:xfrm>
          <a:prstGeom prst="rect">
            <a:avLst/>
          </a:prstGeom>
          <a:noFill/>
          <a:ln/>
        </p:spPr>
        <p:txBody>
          <a:bodyPr wrap="square" lIns="0" tIns="0" rIns="0" bIns="0" rtlCol="0" anchor="ctr"/>
          <a:lstStyle/>
          <a:p>
            <a:pPr marL="0" indent="0" algn="l">
              <a:buNone/>
            </a:pPr>
            <a:r>
              <a:rPr lang="en-US" sz="1100" b="1" dirty="0">
                <a:solidFill>
                  <a:srgbClr val="B32E4C"/>
                </a:solidFill>
                <a:latin typeface="Calibri" pitchFamily="34" charset="0"/>
                <a:ea typeface="Calibri" pitchFamily="34" charset="-122"/>
                <a:cs typeface="Calibri" pitchFamily="34" charset="-120"/>
              </a:rPr>
              <a:t>PHASE B — ANSWERING · every single question</a:t>
            </a:r>
            <a:endParaRPr lang="en-US" sz="1100" dirty="0"/>
          </a:p>
        </p:txBody>
      </p:sp>
      <p:sp>
        <p:nvSpPr>
          <p:cNvPr id="19" name="Shape 17"/>
          <p:cNvSpPr/>
          <p:nvPr/>
        </p:nvSpPr>
        <p:spPr>
          <a:xfrm>
            <a:off x="658368" y="3090672"/>
            <a:ext cx="2101840" cy="640080"/>
          </a:xfrm>
          <a:prstGeom prst="roundRect">
            <a:avLst>
              <a:gd name="adj" fmla="val 11429"/>
            </a:avLst>
          </a:prstGeom>
          <a:solidFill>
            <a:srgbClr val="8C2340"/>
          </a:solidFill>
          <a:ln w="12700">
            <a:solidFill>
              <a:srgbClr val="8C2340"/>
            </a:solidFill>
            <a:prstDash val="solid"/>
          </a:ln>
        </p:spPr>
        <p:txBody>
          <a:bodyPr/>
          <a:lstStyle/>
          <a:p>
            <a:endParaRPr lang="en-US"/>
          </a:p>
        </p:txBody>
      </p:sp>
      <p:sp>
        <p:nvSpPr>
          <p:cNvPr id="20" name="Text 18"/>
          <p:cNvSpPr/>
          <p:nvPr/>
        </p:nvSpPr>
        <p:spPr>
          <a:xfrm>
            <a:off x="749808" y="3090672"/>
            <a:ext cx="191896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Embed the question</a:t>
            </a:r>
            <a:endParaRPr lang="en-US" sz="1300" dirty="0"/>
          </a:p>
        </p:txBody>
      </p:sp>
      <p:sp>
        <p:nvSpPr>
          <p:cNvPr id="21" name="Shape 19"/>
          <p:cNvSpPr/>
          <p:nvPr/>
        </p:nvSpPr>
        <p:spPr>
          <a:xfrm>
            <a:off x="2851648" y="3090672"/>
            <a:ext cx="2101840" cy="640080"/>
          </a:xfrm>
          <a:prstGeom prst="chevron">
            <a:avLst>
              <a:gd name="adj" fmla="val 11429"/>
            </a:avLst>
          </a:prstGeom>
          <a:solidFill>
            <a:srgbClr val="A32B4B"/>
          </a:solidFill>
          <a:ln w="12700">
            <a:solidFill>
              <a:srgbClr val="A32B4B"/>
            </a:solidFill>
            <a:prstDash val="solid"/>
          </a:ln>
        </p:spPr>
        <p:txBody>
          <a:bodyPr/>
          <a:lstStyle/>
          <a:p>
            <a:endParaRPr lang="en-US"/>
          </a:p>
        </p:txBody>
      </p:sp>
      <p:sp>
        <p:nvSpPr>
          <p:cNvPr id="22" name="Text 20"/>
          <p:cNvSpPr/>
          <p:nvPr/>
        </p:nvSpPr>
        <p:spPr>
          <a:xfrm>
            <a:off x="3125968" y="3090672"/>
            <a:ext cx="1717792"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Search</a:t>
            </a:r>
            <a:endParaRPr lang="en-US" sz="1300" dirty="0"/>
          </a:p>
        </p:txBody>
      </p:sp>
      <p:sp>
        <p:nvSpPr>
          <p:cNvPr id="23" name="Shape 21"/>
          <p:cNvSpPr/>
          <p:nvPr/>
        </p:nvSpPr>
        <p:spPr>
          <a:xfrm>
            <a:off x="5044928" y="3090672"/>
            <a:ext cx="2101840" cy="640080"/>
          </a:xfrm>
          <a:prstGeom prst="chevron">
            <a:avLst>
              <a:gd name="adj" fmla="val 11429"/>
            </a:avLst>
          </a:prstGeom>
          <a:solidFill>
            <a:srgbClr val="B93357"/>
          </a:solidFill>
          <a:ln w="12700">
            <a:solidFill>
              <a:srgbClr val="B93357"/>
            </a:solidFill>
            <a:prstDash val="solid"/>
          </a:ln>
        </p:spPr>
        <p:txBody>
          <a:bodyPr/>
          <a:lstStyle/>
          <a:p>
            <a:endParaRPr lang="en-US"/>
          </a:p>
        </p:txBody>
      </p:sp>
      <p:sp>
        <p:nvSpPr>
          <p:cNvPr id="24" name="Text 22"/>
          <p:cNvSpPr/>
          <p:nvPr/>
        </p:nvSpPr>
        <p:spPr>
          <a:xfrm>
            <a:off x="5319248" y="3090672"/>
            <a:ext cx="1717792"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Top 4 chunks</a:t>
            </a:r>
            <a:endParaRPr lang="en-US" sz="1300" dirty="0"/>
          </a:p>
        </p:txBody>
      </p:sp>
      <p:sp>
        <p:nvSpPr>
          <p:cNvPr id="25" name="Shape 23"/>
          <p:cNvSpPr/>
          <p:nvPr/>
        </p:nvSpPr>
        <p:spPr>
          <a:xfrm>
            <a:off x="7238208" y="3090672"/>
            <a:ext cx="2101840" cy="640080"/>
          </a:xfrm>
          <a:prstGeom prst="chevron">
            <a:avLst>
              <a:gd name="adj" fmla="val 11429"/>
            </a:avLst>
          </a:prstGeom>
          <a:solidFill>
            <a:srgbClr val="CF3D64"/>
          </a:solidFill>
          <a:ln w="12700">
            <a:solidFill>
              <a:srgbClr val="CF3D64"/>
            </a:solidFill>
            <a:prstDash val="solid"/>
          </a:ln>
        </p:spPr>
        <p:txBody>
          <a:bodyPr/>
          <a:lstStyle/>
          <a:p>
            <a:endParaRPr lang="en-US"/>
          </a:p>
        </p:txBody>
      </p:sp>
      <p:sp>
        <p:nvSpPr>
          <p:cNvPr id="26" name="Text 24"/>
          <p:cNvSpPr/>
          <p:nvPr/>
        </p:nvSpPr>
        <p:spPr>
          <a:xfrm>
            <a:off x="7512528" y="3090672"/>
            <a:ext cx="1717792"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Build prompt</a:t>
            </a:r>
            <a:endParaRPr lang="en-US" sz="1300" dirty="0"/>
          </a:p>
        </p:txBody>
      </p:sp>
      <p:sp>
        <p:nvSpPr>
          <p:cNvPr id="27" name="Shape 25"/>
          <p:cNvSpPr/>
          <p:nvPr/>
        </p:nvSpPr>
        <p:spPr>
          <a:xfrm>
            <a:off x="9431487" y="3090672"/>
            <a:ext cx="2101840" cy="640080"/>
          </a:xfrm>
          <a:prstGeom prst="chevron">
            <a:avLst>
              <a:gd name="adj" fmla="val 11429"/>
            </a:avLst>
          </a:prstGeom>
          <a:solidFill>
            <a:srgbClr val="DE5175"/>
          </a:solidFill>
          <a:ln w="12700">
            <a:solidFill>
              <a:srgbClr val="DE5175"/>
            </a:solidFill>
            <a:prstDash val="solid"/>
          </a:ln>
        </p:spPr>
        <p:txBody>
          <a:bodyPr/>
          <a:lstStyle/>
          <a:p>
            <a:endParaRPr lang="en-US"/>
          </a:p>
        </p:txBody>
      </p:sp>
      <p:sp>
        <p:nvSpPr>
          <p:cNvPr id="28" name="Text 26"/>
          <p:cNvSpPr/>
          <p:nvPr/>
        </p:nvSpPr>
        <p:spPr>
          <a:xfrm>
            <a:off x="9705807" y="3090672"/>
            <a:ext cx="1717792"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29" name="Text 27"/>
          <p:cNvSpPr/>
          <p:nvPr/>
        </p:nvSpPr>
        <p:spPr>
          <a:xfrm>
            <a:off x="658368" y="3794760"/>
            <a:ext cx="10874959" cy="274320"/>
          </a:xfrm>
          <a:prstGeom prst="rect">
            <a:avLst/>
          </a:prstGeom>
          <a:noFill/>
          <a:ln/>
        </p:spPr>
        <p:txBody>
          <a:bodyPr wrap="square" lIns="0" tIns="0" rIns="0" bIns="0" rtlCol="0" anchor="ctr"/>
          <a:lstStyle/>
          <a:p>
            <a:pPr marL="0" indent="0" algn="l">
              <a:buNone/>
            </a:pPr>
            <a:r>
              <a:rPr lang="en-US" sz="1250" i="1" dirty="0">
                <a:solidFill>
                  <a:srgbClr val="5C6B7A"/>
                </a:solidFill>
                <a:latin typeface="Calibri" pitchFamily="34" charset="0"/>
                <a:ea typeface="Calibri" pitchFamily="34" charset="-122"/>
                <a:cs typeface="Calibri" pitchFamily="34" charset="-120"/>
              </a:rPr>
              <a:t>This is what we build after the break.</a:t>
            </a:r>
            <a:endParaRPr lang="en-US" sz="1250" dirty="0"/>
          </a:p>
        </p:txBody>
      </p:sp>
      <p:sp>
        <p:nvSpPr>
          <p:cNvPr id="30" name="Shape 28"/>
          <p:cNvSpPr/>
          <p:nvPr/>
        </p:nvSpPr>
        <p:spPr>
          <a:xfrm>
            <a:off x="658368" y="4343400"/>
            <a:ext cx="10874959" cy="1417320"/>
          </a:xfrm>
          <a:prstGeom prst="roundRect">
            <a:avLst>
              <a:gd name="adj" fmla="val 5161"/>
            </a:avLst>
          </a:prstGeom>
          <a:solidFill>
            <a:srgbClr val="E4EBF3"/>
          </a:solidFill>
          <a:ln w="12700">
            <a:solidFill>
              <a:srgbClr val="E4EBF3"/>
            </a:solidFill>
            <a:prstDash val="solid"/>
          </a:ln>
        </p:spPr>
        <p:txBody>
          <a:bodyPr/>
          <a:lstStyle/>
          <a:p>
            <a:endParaRPr lang="en-US"/>
          </a:p>
        </p:txBody>
      </p:sp>
      <p:sp>
        <p:nvSpPr>
          <p:cNvPr id="31" name="Text 29"/>
          <p:cNvSpPr/>
          <p:nvPr/>
        </p:nvSpPr>
        <p:spPr>
          <a:xfrm>
            <a:off x="932688" y="448970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TWO WORKFLOWS, ONE MEETING POINT</a:t>
            </a:r>
            <a:endParaRPr lang="en-US" sz="1050" dirty="0"/>
          </a:p>
        </p:txBody>
      </p:sp>
      <p:sp>
        <p:nvSpPr>
          <p:cNvPr id="32" name="Text 30"/>
          <p:cNvSpPr/>
          <p:nvPr/>
        </p:nvSpPr>
        <p:spPr>
          <a:xfrm>
            <a:off x="932688" y="4745736"/>
            <a:ext cx="10326319" cy="85039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Workflow 1 does Phase A. Workflow 2 does Phase B. They never talk to each other directly — they meet at the vector store, through a shared name called a memory key. Today that name is user_documents, and it must be spelled identically in both.</a:t>
            </a:r>
            <a:endParaRPr lang="en-US" sz="1500" dirty="0"/>
          </a:p>
        </p:txBody>
      </p:sp>
      <p:sp>
        <p:nvSpPr>
          <p:cNvPr id="33" name="Text 31"/>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34" name="Text 32"/>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PART 1 · THE LAB</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Finish Workflow 1</a:t>
            </a:r>
            <a:endParaRPr lang="en-US" sz="3000" dirty="0"/>
          </a:p>
        </p:txBody>
      </p:sp>
      <p:sp>
        <p:nvSpPr>
          <p:cNvPr id="4" name="Shape 2"/>
          <p:cNvSpPr/>
          <p:nvPr/>
        </p:nvSpPr>
        <p:spPr>
          <a:xfrm>
            <a:off x="658368" y="1572768"/>
            <a:ext cx="5669280" cy="513893"/>
          </a:xfrm>
          <a:prstGeom prst="roundRect">
            <a:avLst>
              <a:gd name="adj" fmla="val 12456"/>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655978"/>
            <a:ext cx="347472" cy="347472"/>
          </a:xfrm>
          <a:prstGeom prst="ellipse">
            <a:avLst/>
          </a:prstGeom>
          <a:solidFill>
            <a:srgbClr val="2A6FB5"/>
          </a:solidFill>
          <a:ln w="12700">
            <a:solidFill>
              <a:srgbClr val="2A6FB5"/>
            </a:solidFill>
            <a:prstDash val="solid"/>
          </a:ln>
        </p:spPr>
        <p:txBody>
          <a:bodyPr/>
          <a:lstStyle/>
          <a:p>
            <a:endParaRPr lang="en-US"/>
          </a:p>
        </p:txBody>
      </p:sp>
      <p:sp>
        <p:nvSpPr>
          <p:cNvPr id="6" name="Text 4"/>
          <p:cNvSpPr/>
          <p:nvPr/>
        </p:nvSpPr>
        <p:spPr>
          <a:xfrm>
            <a:off x="859536" y="165597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572768"/>
            <a:ext cx="4736592" cy="513893"/>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Get File Content</a:t>
            </a:r>
            <a:r>
              <a:rPr lang="en-US" sz="1350" dirty="0">
                <a:solidFill>
                  <a:srgbClr val="5C6B7A"/>
                </a:solidFill>
                <a:latin typeface="Calibri" pitchFamily="34" charset="0"/>
                <a:ea typeface="Calibri" pitchFamily="34" charset="-122"/>
                <a:cs typeface="Calibri" pitchFamily="34" charset="-120"/>
              </a:rPr>
              <a:t>   download by ID, never by name</a:t>
            </a:r>
            <a:endParaRPr lang="en-US" sz="1350" dirty="0"/>
          </a:p>
        </p:txBody>
      </p:sp>
      <p:sp>
        <p:nvSpPr>
          <p:cNvPr id="8" name="Shape 6"/>
          <p:cNvSpPr/>
          <p:nvPr/>
        </p:nvSpPr>
        <p:spPr>
          <a:xfrm>
            <a:off x="658368" y="2187245"/>
            <a:ext cx="5669280" cy="513893"/>
          </a:xfrm>
          <a:prstGeom prst="roundRect">
            <a:avLst>
              <a:gd name="adj" fmla="val 12456"/>
            </a:avLst>
          </a:prstGeom>
          <a:solidFill>
            <a:srgbClr val="F2F5F9"/>
          </a:solidFill>
          <a:ln w="12700">
            <a:solidFill>
              <a:srgbClr val="F2F5F9"/>
            </a:solidFill>
            <a:prstDash val="solid"/>
          </a:ln>
        </p:spPr>
        <p:txBody>
          <a:bodyPr/>
          <a:lstStyle/>
          <a:p>
            <a:endParaRPr lang="en-US"/>
          </a:p>
        </p:txBody>
      </p:sp>
      <p:sp>
        <p:nvSpPr>
          <p:cNvPr id="9" name="Shape 7"/>
          <p:cNvSpPr/>
          <p:nvPr/>
        </p:nvSpPr>
        <p:spPr>
          <a:xfrm>
            <a:off x="859536" y="2270455"/>
            <a:ext cx="347472" cy="347472"/>
          </a:xfrm>
          <a:prstGeom prst="ellipse">
            <a:avLst/>
          </a:prstGeom>
          <a:solidFill>
            <a:srgbClr val="2A6FB5"/>
          </a:solidFill>
          <a:ln w="12700">
            <a:solidFill>
              <a:srgbClr val="2A6FB5"/>
            </a:solidFill>
            <a:prstDash val="solid"/>
          </a:ln>
        </p:spPr>
        <p:txBody>
          <a:bodyPr/>
          <a:lstStyle/>
          <a:p>
            <a:endParaRPr lang="en-US"/>
          </a:p>
        </p:txBody>
      </p:sp>
      <p:sp>
        <p:nvSpPr>
          <p:cNvPr id="10" name="Text 8"/>
          <p:cNvSpPr/>
          <p:nvPr/>
        </p:nvSpPr>
        <p:spPr>
          <a:xfrm>
            <a:off x="859536" y="2270455"/>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53312" y="2187245"/>
            <a:ext cx="4736592" cy="513893"/>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Extract from File</a:t>
            </a:r>
            <a:r>
              <a:rPr lang="en-US" sz="1350" dirty="0">
                <a:solidFill>
                  <a:srgbClr val="5C6B7A"/>
                </a:solidFill>
                <a:latin typeface="Calibri" pitchFamily="34" charset="0"/>
                <a:ea typeface="Calibri" pitchFamily="34" charset="-122"/>
                <a:cs typeface="Calibri" pitchFamily="34" charset="-120"/>
              </a:rPr>
              <a:t>   binary becomes readable text</a:t>
            </a:r>
            <a:endParaRPr lang="en-US" sz="1350" dirty="0"/>
          </a:p>
        </p:txBody>
      </p:sp>
      <p:sp>
        <p:nvSpPr>
          <p:cNvPr id="12" name="Shape 10"/>
          <p:cNvSpPr/>
          <p:nvPr/>
        </p:nvSpPr>
        <p:spPr>
          <a:xfrm>
            <a:off x="658368" y="2801722"/>
            <a:ext cx="5669280" cy="513893"/>
          </a:xfrm>
          <a:prstGeom prst="roundRect">
            <a:avLst>
              <a:gd name="adj" fmla="val 12456"/>
            </a:avLst>
          </a:prstGeom>
          <a:solidFill>
            <a:srgbClr val="F2F5F9"/>
          </a:solidFill>
          <a:ln w="12700">
            <a:solidFill>
              <a:srgbClr val="F2F5F9"/>
            </a:solidFill>
            <a:prstDash val="solid"/>
          </a:ln>
        </p:spPr>
        <p:txBody>
          <a:bodyPr/>
          <a:lstStyle/>
          <a:p>
            <a:endParaRPr lang="en-US"/>
          </a:p>
        </p:txBody>
      </p:sp>
      <p:sp>
        <p:nvSpPr>
          <p:cNvPr id="13" name="Shape 11"/>
          <p:cNvSpPr/>
          <p:nvPr/>
        </p:nvSpPr>
        <p:spPr>
          <a:xfrm>
            <a:off x="859536" y="2884932"/>
            <a:ext cx="347472" cy="347472"/>
          </a:xfrm>
          <a:prstGeom prst="ellipse">
            <a:avLst/>
          </a:prstGeom>
          <a:solidFill>
            <a:srgbClr val="2A6FB5"/>
          </a:solidFill>
          <a:ln w="12700">
            <a:solidFill>
              <a:srgbClr val="2A6FB5"/>
            </a:solidFill>
            <a:prstDash val="solid"/>
          </a:ln>
        </p:spPr>
        <p:txBody>
          <a:bodyPr/>
          <a:lstStyle/>
          <a:p>
            <a:endParaRPr lang="en-US"/>
          </a:p>
        </p:txBody>
      </p:sp>
      <p:sp>
        <p:nvSpPr>
          <p:cNvPr id="14" name="Text 12"/>
          <p:cNvSpPr/>
          <p:nvPr/>
        </p:nvSpPr>
        <p:spPr>
          <a:xfrm>
            <a:off x="859536" y="28849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53312" y="2801722"/>
            <a:ext cx="4736592" cy="513893"/>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Character Text Splitter</a:t>
            </a:r>
            <a:r>
              <a:rPr lang="en-US" sz="1350" dirty="0">
                <a:solidFill>
                  <a:srgbClr val="5C6B7A"/>
                </a:solidFill>
                <a:latin typeface="Calibri" pitchFamily="34" charset="0"/>
                <a:ea typeface="Calibri" pitchFamily="34" charset="-122"/>
                <a:cs typeface="Calibri" pitchFamily="34" charset="-120"/>
              </a:rPr>
              <a:t>   1,000 chars, 200 overlap</a:t>
            </a:r>
            <a:endParaRPr lang="en-US" sz="1350" dirty="0"/>
          </a:p>
        </p:txBody>
      </p:sp>
      <p:sp>
        <p:nvSpPr>
          <p:cNvPr id="16" name="Shape 14"/>
          <p:cNvSpPr/>
          <p:nvPr/>
        </p:nvSpPr>
        <p:spPr>
          <a:xfrm>
            <a:off x="658368" y="3416198"/>
            <a:ext cx="5669280" cy="513893"/>
          </a:xfrm>
          <a:prstGeom prst="roundRect">
            <a:avLst>
              <a:gd name="adj" fmla="val 12456"/>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859536" y="3499409"/>
            <a:ext cx="347472" cy="347472"/>
          </a:xfrm>
          <a:prstGeom prst="ellipse">
            <a:avLst/>
          </a:prstGeom>
          <a:solidFill>
            <a:srgbClr val="2A6FB5"/>
          </a:solidFill>
          <a:ln w="12700">
            <a:solidFill>
              <a:srgbClr val="2A6FB5"/>
            </a:solidFill>
            <a:prstDash val="solid"/>
          </a:ln>
        </p:spPr>
        <p:txBody>
          <a:bodyPr/>
          <a:lstStyle/>
          <a:p>
            <a:endParaRPr lang="en-US"/>
          </a:p>
        </p:txBody>
      </p:sp>
      <p:sp>
        <p:nvSpPr>
          <p:cNvPr id="18" name="Text 16"/>
          <p:cNvSpPr/>
          <p:nvPr/>
        </p:nvSpPr>
        <p:spPr>
          <a:xfrm>
            <a:off x="859536" y="349940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353312" y="3416198"/>
            <a:ext cx="4736592" cy="513893"/>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Embeddings Gemini</a:t>
            </a:r>
            <a:r>
              <a:rPr lang="en-US" sz="1350" dirty="0">
                <a:solidFill>
                  <a:srgbClr val="5C6B7A"/>
                </a:solidFill>
                <a:latin typeface="Calibri" pitchFamily="34" charset="0"/>
                <a:ea typeface="Calibri" pitchFamily="34" charset="-122"/>
                <a:cs typeface="Calibri" pitchFamily="34" charset="-120"/>
              </a:rPr>
              <a:t>   gemini-embedding-001</a:t>
            </a:r>
            <a:endParaRPr lang="en-US" sz="1350" dirty="0"/>
          </a:p>
        </p:txBody>
      </p:sp>
      <p:sp>
        <p:nvSpPr>
          <p:cNvPr id="20" name="Shape 18"/>
          <p:cNvSpPr/>
          <p:nvPr/>
        </p:nvSpPr>
        <p:spPr>
          <a:xfrm>
            <a:off x="658368" y="4030675"/>
            <a:ext cx="5669280" cy="513893"/>
          </a:xfrm>
          <a:prstGeom prst="roundRect">
            <a:avLst>
              <a:gd name="adj" fmla="val 12456"/>
            </a:avLst>
          </a:prstGeom>
          <a:solidFill>
            <a:srgbClr val="F2F5F9"/>
          </a:solidFill>
          <a:ln w="12700">
            <a:solidFill>
              <a:srgbClr val="F2F5F9"/>
            </a:solidFill>
            <a:prstDash val="solid"/>
          </a:ln>
        </p:spPr>
        <p:txBody>
          <a:bodyPr/>
          <a:lstStyle/>
          <a:p>
            <a:endParaRPr lang="en-US"/>
          </a:p>
        </p:txBody>
      </p:sp>
      <p:sp>
        <p:nvSpPr>
          <p:cNvPr id="21" name="Shape 19"/>
          <p:cNvSpPr/>
          <p:nvPr/>
        </p:nvSpPr>
        <p:spPr>
          <a:xfrm>
            <a:off x="859536" y="4113886"/>
            <a:ext cx="347472" cy="347472"/>
          </a:xfrm>
          <a:prstGeom prst="ellipse">
            <a:avLst/>
          </a:prstGeom>
          <a:solidFill>
            <a:srgbClr val="2A6FB5"/>
          </a:solidFill>
          <a:ln w="12700">
            <a:solidFill>
              <a:srgbClr val="2A6FB5"/>
            </a:solidFill>
            <a:prstDash val="solid"/>
          </a:ln>
        </p:spPr>
        <p:txBody>
          <a:bodyPr/>
          <a:lstStyle/>
          <a:p>
            <a:endParaRPr lang="en-US"/>
          </a:p>
        </p:txBody>
      </p:sp>
      <p:sp>
        <p:nvSpPr>
          <p:cNvPr id="22" name="Text 20"/>
          <p:cNvSpPr/>
          <p:nvPr/>
        </p:nvSpPr>
        <p:spPr>
          <a:xfrm>
            <a:off x="859536" y="411388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353312" y="4030675"/>
            <a:ext cx="4736592" cy="513893"/>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Simple Vector Store</a:t>
            </a:r>
            <a:r>
              <a:rPr lang="en-US" sz="1350" dirty="0">
                <a:solidFill>
                  <a:srgbClr val="5C6B7A"/>
                </a:solidFill>
                <a:latin typeface="Calibri" pitchFamily="34" charset="0"/>
                <a:ea typeface="Calibri" pitchFamily="34" charset="-122"/>
                <a:cs typeface="Calibri" pitchFamily="34" charset="-120"/>
              </a:rPr>
              <a:t>   key: user_documents</a:t>
            </a:r>
            <a:endParaRPr lang="en-US" sz="1350" dirty="0"/>
          </a:p>
        </p:txBody>
      </p:sp>
      <p:sp>
        <p:nvSpPr>
          <p:cNvPr id="24" name="Shape 22"/>
          <p:cNvSpPr/>
          <p:nvPr/>
        </p:nvSpPr>
        <p:spPr>
          <a:xfrm>
            <a:off x="6601968" y="1481328"/>
            <a:ext cx="5022799" cy="2049911"/>
          </a:xfrm>
          <a:prstGeom prst="roundRect">
            <a:avLst>
              <a:gd name="adj" fmla="val 2676"/>
            </a:avLst>
          </a:prstGeom>
          <a:solidFill>
            <a:srgbClr val="F2F5F9"/>
          </a:solidFill>
          <a:ln w="12700">
            <a:solidFill>
              <a:srgbClr val="E4EBF3"/>
            </a:solidFill>
            <a:prstDash val="solid"/>
          </a:ln>
        </p:spPr>
        <p:txBody>
          <a:bodyPr/>
          <a:lstStyle/>
          <a:p>
            <a:endParaRPr lang="en-US"/>
          </a:p>
        </p:txBody>
      </p:sp>
      <p:pic>
        <p:nvPicPr>
          <p:cNvPr id="25" name="Image 0" descr="/tmp/l2build/img/ingest_clean.png"/>
          <p:cNvPicPr>
            <a:picLocks noChangeAspect="1"/>
          </p:cNvPicPr>
          <p:nvPr/>
        </p:nvPicPr>
        <p:blipFill>
          <a:blip r:embed="rId3"/>
          <a:stretch>
            <a:fillRect/>
          </a:stretch>
        </p:blipFill>
        <p:spPr>
          <a:xfrm>
            <a:off x="6693408" y="1572768"/>
            <a:ext cx="4839919" cy="1867031"/>
          </a:xfrm>
          <a:prstGeom prst="rect">
            <a:avLst/>
          </a:prstGeom>
        </p:spPr>
      </p:pic>
      <p:sp>
        <p:nvSpPr>
          <p:cNvPr id="26" name="Text 23"/>
          <p:cNvSpPr/>
          <p:nvPr/>
        </p:nvSpPr>
        <p:spPr>
          <a:xfrm>
            <a:off x="6601968" y="3586103"/>
            <a:ext cx="5022799"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All the nodes were already on the canvas.</a:t>
            </a:r>
            <a:endParaRPr lang="en-US" sz="1100" dirty="0"/>
          </a:p>
        </p:txBody>
      </p:sp>
      <p:sp>
        <p:nvSpPr>
          <p:cNvPr id="27" name="Shape 24"/>
          <p:cNvSpPr/>
          <p:nvPr/>
        </p:nvSpPr>
        <p:spPr>
          <a:xfrm>
            <a:off x="658368" y="4617720"/>
            <a:ext cx="10874959" cy="1143000"/>
          </a:xfrm>
          <a:prstGeom prst="roundRect">
            <a:avLst>
              <a:gd name="adj" fmla="val 6400"/>
            </a:avLst>
          </a:prstGeom>
          <a:solidFill>
            <a:srgbClr val="E7F5EE"/>
          </a:solidFill>
          <a:ln w="12700">
            <a:solidFill>
              <a:srgbClr val="E7F5EE"/>
            </a:solidFill>
            <a:prstDash val="solid"/>
          </a:ln>
        </p:spPr>
        <p:txBody>
          <a:bodyPr/>
          <a:lstStyle/>
          <a:p>
            <a:endParaRPr lang="en-US"/>
          </a:p>
        </p:txBody>
      </p:sp>
      <p:sp>
        <p:nvSpPr>
          <p:cNvPr id="28" name="Text 25"/>
          <p:cNvSpPr/>
          <p:nvPr/>
        </p:nvSpPr>
        <p:spPr>
          <a:xfrm>
            <a:off x="932688" y="4764024"/>
            <a:ext cx="10326319" cy="219456"/>
          </a:xfrm>
          <a:prstGeom prst="rect">
            <a:avLst/>
          </a:prstGeom>
          <a:noFill/>
          <a:ln/>
        </p:spPr>
        <p:txBody>
          <a:bodyPr wrap="square" lIns="0" tIns="0" rIns="0" bIns="0" rtlCol="0" anchor="ctr"/>
          <a:lstStyle/>
          <a:p>
            <a:pPr marL="0" indent="0" algn="l">
              <a:buNone/>
            </a:pPr>
            <a:r>
              <a:rPr lang="en-US" sz="1050" b="1" kern="0" spc="160" dirty="0">
                <a:solidFill>
                  <a:srgbClr val="1B8F62"/>
                </a:solidFill>
                <a:latin typeface="Calibri" pitchFamily="34" charset="0"/>
                <a:ea typeface="Calibri" pitchFamily="34" charset="-122"/>
                <a:cs typeface="Calibri" pitchFamily="34" charset="-120"/>
              </a:rPr>
              <a:t>THEN RUN IT — AND CHECK THE OUTPUT</a:t>
            </a:r>
            <a:endParaRPr lang="en-US" sz="1050" dirty="0"/>
          </a:p>
        </p:txBody>
      </p:sp>
      <p:sp>
        <p:nvSpPr>
          <p:cNvPr id="29" name="Text 26"/>
          <p:cNvSpPr/>
          <p:nvPr/>
        </p:nvSpPr>
        <p:spPr>
          <a:xfrm>
            <a:off x="932688" y="5020056"/>
            <a:ext cx="10326319" cy="57607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Set query to University_AI_Course.txt, click Execute workflow, and open the Embeddings node afterwards. Its output panel is a wall of numbers. That is an embedding, and it is the first time students see one.</a:t>
            </a:r>
            <a:endParaRPr lang="en-US" sz="1400" dirty="0"/>
          </a:p>
        </p:txBody>
      </p:sp>
      <p:sp>
        <p:nvSpPr>
          <p:cNvPr id="30" name="Text 27"/>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31" name="Text 28"/>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READ THIS TWICE</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The store lives in memory and forgets</a:t>
            </a:r>
            <a:endParaRPr lang="en-US" sz="3000" dirty="0"/>
          </a:p>
        </p:txBody>
      </p:sp>
      <p:sp>
        <p:nvSpPr>
          <p:cNvPr id="4" name="Shape 2"/>
          <p:cNvSpPr/>
          <p:nvPr/>
        </p:nvSpPr>
        <p:spPr>
          <a:xfrm>
            <a:off x="658368" y="1645920"/>
            <a:ext cx="3442106" cy="2286000"/>
          </a:xfrm>
          <a:prstGeom prst="roundRect">
            <a:avLst>
              <a:gd name="adj" fmla="val 3600"/>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883664"/>
            <a:ext cx="2930042" cy="310896"/>
          </a:xfrm>
          <a:prstGeom prst="rect">
            <a:avLst/>
          </a:prstGeom>
          <a:noFill/>
          <a:ln/>
        </p:spPr>
        <p:txBody>
          <a:bodyPr wrap="square" lIns="0" tIns="0" rIns="0" bIns="0" rtlCol="0" anchor="ctr"/>
          <a:lstStyle/>
          <a:p>
            <a:pPr marL="0" indent="0" algn="l">
              <a:lnSpc>
                <a:spcPct val="102000"/>
              </a:lnSpc>
              <a:buNone/>
            </a:pPr>
            <a:r>
              <a:rPr lang="en-US" sz="1800" b="1" dirty="0">
                <a:solidFill>
                  <a:srgbClr val="B32E4C"/>
                </a:solidFill>
                <a:latin typeface="Calibri" pitchFamily="34" charset="0"/>
                <a:ea typeface="Calibri" pitchFamily="34" charset="-122"/>
                <a:cs typeface="Calibri" pitchFamily="34" charset="-120"/>
              </a:rPr>
              <a:t>Lost on restart</a:t>
            </a:r>
            <a:endParaRPr lang="en-US" sz="1800" dirty="0"/>
          </a:p>
        </p:txBody>
      </p:sp>
      <p:sp>
        <p:nvSpPr>
          <p:cNvPr id="6" name="Text 4"/>
          <p:cNvSpPr/>
          <p:nvPr/>
        </p:nvSpPr>
        <p:spPr>
          <a:xfrm>
            <a:off x="914400" y="2249424"/>
            <a:ext cx="2930042" cy="148132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Restart n8n and the store is empty. Workflow 1 must be run again before anything can be retrieved.</a:t>
            </a:r>
            <a:endParaRPr lang="en-US" sz="1400" dirty="0"/>
          </a:p>
        </p:txBody>
      </p:sp>
      <p:sp>
        <p:nvSpPr>
          <p:cNvPr id="7" name="Shape 5"/>
          <p:cNvSpPr/>
          <p:nvPr/>
        </p:nvSpPr>
        <p:spPr>
          <a:xfrm>
            <a:off x="4374794" y="1645920"/>
            <a:ext cx="3442106" cy="2286000"/>
          </a:xfrm>
          <a:prstGeom prst="roundRect">
            <a:avLst>
              <a:gd name="adj" fmla="val 3600"/>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8" name="Text 6"/>
          <p:cNvSpPr/>
          <p:nvPr/>
        </p:nvSpPr>
        <p:spPr>
          <a:xfrm>
            <a:off x="4630826" y="1883664"/>
            <a:ext cx="2930042" cy="310896"/>
          </a:xfrm>
          <a:prstGeom prst="rect">
            <a:avLst/>
          </a:prstGeom>
          <a:noFill/>
          <a:ln/>
        </p:spPr>
        <p:txBody>
          <a:bodyPr wrap="square" lIns="0" tIns="0" rIns="0" bIns="0" rtlCol="0" anchor="ctr"/>
          <a:lstStyle/>
          <a:p>
            <a:pPr marL="0" indent="0" algn="l">
              <a:lnSpc>
                <a:spcPct val="102000"/>
              </a:lnSpc>
              <a:buNone/>
            </a:pPr>
            <a:r>
              <a:rPr lang="en-US" sz="1800" b="1" dirty="0">
                <a:solidFill>
                  <a:srgbClr val="2A6FB5"/>
                </a:solidFill>
                <a:latin typeface="Calibri" pitchFamily="34" charset="0"/>
                <a:ea typeface="Calibri" pitchFamily="34" charset="-122"/>
                <a:cs typeface="Calibri" pitchFamily="34" charset="-120"/>
              </a:rPr>
              <a:t>Global, not per-workflow</a:t>
            </a:r>
            <a:endParaRPr lang="en-US" sz="1800" dirty="0"/>
          </a:p>
        </p:txBody>
      </p:sp>
      <p:sp>
        <p:nvSpPr>
          <p:cNvPr id="9" name="Text 7"/>
          <p:cNvSpPr/>
          <p:nvPr/>
        </p:nvSpPr>
        <p:spPr>
          <a:xfrm>
            <a:off x="4630826" y="2249424"/>
            <a:ext cx="2930042" cy="148132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The memory key is shared across the whole n8n instance. That is why Workflow 2 can read what Workflow 1 wrote.</a:t>
            </a:r>
            <a:endParaRPr lang="en-US" sz="1400" dirty="0"/>
          </a:p>
        </p:txBody>
      </p:sp>
      <p:sp>
        <p:nvSpPr>
          <p:cNvPr id="10" name="Shape 8"/>
          <p:cNvSpPr/>
          <p:nvPr/>
        </p:nvSpPr>
        <p:spPr>
          <a:xfrm>
            <a:off x="8091221" y="1645920"/>
            <a:ext cx="3442106" cy="2286000"/>
          </a:xfrm>
          <a:prstGeom prst="roundRect">
            <a:avLst>
              <a:gd name="adj" fmla="val 3600"/>
            </a:avLst>
          </a:prstGeom>
          <a:solidFill>
            <a:srgbClr val="FCF2E4"/>
          </a:solidFill>
          <a:ln w="12700">
            <a:solidFill>
              <a:srgbClr val="FCF2E4"/>
            </a:solidFill>
            <a:prstDash val="solid"/>
          </a:ln>
          <a:effectLst>
            <a:outerShdw blurRad="127000" dist="25400" dir="5400000" algn="bl" rotWithShape="0">
              <a:srgbClr val="8496AC">
                <a:alpha val="18000"/>
              </a:srgbClr>
            </a:outerShdw>
          </a:effectLst>
        </p:spPr>
        <p:txBody>
          <a:bodyPr/>
          <a:lstStyle/>
          <a:p>
            <a:endParaRPr lang="en-US"/>
          </a:p>
        </p:txBody>
      </p:sp>
      <p:sp>
        <p:nvSpPr>
          <p:cNvPr id="11" name="Text 9"/>
          <p:cNvSpPr/>
          <p:nvPr/>
        </p:nvSpPr>
        <p:spPr>
          <a:xfrm>
            <a:off x="8347253" y="1883664"/>
            <a:ext cx="2930042" cy="310896"/>
          </a:xfrm>
          <a:prstGeom prst="rect">
            <a:avLst/>
          </a:prstGeom>
          <a:noFill/>
          <a:ln/>
        </p:spPr>
        <p:txBody>
          <a:bodyPr wrap="square" lIns="0" tIns="0" rIns="0" bIns="0" rtlCol="0" anchor="ctr"/>
          <a:lstStyle/>
          <a:p>
            <a:pPr marL="0" indent="0" algn="l">
              <a:lnSpc>
                <a:spcPct val="102000"/>
              </a:lnSpc>
              <a:buNone/>
            </a:pPr>
            <a:r>
              <a:rPr lang="en-US" sz="1800" b="1" dirty="0">
                <a:solidFill>
                  <a:srgbClr val="A85F12"/>
                </a:solidFill>
                <a:latin typeface="Calibri" pitchFamily="34" charset="0"/>
                <a:ea typeface="Calibri" pitchFamily="34" charset="-122"/>
                <a:cs typeface="Calibri" pitchFamily="34" charset="-120"/>
              </a:rPr>
              <a:t>Development only</a:t>
            </a:r>
            <a:endParaRPr lang="en-US" sz="1800" dirty="0"/>
          </a:p>
        </p:txBody>
      </p:sp>
      <p:sp>
        <p:nvSpPr>
          <p:cNvPr id="12" name="Text 10"/>
          <p:cNvSpPr/>
          <p:nvPr/>
        </p:nvSpPr>
        <p:spPr>
          <a:xfrm>
            <a:off x="8347253" y="2249424"/>
            <a:ext cx="2930042" cy="148132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n8n says so itself. Fine for learning, wrong for production — there you would use a real vector database.</a:t>
            </a:r>
            <a:endParaRPr lang="en-US" sz="1400" dirty="0"/>
          </a:p>
        </p:txBody>
      </p:sp>
      <p:sp>
        <p:nvSpPr>
          <p:cNvPr id="13" name="Shape 11"/>
          <p:cNvSpPr/>
          <p:nvPr/>
        </p:nvSpPr>
        <p:spPr>
          <a:xfrm>
            <a:off x="658368" y="4206240"/>
            <a:ext cx="10874959" cy="1554480"/>
          </a:xfrm>
          <a:prstGeom prst="roundRect">
            <a:avLst>
              <a:gd name="adj" fmla="val 5882"/>
            </a:avLst>
          </a:prstGeom>
          <a:solidFill>
            <a:srgbClr val="13233F"/>
          </a:solidFill>
          <a:ln w="12700">
            <a:solidFill>
              <a:srgbClr val="13233F"/>
            </a:solidFill>
            <a:prstDash val="solid"/>
          </a:ln>
        </p:spPr>
        <p:txBody>
          <a:bodyPr/>
          <a:lstStyle/>
          <a:p>
            <a:endParaRPr lang="en-US"/>
          </a:p>
        </p:txBody>
      </p:sp>
      <p:sp>
        <p:nvSpPr>
          <p:cNvPr id="14" name="Text 12"/>
          <p:cNvSpPr/>
          <p:nvPr/>
        </p:nvSpPr>
        <p:spPr>
          <a:xfrm>
            <a:off x="978408" y="4370832"/>
            <a:ext cx="10234879" cy="274320"/>
          </a:xfrm>
          <a:prstGeom prst="rect">
            <a:avLst/>
          </a:prstGeom>
          <a:noFill/>
          <a:ln/>
        </p:spPr>
        <p:txBody>
          <a:bodyPr wrap="square" lIns="0" tIns="0" rIns="0" bIns="0" rtlCol="0" anchor="ctr"/>
          <a:lstStyle/>
          <a:p>
            <a:pPr marL="0" indent="0" algn="l">
              <a:buNone/>
            </a:pPr>
            <a:r>
              <a:rPr lang="en-US" sz="1050" b="1" kern="0" spc="160" dirty="0">
                <a:solidFill>
                  <a:srgbClr val="8FA3BF"/>
                </a:solidFill>
                <a:latin typeface="Calibri" pitchFamily="34" charset="0"/>
                <a:ea typeface="Calibri" pitchFamily="34" charset="-122"/>
                <a:cs typeface="Calibri" pitchFamily="34" charset="-120"/>
              </a:rPr>
              <a:t>THE FIRST QUESTION TO ASK WHEN NOTHING IS FOUND</a:t>
            </a:r>
            <a:endParaRPr lang="en-US" sz="1050" dirty="0"/>
          </a:p>
        </p:txBody>
      </p:sp>
      <p:sp>
        <p:nvSpPr>
          <p:cNvPr id="15" name="Text 13"/>
          <p:cNvSpPr/>
          <p:nvPr/>
        </p:nvSpPr>
        <p:spPr>
          <a:xfrm>
            <a:off x="978408" y="4709160"/>
            <a:ext cx="10234879" cy="8229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Has n8n restarted since Workflow 1 last ran?</a:t>
            </a:r>
            <a:endParaRPr lang="en-US" sz="2000" dirty="0"/>
          </a:p>
        </p:txBody>
      </p:sp>
      <p:sp>
        <p:nvSpPr>
          <p:cNvPr id="16" name="Text 14"/>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7" name="Text 15"/>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How retrieval works</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What happens in the two seconds between pressing Enter and reading an answer.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STEP STUDENTS MISS</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The question is embedded too</a:t>
            </a:r>
            <a:endParaRPr lang="en-US" sz="3000" dirty="0"/>
          </a:p>
        </p:txBody>
      </p:sp>
      <p:sp>
        <p:nvSpPr>
          <p:cNvPr id="4" name="Shape 2"/>
          <p:cNvSpPr/>
          <p:nvPr/>
        </p:nvSpPr>
        <p:spPr>
          <a:xfrm>
            <a:off x="658368" y="1554480"/>
            <a:ext cx="10874959" cy="658368"/>
          </a:xfrm>
          <a:prstGeom prst="roundRect">
            <a:avLst>
              <a:gd name="adj" fmla="val 12500"/>
            </a:avLst>
          </a:prstGeom>
          <a:solidFill>
            <a:srgbClr val="13233F"/>
          </a:solidFill>
          <a:ln w="12700">
            <a:solidFill>
              <a:srgbClr val="13233F"/>
            </a:solidFill>
            <a:prstDash val="solid"/>
          </a:ln>
        </p:spPr>
        <p:txBody>
          <a:bodyPr/>
          <a:lstStyle/>
          <a:p>
            <a:endParaRPr lang="en-US"/>
          </a:p>
        </p:txBody>
      </p:sp>
      <p:sp>
        <p:nvSpPr>
          <p:cNvPr id="5" name="Text 3"/>
          <p:cNvSpPr/>
          <p:nvPr/>
        </p:nvSpPr>
        <p:spPr>
          <a:xfrm>
            <a:off x="978408" y="1554480"/>
            <a:ext cx="10234879" cy="658368"/>
          </a:xfrm>
          <a:prstGeom prst="rect">
            <a:avLst/>
          </a:prstGeom>
          <a:noFill/>
          <a:ln/>
        </p:spPr>
        <p:txBody>
          <a:bodyPr wrap="square" lIns="0" tIns="0" rIns="0" bIns="0" rtlCol="0" anchor="ctr"/>
          <a:lstStyle/>
          <a:p>
            <a:pPr marL="0" indent="0" algn="l">
              <a:buNone/>
            </a:pPr>
            <a:r>
              <a:rPr lang="en-US" sz="1800" i="1" dirty="0">
                <a:solidFill>
                  <a:srgbClr val="FFFFFF"/>
                </a:solidFill>
                <a:latin typeface="Calibri" pitchFamily="34" charset="0"/>
                <a:ea typeface="Calibri" pitchFamily="34" charset="-122"/>
                <a:cs typeface="Calibri" pitchFamily="34" charset="-120"/>
              </a:rPr>
              <a:t>“What score do I need to pass?”</a:t>
            </a:r>
            <a:endParaRPr lang="en-US" sz="1800" dirty="0"/>
          </a:p>
        </p:txBody>
      </p:sp>
      <p:sp>
        <p:nvSpPr>
          <p:cNvPr id="6" name="Shape 4"/>
          <p:cNvSpPr/>
          <p:nvPr/>
        </p:nvSpPr>
        <p:spPr>
          <a:xfrm>
            <a:off x="658368" y="2487168"/>
            <a:ext cx="2101840" cy="731520"/>
          </a:xfrm>
          <a:prstGeom prst="roundRect">
            <a:avLst>
              <a:gd name="adj" fmla="val 10000"/>
            </a:avLst>
          </a:prstGeom>
          <a:solidFill>
            <a:srgbClr val="13233F"/>
          </a:solidFill>
          <a:ln w="12700">
            <a:solidFill>
              <a:srgbClr val="13233F"/>
            </a:solidFill>
            <a:prstDash val="solid"/>
          </a:ln>
        </p:spPr>
        <p:txBody>
          <a:bodyPr/>
          <a:lstStyle/>
          <a:p>
            <a:endParaRPr lang="en-US"/>
          </a:p>
        </p:txBody>
      </p:sp>
      <p:sp>
        <p:nvSpPr>
          <p:cNvPr id="7" name="Text 5"/>
          <p:cNvSpPr/>
          <p:nvPr/>
        </p:nvSpPr>
        <p:spPr>
          <a:xfrm>
            <a:off x="749808" y="2487168"/>
            <a:ext cx="191896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Typed question</a:t>
            </a:r>
            <a:endParaRPr lang="en-US" sz="1400" dirty="0"/>
          </a:p>
        </p:txBody>
      </p:sp>
      <p:sp>
        <p:nvSpPr>
          <p:cNvPr id="8" name="Shape 6"/>
          <p:cNvSpPr/>
          <p:nvPr/>
        </p:nvSpPr>
        <p:spPr>
          <a:xfrm>
            <a:off x="2851648" y="2487168"/>
            <a:ext cx="2101840" cy="731520"/>
          </a:xfrm>
          <a:prstGeom prst="chevron">
            <a:avLst>
              <a:gd name="adj" fmla="val 10000"/>
            </a:avLst>
          </a:prstGeom>
          <a:solidFill>
            <a:srgbClr val="23406E"/>
          </a:solidFill>
          <a:ln w="12700">
            <a:solidFill>
              <a:srgbClr val="23406E"/>
            </a:solidFill>
            <a:prstDash val="solid"/>
          </a:ln>
        </p:spPr>
        <p:txBody>
          <a:bodyPr/>
          <a:lstStyle/>
          <a:p>
            <a:endParaRPr lang="en-US"/>
          </a:p>
        </p:txBody>
      </p:sp>
      <p:sp>
        <p:nvSpPr>
          <p:cNvPr id="9" name="Text 7"/>
          <p:cNvSpPr/>
          <p:nvPr/>
        </p:nvSpPr>
        <p:spPr>
          <a:xfrm>
            <a:off x="3125968" y="2487168"/>
            <a:ext cx="1717792"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Embedding model</a:t>
            </a:r>
            <a:endParaRPr lang="en-US" sz="1400" dirty="0"/>
          </a:p>
        </p:txBody>
      </p:sp>
      <p:sp>
        <p:nvSpPr>
          <p:cNvPr id="10" name="Shape 8"/>
          <p:cNvSpPr/>
          <p:nvPr/>
        </p:nvSpPr>
        <p:spPr>
          <a:xfrm>
            <a:off x="5044928" y="2487168"/>
            <a:ext cx="2101840" cy="731520"/>
          </a:xfrm>
          <a:prstGeom prst="chevron">
            <a:avLst>
              <a:gd name="adj" fmla="val 10000"/>
            </a:avLst>
          </a:prstGeom>
          <a:solidFill>
            <a:srgbClr val="2A5089"/>
          </a:solidFill>
          <a:ln w="12700">
            <a:solidFill>
              <a:srgbClr val="2A5089"/>
            </a:solidFill>
            <a:prstDash val="solid"/>
          </a:ln>
        </p:spPr>
        <p:txBody>
          <a:bodyPr/>
          <a:lstStyle/>
          <a:p>
            <a:endParaRPr lang="en-US"/>
          </a:p>
        </p:txBody>
      </p:sp>
      <p:sp>
        <p:nvSpPr>
          <p:cNvPr id="11" name="Text 9"/>
          <p:cNvSpPr/>
          <p:nvPr/>
        </p:nvSpPr>
        <p:spPr>
          <a:xfrm>
            <a:off x="5319248" y="2487168"/>
            <a:ext cx="1717792"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3,072 numbers</a:t>
            </a:r>
            <a:endParaRPr lang="en-US" sz="1400" dirty="0"/>
          </a:p>
        </p:txBody>
      </p:sp>
      <p:sp>
        <p:nvSpPr>
          <p:cNvPr id="12" name="Shape 10"/>
          <p:cNvSpPr/>
          <p:nvPr/>
        </p:nvSpPr>
        <p:spPr>
          <a:xfrm>
            <a:off x="7238208" y="2487168"/>
            <a:ext cx="2101840" cy="731520"/>
          </a:xfrm>
          <a:prstGeom prst="chevron">
            <a:avLst>
              <a:gd name="adj" fmla="val 10000"/>
            </a:avLst>
          </a:prstGeom>
          <a:solidFill>
            <a:srgbClr val="8C2340"/>
          </a:solidFill>
          <a:ln w="12700">
            <a:solidFill>
              <a:srgbClr val="8C2340"/>
            </a:solidFill>
            <a:prstDash val="solid"/>
          </a:ln>
        </p:spPr>
        <p:txBody>
          <a:bodyPr/>
          <a:lstStyle/>
          <a:p>
            <a:endParaRPr lang="en-US"/>
          </a:p>
        </p:txBody>
      </p:sp>
      <p:sp>
        <p:nvSpPr>
          <p:cNvPr id="13" name="Text 11"/>
          <p:cNvSpPr/>
          <p:nvPr/>
        </p:nvSpPr>
        <p:spPr>
          <a:xfrm>
            <a:off x="7512528" y="2487168"/>
            <a:ext cx="1717792"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Compare to every chunk</a:t>
            </a:r>
            <a:endParaRPr lang="en-US" sz="1400" dirty="0"/>
          </a:p>
        </p:txBody>
      </p:sp>
      <p:sp>
        <p:nvSpPr>
          <p:cNvPr id="14" name="Shape 12"/>
          <p:cNvSpPr/>
          <p:nvPr/>
        </p:nvSpPr>
        <p:spPr>
          <a:xfrm>
            <a:off x="9431487" y="2487168"/>
            <a:ext cx="2101840" cy="731520"/>
          </a:xfrm>
          <a:prstGeom prst="chevron">
            <a:avLst>
              <a:gd name="adj" fmla="val 10000"/>
            </a:avLst>
          </a:prstGeom>
          <a:solidFill>
            <a:srgbClr val="C13A5E"/>
          </a:solidFill>
          <a:ln w="12700">
            <a:solidFill>
              <a:srgbClr val="C13A5E"/>
            </a:solidFill>
            <a:prstDash val="solid"/>
          </a:ln>
        </p:spPr>
        <p:txBody>
          <a:bodyPr/>
          <a:lstStyle/>
          <a:p>
            <a:endParaRPr lang="en-US"/>
          </a:p>
        </p:txBody>
      </p:sp>
      <p:sp>
        <p:nvSpPr>
          <p:cNvPr id="15" name="Text 13"/>
          <p:cNvSpPr/>
          <p:nvPr/>
        </p:nvSpPr>
        <p:spPr>
          <a:xfrm>
            <a:off x="9705807" y="2487168"/>
            <a:ext cx="1717792"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Closest 4</a:t>
            </a:r>
            <a:endParaRPr lang="en-US" sz="1400" dirty="0"/>
          </a:p>
        </p:txBody>
      </p:sp>
      <p:sp>
        <p:nvSpPr>
          <p:cNvPr id="16" name="Shape 14"/>
          <p:cNvSpPr/>
          <p:nvPr/>
        </p:nvSpPr>
        <p:spPr>
          <a:xfrm>
            <a:off x="658368" y="3520440"/>
            <a:ext cx="5254600" cy="1234440"/>
          </a:xfrm>
          <a:prstGeom prst="roundRect">
            <a:avLst>
              <a:gd name="adj" fmla="val 6667"/>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7" name="Text 15"/>
          <p:cNvSpPr/>
          <p:nvPr/>
        </p:nvSpPr>
        <p:spPr>
          <a:xfrm>
            <a:off x="914400" y="3758184"/>
            <a:ext cx="4742536" cy="310896"/>
          </a:xfrm>
          <a:prstGeom prst="rect">
            <a:avLst/>
          </a:prstGeom>
          <a:noFill/>
          <a:ln/>
        </p:spPr>
        <p:txBody>
          <a:bodyPr wrap="square" lIns="0" tIns="0" rIns="0" bIns="0" rtlCol="0" anchor="ctr"/>
          <a:lstStyle/>
          <a:p>
            <a:pPr marL="0" indent="0" algn="l">
              <a:lnSpc>
                <a:spcPct val="102000"/>
              </a:lnSpc>
              <a:buNone/>
            </a:pPr>
            <a:r>
              <a:rPr lang="en-US" sz="1600" b="1" dirty="0">
                <a:solidFill>
                  <a:srgbClr val="5C6B7A"/>
                </a:solidFill>
                <a:latin typeface="Calibri" pitchFamily="34" charset="0"/>
                <a:ea typeface="Calibri" pitchFamily="34" charset="-122"/>
                <a:cs typeface="Calibri" pitchFamily="34" charset="-120"/>
              </a:rPr>
              <a:t>Nothing is searched by words</a:t>
            </a:r>
            <a:endParaRPr lang="en-US" sz="1600" dirty="0"/>
          </a:p>
        </p:txBody>
      </p:sp>
      <p:sp>
        <p:nvSpPr>
          <p:cNvPr id="18" name="Text 16"/>
          <p:cNvSpPr/>
          <p:nvPr/>
        </p:nvSpPr>
        <p:spPr>
          <a:xfrm>
            <a:off x="914400" y="4123944"/>
            <a:ext cx="4742536" cy="42976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Not one keyword is compared. Both sides are numbers before anything is matched.</a:t>
            </a:r>
            <a:endParaRPr lang="en-US" sz="1400" dirty="0"/>
          </a:p>
        </p:txBody>
      </p:sp>
      <p:sp>
        <p:nvSpPr>
          <p:cNvPr id="19" name="Shape 17"/>
          <p:cNvSpPr/>
          <p:nvPr/>
        </p:nvSpPr>
        <p:spPr>
          <a:xfrm>
            <a:off x="6278728" y="3520440"/>
            <a:ext cx="5254600" cy="1234440"/>
          </a:xfrm>
          <a:prstGeom prst="roundRect">
            <a:avLst>
              <a:gd name="adj" fmla="val 6667"/>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20" name="Text 18"/>
          <p:cNvSpPr/>
          <p:nvPr/>
        </p:nvSpPr>
        <p:spPr>
          <a:xfrm>
            <a:off x="6534760" y="3758184"/>
            <a:ext cx="4742536"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B8F62"/>
                </a:solidFill>
                <a:latin typeface="Calibri" pitchFamily="34" charset="0"/>
                <a:ea typeface="Calibri" pitchFamily="34" charset="-122"/>
                <a:cs typeface="Calibri" pitchFamily="34" charset="-120"/>
              </a:rPr>
              <a:t>Which is why this works</a:t>
            </a:r>
            <a:endParaRPr lang="en-US" sz="1600" dirty="0"/>
          </a:p>
        </p:txBody>
      </p:sp>
      <p:sp>
        <p:nvSpPr>
          <p:cNvPr id="21" name="Text 19"/>
          <p:cNvSpPr/>
          <p:nvPr/>
        </p:nvSpPr>
        <p:spPr>
          <a:xfrm>
            <a:off x="6534760" y="4123944"/>
            <a:ext cx="4742536" cy="42976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Neither “score” nor “pass” appears in the sentence about 70%. Meaning matches; characters do not.</a:t>
            </a:r>
            <a:endParaRPr lang="en-US" sz="1400" dirty="0"/>
          </a:p>
        </p:txBody>
      </p:sp>
      <p:sp>
        <p:nvSpPr>
          <p:cNvPr id="22" name="Shape 20"/>
          <p:cNvSpPr/>
          <p:nvPr/>
        </p:nvSpPr>
        <p:spPr>
          <a:xfrm>
            <a:off x="658368" y="4937760"/>
            <a:ext cx="10874959" cy="822960"/>
          </a:xfrm>
          <a:prstGeom prst="roundRect">
            <a:avLst>
              <a:gd name="adj" fmla="val 8889"/>
            </a:avLst>
          </a:prstGeom>
          <a:solidFill>
            <a:srgbClr val="FBEBEE"/>
          </a:solidFill>
          <a:ln w="12700">
            <a:solidFill>
              <a:srgbClr val="FBEBEE"/>
            </a:solidFill>
            <a:prstDash val="solid"/>
          </a:ln>
        </p:spPr>
        <p:txBody>
          <a:bodyPr/>
          <a:lstStyle/>
          <a:p>
            <a:endParaRPr lang="en-US"/>
          </a:p>
        </p:txBody>
      </p:sp>
      <p:sp>
        <p:nvSpPr>
          <p:cNvPr id="23" name="Text 21"/>
          <p:cNvSpPr/>
          <p:nvPr/>
        </p:nvSpPr>
        <p:spPr>
          <a:xfrm>
            <a:off x="932688" y="5084064"/>
            <a:ext cx="10326319" cy="219456"/>
          </a:xfrm>
          <a:prstGeom prst="rect">
            <a:avLst/>
          </a:prstGeom>
          <a:noFill/>
          <a:ln/>
        </p:spPr>
        <p:txBody>
          <a:bodyPr wrap="square" lIns="0" tIns="0" rIns="0" bIns="0" rtlCol="0" anchor="ctr"/>
          <a:lstStyle/>
          <a:p>
            <a:pPr marL="0" indent="0" algn="l">
              <a:buNone/>
            </a:pPr>
            <a:r>
              <a:rPr lang="en-US" sz="1050" b="1" kern="0" spc="160" dirty="0">
                <a:solidFill>
                  <a:srgbClr val="B32E4C"/>
                </a:solidFill>
                <a:latin typeface="Calibri" pitchFamily="34" charset="0"/>
                <a:ea typeface="Calibri" pitchFamily="34" charset="-122"/>
                <a:cs typeface="Calibri" pitchFamily="34" charset="-120"/>
              </a:rPr>
              <a:t>CONSEQUENCE</a:t>
            </a:r>
            <a:endParaRPr lang="en-US" sz="1050" dirty="0"/>
          </a:p>
        </p:txBody>
      </p:sp>
      <p:sp>
        <p:nvSpPr>
          <p:cNvPr id="24" name="Text 22"/>
          <p:cNvSpPr/>
          <p:nvPr/>
        </p:nvSpPr>
        <p:spPr>
          <a:xfrm>
            <a:off x="932688" y="5340096"/>
            <a:ext cx="10326319" cy="2560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The question and the documents must go through the same embedding model. A position on one model's map means nothing on another's.</a:t>
            </a:r>
            <a:endParaRPr lang="en-US" sz="1400" dirty="0"/>
          </a:p>
        </p:txBody>
      </p:sp>
      <p:sp>
        <p:nvSpPr>
          <p:cNvPr id="25" name="Text 2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26" name="Text 24"/>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ONE SETTING, ONE TRADE-OFF</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Top K — how many chunks come back</a:t>
            </a:r>
            <a:endParaRPr lang="en-US" sz="3000" dirty="0"/>
          </a:p>
        </p:txBody>
      </p:sp>
      <p:sp>
        <p:nvSpPr>
          <p:cNvPr id="4" name="Shape 2"/>
          <p:cNvSpPr/>
          <p:nvPr/>
        </p:nvSpPr>
        <p:spPr>
          <a:xfrm>
            <a:off x="658368" y="1645920"/>
            <a:ext cx="10874959" cy="707136"/>
          </a:xfrm>
          <a:prstGeom prst="roundRect">
            <a:avLst>
              <a:gd name="adj" fmla="val 9052"/>
            </a:avLst>
          </a:prstGeom>
          <a:solidFill>
            <a:srgbClr val="FBEBEE"/>
          </a:solidFill>
          <a:ln w="12700">
            <a:solidFill>
              <a:srgbClr val="FBEBEE"/>
            </a:solidFill>
            <a:prstDash val="solid"/>
          </a:ln>
        </p:spPr>
        <p:txBody>
          <a:bodyPr/>
          <a:lstStyle/>
          <a:p>
            <a:endParaRPr lang="en-US"/>
          </a:p>
        </p:txBody>
      </p:sp>
      <p:sp>
        <p:nvSpPr>
          <p:cNvPr id="5" name="Text 3"/>
          <p:cNvSpPr/>
          <p:nvPr/>
        </p:nvSpPr>
        <p:spPr>
          <a:xfrm>
            <a:off x="896112" y="1645920"/>
            <a:ext cx="10399471" cy="707136"/>
          </a:xfrm>
          <a:prstGeom prst="rect">
            <a:avLst/>
          </a:prstGeom>
          <a:noFill/>
          <a:ln/>
        </p:spPr>
        <p:txBody>
          <a:bodyPr wrap="square" lIns="0" tIns="0" rIns="0" bIns="0" rtlCol="0" anchor="ctr"/>
          <a:lstStyle/>
          <a:p>
            <a:pPr marL="0" indent="0" algn="l">
              <a:lnSpc>
                <a:spcPct val="108000"/>
              </a:lnSpc>
              <a:buNone/>
            </a:pPr>
            <a:r>
              <a:rPr lang="en-US" sz="1450" b="1" dirty="0">
                <a:solidFill>
                  <a:srgbClr val="B32E4C"/>
                </a:solidFill>
                <a:latin typeface="Calibri" pitchFamily="34" charset="0"/>
                <a:ea typeface="Calibri" pitchFamily="34" charset="-122"/>
                <a:cs typeface="Calibri" pitchFamily="34" charset="-120"/>
              </a:rPr>
              <a:t>Top K = 1</a:t>
            </a:r>
            <a:r>
              <a:rPr lang="en-US" sz="1450" dirty="0">
                <a:solidFill>
                  <a:srgbClr val="5C6B7A"/>
                </a:solidFill>
                <a:latin typeface="Calibri" pitchFamily="34" charset="0"/>
                <a:ea typeface="Calibri" pitchFamily="34" charset="-122"/>
                <a:cs typeface="Calibri" pitchFamily="34" charset="-120"/>
              </a:rPr>
              <a:t>   only the closest chunk · an answer spread across two chunks is lost</a:t>
            </a:r>
            <a:endParaRPr lang="en-US" sz="1450" dirty="0"/>
          </a:p>
        </p:txBody>
      </p:sp>
      <p:sp>
        <p:nvSpPr>
          <p:cNvPr id="6" name="Shape 4"/>
          <p:cNvSpPr/>
          <p:nvPr/>
        </p:nvSpPr>
        <p:spPr>
          <a:xfrm>
            <a:off x="658368" y="2481072"/>
            <a:ext cx="10874959" cy="707136"/>
          </a:xfrm>
          <a:prstGeom prst="roundRect">
            <a:avLst>
              <a:gd name="adj" fmla="val 9052"/>
            </a:avLst>
          </a:prstGeom>
          <a:solidFill>
            <a:srgbClr val="E7F5EE"/>
          </a:solidFill>
          <a:ln w="12700">
            <a:solidFill>
              <a:srgbClr val="E7F5EE"/>
            </a:solidFill>
            <a:prstDash val="solid"/>
          </a:ln>
        </p:spPr>
        <p:txBody>
          <a:bodyPr/>
          <a:lstStyle/>
          <a:p>
            <a:endParaRPr lang="en-US"/>
          </a:p>
        </p:txBody>
      </p:sp>
      <p:sp>
        <p:nvSpPr>
          <p:cNvPr id="7" name="Text 5"/>
          <p:cNvSpPr/>
          <p:nvPr/>
        </p:nvSpPr>
        <p:spPr>
          <a:xfrm>
            <a:off x="896112" y="2481072"/>
            <a:ext cx="10399471" cy="707136"/>
          </a:xfrm>
          <a:prstGeom prst="rect">
            <a:avLst/>
          </a:prstGeom>
          <a:noFill/>
          <a:ln/>
        </p:spPr>
        <p:txBody>
          <a:bodyPr wrap="square" lIns="0" tIns="0" rIns="0" bIns="0" rtlCol="0" anchor="ctr"/>
          <a:lstStyle/>
          <a:p>
            <a:pPr marL="0" indent="0" algn="l">
              <a:lnSpc>
                <a:spcPct val="108000"/>
              </a:lnSpc>
              <a:buNone/>
            </a:pPr>
            <a:r>
              <a:rPr lang="en-US" sz="1450" b="1" dirty="0">
                <a:solidFill>
                  <a:srgbClr val="1B8F62"/>
                </a:solidFill>
                <a:latin typeface="Calibri" pitchFamily="34" charset="0"/>
                <a:ea typeface="Calibri" pitchFamily="34" charset="-122"/>
                <a:cs typeface="Calibri" pitchFamily="34" charset="-120"/>
              </a:rPr>
              <a:t>Top K = 4  (ours)</a:t>
            </a:r>
            <a:r>
              <a:rPr lang="en-US" sz="1450" dirty="0">
                <a:solidFill>
                  <a:srgbClr val="5C6B7A"/>
                </a:solidFill>
                <a:latin typeface="Calibri" pitchFamily="34" charset="0"/>
                <a:ea typeface="Calibri" pitchFamily="34" charset="-122"/>
                <a:cs typeface="Calibri" pitchFamily="34" charset="-120"/>
              </a:rPr>
              <a:t>   enough context, little noise · sensible for a short document</a:t>
            </a:r>
            <a:endParaRPr lang="en-US" sz="1450" dirty="0"/>
          </a:p>
        </p:txBody>
      </p:sp>
      <p:sp>
        <p:nvSpPr>
          <p:cNvPr id="8" name="Shape 6"/>
          <p:cNvSpPr/>
          <p:nvPr/>
        </p:nvSpPr>
        <p:spPr>
          <a:xfrm>
            <a:off x="658368" y="3316224"/>
            <a:ext cx="10874959" cy="707136"/>
          </a:xfrm>
          <a:prstGeom prst="roundRect">
            <a:avLst>
              <a:gd name="adj" fmla="val 9052"/>
            </a:avLst>
          </a:prstGeom>
          <a:solidFill>
            <a:srgbClr val="FCF2E4"/>
          </a:solidFill>
          <a:ln w="12700">
            <a:solidFill>
              <a:srgbClr val="FCF2E4"/>
            </a:solidFill>
            <a:prstDash val="solid"/>
          </a:ln>
        </p:spPr>
        <p:txBody>
          <a:bodyPr/>
          <a:lstStyle/>
          <a:p>
            <a:endParaRPr lang="en-US"/>
          </a:p>
        </p:txBody>
      </p:sp>
      <p:sp>
        <p:nvSpPr>
          <p:cNvPr id="9" name="Text 7"/>
          <p:cNvSpPr/>
          <p:nvPr/>
        </p:nvSpPr>
        <p:spPr>
          <a:xfrm>
            <a:off x="896112" y="3316224"/>
            <a:ext cx="10399471" cy="707136"/>
          </a:xfrm>
          <a:prstGeom prst="rect">
            <a:avLst/>
          </a:prstGeom>
          <a:noFill/>
          <a:ln/>
        </p:spPr>
        <p:txBody>
          <a:bodyPr wrap="square" lIns="0" tIns="0" rIns="0" bIns="0" rtlCol="0" anchor="ctr"/>
          <a:lstStyle/>
          <a:p>
            <a:pPr marL="0" indent="0" algn="l">
              <a:lnSpc>
                <a:spcPct val="108000"/>
              </a:lnSpc>
              <a:buNone/>
            </a:pPr>
            <a:r>
              <a:rPr lang="en-US" sz="1450" b="1" dirty="0">
                <a:solidFill>
                  <a:srgbClr val="A85F12"/>
                </a:solidFill>
                <a:latin typeface="Calibri" pitchFamily="34" charset="0"/>
                <a:ea typeface="Calibri" pitchFamily="34" charset="-122"/>
                <a:cs typeface="Calibri" pitchFamily="34" charset="-120"/>
              </a:rPr>
              <a:t>Top K = 25</a:t>
            </a:r>
            <a:r>
              <a:rPr lang="en-US" sz="1450" dirty="0">
                <a:solidFill>
                  <a:srgbClr val="5C6B7A"/>
                </a:solidFill>
                <a:latin typeface="Calibri" pitchFamily="34" charset="0"/>
                <a:ea typeface="Calibri" pitchFamily="34" charset="-122"/>
                <a:cs typeface="Calibri" pitchFamily="34" charset="-120"/>
              </a:rPr>
              <a:t>   the useful sentence is buried · vaguer answers, higher cost</a:t>
            </a:r>
            <a:endParaRPr lang="en-US" sz="1450" dirty="0"/>
          </a:p>
        </p:txBody>
      </p:sp>
      <p:sp>
        <p:nvSpPr>
          <p:cNvPr id="10" name="Shape 8"/>
          <p:cNvSpPr/>
          <p:nvPr/>
        </p:nvSpPr>
        <p:spPr>
          <a:xfrm>
            <a:off x="658368" y="4343400"/>
            <a:ext cx="10874959" cy="1417320"/>
          </a:xfrm>
          <a:prstGeom prst="roundRect">
            <a:avLst>
              <a:gd name="adj" fmla="val 5161"/>
            </a:avLst>
          </a:prstGeom>
          <a:solidFill>
            <a:srgbClr val="E4EBF3"/>
          </a:solidFill>
          <a:ln w="12700">
            <a:solidFill>
              <a:srgbClr val="E4EBF3"/>
            </a:solidFill>
            <a:prstDash val="solid"/>
          </a:ln>
        </p:spPr>
        <p:txBody>
          <a:bodyPr/>
          <a:lstStyle/>
          <a:p>
            <a:endParaRPr lang="en-US"/>
          </a:p>
        </p:txBody>
      </p:sp>
      <p:sp>
        <p:nvSpPr>
          <p:cNvPr id="11" name="Text 9"/>
          <p:cNvSpPr/>
          <p:nvPr/>
        </p:nvSpPr>
        <p:spPr>
          <a:xfrm>
            <a:off x="932688" y="448970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NOT A QUALITY DIAL</a:t>
            </a:r>
            <a:endParaRPr lang="en-US" sz="1050" dirty="0"/>
          </a:p>
        </p:txBody>
      </p:sp>
      <p:sp>
        <p:nvSpPr>
          <p:cNvPr id="12" name="Text 10"/>
          <p:cNvSpPr/>
          <p:nvPr/>
        </p:nvSpPr>
        <p:spPr>
          <a:xfrm>
            <a:off x="932688" y="4745736"/>
            <a:ext cx="10326319" cy="85039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Turning Top K up does not make answers better. It trades recall against noise, and the right value depends on how long your chunks are and how scattered the answer is. Students will test both extremes in the homework.</a:t>
            </a:r>
            <a:endParaRPr lang="en-US" sz="1500" dirty="0"/>
          </a:p>
        </p:txBody>
      </p:sp>
      <p:sp>
        <p:nvSpPr>
          <p:cNvPr id="13" name="Text 11"/>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4" name="Text 12"/>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CLASSIC CONFUSION</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Memory is not the knowledge base</a:t>
            </a:r>
            <a:endParaRPr lang="en-US" sz="3000" dirty="0"/>
          </a:p>
        </p:txBody>
      </p:sp>
      <p:sp>
        <p:nvSpPr>
          <p:cNvPr id="4" name="Shape 2"/>
          <p:cNvSpPr/>
          <p:nvPr/>
        </p:nvSpPr>
        <p:spPr>
          <a:xfrm>
            <a:off x="658368" y="1645920"/>
            <a:ext cx="5254600" cy="2651760"/>
          </a:xfrm>
          <a:prstGeom prst="roundRect">
            <a:avLst>
              <a:gd name="adj" fmla="val 3103"/>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2A6FB5"/>
                </a:solidFill>
                <a:latin typeface="Calibri" pitchFamily="34" charset="0"/>
                <a:ea typeface="Calibri" pitchFamily="34" charset="-122"/>
                <a:cs typeface="Calibri" pitchFamily="34" charset="-120"/>
              </a:rPr>
              <a:t>Window Buffer Memory</a:t>
            </a:r>
            <a:endParaRPr lang="en-US" sz="1900" dirty="0"/>
          </a:p>
        </p:txBody>
      </p:sp>
      <p:sp>
        <p:nvSpPr>
          <p:cNvPr id="6" name="Text 4"/>
          <p:cNvSpPr/>
          <p:nvPr/>
        </p:nvSpPr>
        <p:spPr>
          <a:xfrm>
            <a:off x="914400" y="2249424"/>
            <a:ext cx="4742536" cy="1847088"/>
          </a:xfrm>
          <a:prstGeom prst="rect">
            <a:avLst/>
          </a:prstGeom>
          <a:noFill/>
          <a:ln/>
        </p:spPr>
        <p:txBody>
          <a:bodyPr wrap="square" lIns="0" tIns="0" rIns="0" bIns="0" rtlCol="0" anchor="t"/>
          <a:lstStyle/>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Holds the last 8 conversation turns.</a:t>
            </a: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Scope: one chat session.</a:t>
            </a: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Lost when the session ends.</a:t>
            </a:r>
            <a:endParaRPr lang="en-US" sz="1450" dirty="0"/>
          </a:p>
          <a:p>
            <a:pPr marL="0" indent="0" algn="l">
              <a:lnSpc>
                <a:spcPct val="112000"/>
              </a:lnSpc>
              <a:buNone/>
            </a:pP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Answers: “What did I just ask you?”</a:t>
            </a:r>
            <a:endParaRPr lang="en-US" sz="1450" dirty="0"/>
          </a:p>
        </p:txBody>
      </p:sp>
      <p:sp>
        <p:nvSpPr>
          <p:cNvPr id="7" name="Shape 5"/>
          <p:cNvSpPr/>
          <p:nvPr/>
        </p:nvSpPr>
        <p:spPr>
          <a:xfrm>
            <a:off x="6278728" y="1645920"/>
            <a:ext cx="5254600" cy="2651760"/>
          </a:xfrm>
          <a:prstGeom prst="roundRect">
            <a:avLst>
              <a:gd name="adj" fmla="val 3103"/>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8" name="Text 6"/>
          <p:cNvSpPr/>
          <p:nvPr/>
        </p:nvSpPr>
        <p:spPr>
          <a:xfrm>
            <a:off x="653476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1B8F62"/>
                </a:solidFill>
                <a:latin typeface="Calibri" pitchFamily="34" charset="0"/>
                <a:ea typeface="Calibri" pitchFamily="34" charset="-122"/>
                <a:cs typeface="Calibri" pitchFamily="34" charset="-120"/>
              </a:rPr>
              <a:t>Simple Vector Store</a:t>
            </a:r>
            <a:endParaRPr lang="en-US" sz="1900" dirty="0"/>
          </a:p>
        </p:txBody>
      </p:sp>
      <p:sp>
        <p:nvSpPr>
          <p:cNvPr id="9" name="Text 7"/>
          <p:cNvSpPr/>
          <p:nvPr/>
        </p:nvSpPr>
        <p:spPr>
          <a:xfrm>
            <a:off x="6534760" y="2249424"/>
            <a:ext cx="4742536" cy="1847088"/>
          </a:xfrm>
          <a:prstGeom prst="rect">
            <a:avLst/>
          </a:prstGeom>
          <a:noFill/>
          <a:ln/>
        </p:spPr>
        <p:txBody>
          <a:bodyPr wrap="square" lIns="0" tIns="0" rIns="0" bIns="0" rtlCol="0" anchor="t"/>
          <a:lstStyle/>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Holds your indexed document chunks.</a:t>
            </a: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Scope: the whole n8n instance.</a:t>
            </a: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Lost when n8n restarts.</a:t>
            </a:r>
            <a:endParaRPr lang="en-US" sz="1450" dirty="0"/>
          </a:p>
          <a:p>
            <a:pPr marL="0" indent="0" algn="l">
              <a:lnSpc>
                <a:spcPct val="112000"/>
              </a:lnSpc>
              <a:buNone/>
            </a:pPr>
            <a:endParaRPr lang="en-US" sz="1450" dirty="0"/>
          </a:p>
          <a:p>
            <a:pPr marL="0" indent="0" algn="l">
              <a:lnSpc>
                <a:spcPct val="112000"/>
              </a:lnSpc>
              <a:buNone/>
            </a:pPr>
            <a:r>
              <a:rPr lang="en-US" sz="1450" dirty="0">
                <a:solidFill>
                  <a:srgbClr val="1D2530"/>
                </a:solidFill>
                <a:latin typeface="Calibri" pitchFamily="34" charset="0"/>
                <a:ea typeface="Calibri" pitchFamily="34" charset="-122"/>
                <a:cs typeface="Calibri" pitchFamily="34" charset="-120"/>
              </a:rPr>
              <a:t>Answers: “What score do I need to pass?”</a:t>
            </a:r>
            <a:endParaRPr lang="en-US" sz="1450" dirty="0"/>
          </a:p>
        </p:txBody>
      </p:sp>
      <p:sp>
        <p:nvSpPr>
          <p:cNvPr id="10" name="Shape 8"/>
          <p:cNvSpPr/>
          <p:nvPr/>
        </p:nvSpPr>
        <p:spPr>
          <a:xfrm>
            <a:off x="658368" y="4526280"/>
            <a:ext cx="10874959" cy="1234440"/>
          </a:xfrm>
          <a:prstGeom prst="roundRect">
            <a:avLst>
              <a:gd name="adj" fmla="val 5926"/>
            </a:avLst>
          </a:prstGeom>
          <a:solidFill>
            <a:srgbClr val="E4EBF3"/>
          </a:solidFill>
          <a:ln w="12700">
            <a:solidFill>
              <a:srgbClr val="E4EBF3"/>
            </a:solidFill>
            <a:prstDash val="solid"/>
          </a:ln>
        </p:spPr>
        <p:txBody>
          <a:bodyPr/>
          <a:lstStyle/>
          <a:p>
            <a:endParaRPr lang="en-US"/>
          </a:p>
        </p:txBody>
      </p:sp>
      <p:sp>
        <p:nvSpPr>
          <p:cNvPr id="11" name="Text 9"/>
          <p:cNvSpPr/>
          <p:nvPr/>
        </p:nvSpPr>
        <p:spPr>
          <a:xfrm>
            <a:off x="932688" y="467258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A TEST YOU CAN RUN IN THE LAB</a:t>
            </a:r>
            <a:endParaRPr lang="en-US" sz="1050" dirty="0"/>
          </a:p>
        </p:txBody>
      </p:sp>
      <p:sp>
        <p:nvSpPr>
          <p:cNvPr id="12" name="Text 10"/>
          <p:cNvSpPr/>
          <p:nvPr/>
        </p:nvSpPr>
        <p:spPr>
          <a:xfrm>
            <a:off x="932688" y="4928616"/>
            <a:ext cx="10326319" cy="66751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Ask a document question, then ask “what did I just ask you?”. Open the execution log: the second question never called the retrieval tool. Two kinds of remembering, visibly doing different jobs.</a:t>
            </a:r>
            <a:endParaRPr lang="en-US" sz="1500" dirty="0"/>
          </a:p>
        </p:txBody>
      </p:sp>
      <p:sp>
        <p:nvSpPr>
          <p:cNvPr id="13" name="Text 11"/>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4" name="Text 12"/>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WHY A TOOL AND NOT A STEP</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The agent decides; it does not always search</a:t>
            </a:r>
            <a:endParaRPr lang="en-US" sz="3000" dirty="0"/>
          </a:p>
        </p:txBody>
      </p:sp>
      <p:sp>
        <p:nvSpPr>
          <p:cNvPr id="4" name="Shape 2"/>
          <p:cNvSpPr/>
          <p:nvPr/>
        </p:nvSpPr>
        <p:spPr>
          <a:xfrm>
            <a:off x="658368" y="1645920"/>
            <a:ext cx="10874959" cy="546354"/>
          </a:xfrm>
          <a:prstGeom prst="roundRect">
            <a:avLst>
              <a:gd name="adj" fmla="val 11715"/>
            </a:avLst>
          </a:prstGeom>
          <a:solidFill>
            <a:srgbClr val="F2F5F9"/>
          </a:solidFill>
          <a:ln w="12700">
            <a:solidFill>
              <a:srgbClr val="F2F5F9"/>
            </a:solidFill>
            <a:prstDash val="solid"/>
          </a:ln>
        </p:spPr>
        <p:txBody>
          <a:bodyPr/>
          <a:lstStyle/>
          <a:p>
            <a:endParaRPr lang="en-US"/>
          </a:p>
        </p:txBody>
      </p:sp>
      <p:sp>
        <p:nvSpPr>
          <p:cNvPr id="5" name="Text 3"/>
          <p:cNvSpPr/>
          <p:nvPr/>
        </p:nvSpPr>
        <p:spPr>
          <a:xfrm>
            <a:off x="896112" y="1645920"/>
            <a:ext cx="10399471" cy="546354"/>
          </a:xfrm>
          <a:prstGeom prst="rect">
            <a:avLst/>
          </a:prstGeom>
          <a:noFill/>
          <a:ln/>
        </p:spPr>
        <p:txBody>
          <a:bodyPr wrap="square" lIns="0" tIns="0" rIns="0" bIns="0" rtlCol="0" anchor="ctr"/>
          <a:lstStyle/>
          <a:p>
            <a:pPr marL="0" indent="0" algn="l">
              <a:lnSpc>
                <a:spcPct val="108000"/>
              </a:lnSpc>
              <a:buNone/>
            </a:pPr>
            <a:r>
              <a:rPr lang="en-US" sz="1400" b="1" dirty="0">
                <a:solidFill>
                  <a:srgbClr val="5C6B7A"/>
                </a:solidFill>
                <a:latin typeface="Calibri" pitchFamily="34" charset="0"/>
                <a:ea typeface="Calibri" pitchFamily="34" charset="-122"/>
                <a:cs typeface="Calibri" pitchFamily="34" charset="-120"/>
              </a:rPr>
              <a:t>“Hello”</a:t>
            </a:r>
            <a:r>
              <a:rPr lang="en-US" sz="1400" dirty="0">
                <a:solidFill>
                  <a:srgbClr val="5C6B7A"/>
                </a:solidFill>
                <a:latin typeface="Calibri" pitchFamily="34" charset="0"/>
                <a:ea typeface="Calibri" pitchFamily="34" charset="-122"/>
                <a:cs typeface="Calibri" pitchFamily="34" charset="-120"/>
              </a:rPr>
              <a:t>   ordinary conversation → no tool called</a:t>
            </a:r>
            <a:endParaRPr lang="en-US" sz="1400" dirty="0"/>
          </a:p>
        </p:txBody>
      </p:sp>
      <p:sp>
        <p:nvSpPr>
          <p:cNvPr id="6" name="Shape 4"/>
          <p:cNvSpPr/>
          <p:nvPr/>
        </p:nvSpPr>
        <p:spPr>
          <a:xfrm>
            <a:off x="658368" y="2302002"/>
            <a:ext cx="10874959" cy="546354"/>
          </a:xfrm>
          <a:prstGeom prst="roundRect">
            <a:avLst>
              <a:gd name="adj" fmla="val 11715"/>
            </a:avLst>
          </a:prstGeom>
          <a:solidFill>
            <a:srgbClr val="F2F5F9"/>
          </a:solidFill>
          <a:ln w="12700">
            <a:solidFill>
              <a:srgbClr val="F2F5F9"/>
            </a:solidFill>
            <a:prstDash val="solid"/>
          </a:ln>
        </p:spPr>
        <p:txBody>
          <a:bodyPr/>
          <a:lstStyle/>
          <a:p>
            <a:endParaRPr lang="en-US"/>
          </a:p>
        </p:txBody>
      </p:sp>
      <p:sp>
        <p:nvSpPr>
          <p:cNvPr id="7" name="Text 5"/>
          <p:cNvSpPr/>
          <p:nvPr/>
        </p:nvSpPr>
        <p:spPr>
          <a:xfrm>
            <a:off x="896112" y="2302002"/>
            <a:ext cx="10399471" cy="546354"/>
          </a:xfrm>
          <a:prstGeom prst="rect">
            <a:avLst/>
          </a:prstGeom>
          <a:noFill/>
          <a:ln/>
        </p:spPr>
        <p:txBody>
          <a:bodyPr wrap="square" lIns="0" tIns="0" rIns="0" bIns="0" rtlCol="0" anchor="ctr"/>
          <a:lstStyle/>
          <a:p>
            <a:pPr marL="0" indent="0" algn="l">
              <a:lnSpc>
                <a:spcPct val="108000"/>
              </a:lnSpc>
              <a:buNone/>
            </a:pPr>
            <a:r>
              <a:rPr lang="en-US" sz="1400" b="1" dirty="0">
                <a:solidFill>
                  <a:srgbClr val="1B8F62"/>
                </a:solidFill>
                <a:latin typeface="Calibri" pitchFamily="34" charset="0"/>
                <a:ea typeface="Calibri" pitchFamily="34" charset="-122"/>
                <a:cs typeface="Calibri" pitchFamily="34" charset="-120"/>
              </a:rPr>
              <a:t>“What score do I need to pass?”</a:t>
            </a:r>
            <a:r>
              <a:rPr lang="en-US" sz="1400" dirty="0">
                <a:solidFill>
                  <a:srgbClr val="5C6B7A"/>
                </a:solidFill>
                <a:latin typeface="Calibri" pitchFamily="34" charset="0"/>
                <a:ea typeface="Calibri" pitchFamily="34" charset="-122"/>
                <a:cs typeface="Calibri" pitchFamily="34" charset="-120"/>
              </a:rPr>
              <a:t>   about the documents → calls user_documents</a:t>
            </a:r>
            <a:endParaRPr lang="en-US" sz="1400" dirty="0"/>
          </a:p>
        </p:txBody>
      </p:sp>
      <p:sp>
        <p:nvSpPr>
          <p:cNvPr id="8" name="Shape 6"/>
          <p:cNvSpPr/>
          <p:nvPr/>
        </p:nvSpPr>
        <p:spPr>
          <a:xfrm>
            <a:off x="658368" y="2958084"/>
            <a:ext cx="10874959" cy="546354"/>
          </a:xfrm>
          <a:prstGeom prst="roundRect">
            <a:avLst>
              <a:gd name="adj" fmla="val 11715"/>
            </a:avLst>
          </a:prstGeom>
          <a:solidFill>
            <a:srgbClr val="F2F5F9"/>
          </a:solidFill>
          <a:ln w="12700">
            <a:solidFill>
              <a:srgbClr val="F2F5F9"/>
            </a:solidFill>
            <a:prstDash val="solid"/>
          </a:ln>
        </p:spPr>
        <p:txBody>
          <a:bodyPr/>
          <a:lstStyle/>
          <a:p>
            <a:endParaRPr lang="en-US"/>
          </a:p>
        </p:txBody>
      </p:sp>
      <p:sp>
        <p:nvSpPr>
          <p:cNvPr id="9" name="Text 7"/>
          <p:cNvSpPr/>
          <p:nvPr/>
        </p:nvSpPr>
        <p:spPr>
          <a:xfrm>
            <a:off x="896112" y="2958084"/>
            <a:ext cx="10399471" cy="546354"/>
          </a:xfrm>
          <a:prstGeom prst="rect">
            <a:avLst/>
          </a:prstGeom>
          <a:noFill/>
          <a:ln/>
        </p:spPr>
        <p:txBody>
          <a:bodyPr wrap="square" lIns="0" tIns="0" rIns="0" bIns="0" rtlCol="0" anchor="ctr"/>
          <a:lstStyle/>
          <a:p>
            <a:pPr marL="0" indent="0" algn="l">
              <a:lnSpc>
                <a:spcPct val="108000"/>
              </a:lnSpc>
              <a:buNone/>
            </a:pPr>
            <a:r>
              <a:rPr lang="en-US" sz="1400" b="1" dirty="0">
                <a:solidFill>
                  <a:srgbClr val="2A6FB5"/>
                </a:solidFill>
                <a:latin typeface="Calibri" pitchFamily="34" charset="0"/>
                <a:ea typeface="Calibri" pitchFamily="34" charset="-122"/>
                <a:cs typeface="Calibri" pitchFamily="34" charset="-120"/>
              </a:rPr>
              <a:t>“What did I just ask?”</a:t>
            </a:r>
            <a:r>
              <a:rPr lang="en-US" sz="1400" dirty="0">
                <a:solidFill>
                  <a:srgbClr val="5C6B7A"/>
                </a:solidFill>
                <a:latin typeface="Calibri" pitchFamily="34" charset="0"/>
                <a:ea typeface="Calibri" pitchFamily="34" charset="-122"/>
                <a:cs typeface="Calibri" pitchFamily="34" charset="-120"/>
              </a:rPr>
              <a:t>   answered from memory → no tool called</a:t>
            </a:r>
            <a:endParaRPr lang="en-US" sz="1400" dirty="0"/>
          </a:p>
        </p:txBody>
      </p:sp>
      <p:sp>
        <p:nvSpPr>
          <p:cNvPr id="10" name="Shape 8"/>
          <p:cNvSpPr/>
          <p:nvPr/>
        </p:nvSpPr>
        <p:spPr>
          <a:xfrm>
            <a:off x="658368" y="3614166"/>
            <a:ext cx="10874959" cy="546354"/>
          </a:xfrm>
          <a:prstGeom prst="roundRect">
            <a:avLst>
              <a:gd name="adj" fmla="val 11715"/>
            </a:avLst>
          </a:prstGeom>
          <a:solidFill>
            <a:srgbClr val="F2F5F9"/>
          </a:solidFill>
          <a:ln w="12700">
            <a:solidFill>
              <a:srgbClr val="F2F5F9"/>
            </a:solidFill>
            <a:prstDash val="solid"/>
          </a:ln>
        </p:spPr>
        <p:txBody>
          <a:bodyPr/>
          <a:lstStyle/>
          <a:p>
            <a:endParaRPr lang="en-US"/>
          </a:p>
        </p:txBody>
      </p:sp>
      <p:sp>
        <p:nvSpPr>
          <p:cNvPr id="11" name="Text 9"/>
          <p:cNvSpPr/>
          <p:nvPr/>
        </p:nvSpPr>
        <p:spPr>
          <a:xfrm>
            <a:off x="896112" y="3614166"/>
            <a:ext cx="10399471" cy="546354"/>
          </a:xfrm>
          <a:prstGeom prst="rect">
            <a:avLst/>
          </a:prstGeom>
          <a:noFill/>
          <a:ln/>
        </p:spPr>
        <p:txBody>
          <a:bodyPr wrap="square" lIns="0" tIns="0" rIns="0" bIns="0" rtlCol="0" anchor="ctr"/>
          <a:lstStyle/>
          <a:p>
            <a:pPr marL="0" indent="0" algn="l">
              <a:lnSpc>
                <a:spcPct val="108000"/>
              </a:lnSpc>
              <a:buNone/>
            </a:pPr>
            <a:r>
              <a:rPr lang="en-US" sz="1400" b="1" dirty="0">
                <a:solidFill>
                  <a:srgbClr val="A85F12"/>
                </a:solidFill>
                <a:latin typeface="Calibri" pitchFamily="34" charset="0"/>
                <a:ea typeface="Calibri" pitchFamily="34" charset="-122"/>
                <a:cs typeface="Calibri" pitchFamily="34" charset="-120"/>
              </a:rPr>
              <a:t>“Add my thesis to the knowledge base”</a:t>
            </a:r>
            <a:r>
              <a:rPr lang="en-US" sz="1400" dirty="0">
                <a:solidFill>
                  <a:srgbClr val="5C6B7A"/>
                </a:solidFill>
                <a:latin typeface="Calibri" pitchFamily="34" charset="0"/>
                <a:ea typeface="Calibri" pitchFamily="34" charset="-122"/>
                <a:cs typeface="Calibri" pitchFamily="34" charset="-120"/>
              </a:rPr>
              <a:t>   an indexing request → calls add_google_drive_file</a:t>
            </a:r>
            <a:endParaRPr lang="en-US" sz="1400" dirty="0"/>
          </a:p>
        </p:txBody>
      </p:sp>
      <p:sp>
        <p:nvSpPr>
          <p:cNvPr id="12" name="Shape 10"/>
          <p:cNvSpPr/>
          <p:nvPr/>
        </p:nvSpPr>
        <p:spPr>
          <a:xfrm>
            <a:off x="658368" y="4480560"/>
            <a:ext cx="10874959" cy="1280160"/>
          </a:xfrm>
          <a:prstGeom prst="roundRect">
            <a:avLst>
              <a:gd name="adj" fmla="val 5714"/>
            </a:avLst>
          </a:prstGeom>
          <a:solidFill>
            <a:srgbClr val="EAF1FA"/>
          </a:solidFill>
          <a:ln w="12700">
            <a:solidFill>
              <a:srgbClr val="EAF1FA"/>
            </a:solidFill>
            <a:prstDash val="solid"/>
          </a:ln>
        </p:spPr>
        <p:txBody>
          <a:bodyPr/>
          <a:lstStyle/>
          <a:p>
            <a:endParaRPr lang="en-US"/>
          </a:p>
        </p:txBody>
      </p:sp>
      <p:sp>
        <p:nvSpPr>
          <p:cNvPr id="13" name="Text 11"/>
          <p:cNvSpPr/>
          <p:nvPr/>
        </p:nvSpPr>
        <p:spPr>
          <a:xfrm>
            <a:off x="932688" y="4626864"/>
            <a:ext cx="10326319" cy="219456"/>
          </a:xfrm>
          <a:prstGeom prst="rect">
            <a:avLst/>
          </a:prstGeom>
          <a:noFill/>
          <a:ln/>
        </p:spPr>
        <p:txBody>
          <a:bodyPr wrap="square" lIns="0" tIns="0" rIns="0" bIns="0" rtlCol="0" anchor="ctr"/>
          <a:lstStyle/>
          <a:p>
            <a:pPr marL="0" indent="0" algn="l">
              <a:buNone/>
            </a:pPr>
            <a:r>
              <a:rPr lang="en-US" sz="1050" b="1" kern="0" spc="160" dirty="0">
                <a:solidFill>
                  <a:srgbClr val="2A6FB5"/>
                </a:solidFill>
                <a:latin typeface="Calibri" pitchFamily="34" charset="0"/>
                <a:ea typeface="Calibri" pitchFamily="34" charset="-122"/>
                <a:cs typeface="Calibri" pitchFamily="34" charset="-120"/>
              </a:rPr>
              <a:t>THREE COMPONENTS, THREE JOBS</a:t>
            </a:r>
            <a:endParaRPr lang="en-US" sz="1050" dirty="0"/>
          </a:p>
        </p:txBody>
      </p:sp>
      <p:sp>
        <p:nvSpPr>
          <p:cNvPr id="14" name="Text 12"/>
          <p:cNvSpPr/>
          <p:nvPr/>
        </p:nvSpPr>
        <p:spPr>
          <a:xfrm>
            <a:off x="932688" y="4882896"/>
            <a:ext cx="10326319" cy="71323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The agent decides which tool to call. The chat model writes the sentences. The vector store finds the facts. Students routinely credit the chat model for all three — ask them which one found the 70%.</a:t>
            </a:r>
            <a:endParaRPr lang="en-US" sz="1500" dirty="0"/>
          </a:p>
        </p:txBody>
      </p:sp>
      <p:sp>
        <p:nvSpPr>
          <p:cNvPr id="15" name="Text 1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6" name="Text 14"/>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Build the chat agent</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Import Workflow 2, wire up the model, the memory and the retrieval tool — then read the system message properly.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C90C-4BE4-7FD6-9573-B9D10F805EA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33977CF-152E-E793-DEE7-D35D53FD1441}"/>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665DAA97-E5CC-D732-4407-483B400BDF78}"/>
              </a:ext>
            </a:extLst>
          </p:cNvPr>
          <p:cNvPicPr>
            <a:picLocks noChangeAspect="1"/>
          </p:cNvPicPr>
          <p:nvPr/>
        </p:nvPicPr>
        <p:blipFill>
          <a:blip r:embed="rId2"/>
          <a:stretch>
            <a:fillRect/>
          </a:stretch>
        </p:blipFill>
        <p:spPr>
          <a:xfrm>
            <a:off x="0" y="789858"/>
            <a:ext cx="12192000" cy="5278283"/>
          </a:xfrm>
          <a:prstGeom prst="rect">
            <a:avLst/>
          </a:prstGeom>
        </p:spPr>
      </p:pic>
    </p:spTree>
    <p:extLst>
      <p:ext uri="{BB962C8B-B14F-4D97-AF65-F5344CB8AC3E}">
        <p14:creationId xmlns:p14="http://schemas.microsoft.com/office/powerpoint/2010/main" val="2868471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WORKFLOW 2</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One agent, and things it can reach for</a:t>
            </a:r>
            <a:endParaRPr lang="en-US" sz="3000" dirty="0"/>
          </a:p>
        </p:txBody>
      </p:sp>
      <p:sp>
        <p:nvSpPr>
          <p:cNvPr id="4" name="Shape 2"/>
          <p:cNvSpPr/>
          <p:nvPr/>
        </p:nvSpPr>
        <p:spPr>
          <a:xfrm>
            <a:off x="1891497" y="1280160"/>
            <a:ext cx="8408701" cy="3383280"/>
          </a:xfrm>
          <a:prstGeom prst="roundRect">
            <a:avLst>
              <a:gd name="adj" fmla="val 1622"/>
            </a:avLst>
          </a:prstGeom>
          <a:solidFill>
            <a:srgbClr val="F2F5F9"/>
          </a:solidFill>
          <a:ln w="12700">
            <a:solidFill>
              <a:srgbClr val="E4EBF3"/>
            </a:solidFill>
            <a:prstDash val="solid"/>
          </a:ln>
        </p:spPr>
        <p:txBody>
          <a:bodyPr/>
          <a:lstStyle/>
          <a:p>
            <a:endParaRPr lang="en-US"/>
          </a:p>
        </p:txBody>
      </p:sp>
      <p:pic>
        <p:nvPicPr>
          <p:cNvPr id="5" name="Image 0" descr="/tmp/l2build/img/agent_canvas.png"/>
          <p:cNvPicPr>
            <a:picLocks noChangeAspect="1"/>
          </p:cNvPicPr>
          <p:nvPr/>
        </p:nvPicPr>
        <p:blipFill>
          <a:blip r:embed="rId3"/>
          <a:stretch>
            <a:fillRect/>
          </a:stretch>
        </p:blipFill>
        <p:spPr>
          <a:xfrm>
            <a:off x="1982937" y="1371600"/>
            <a:ext cx="8225821" cy="3200400"/>
          </a:xfrm>
          <a:prstGeom prst="rect">
            <a:avLst/>
          </a:prstGeom>
        </p:spPr>
      </p:pic>
      <p:sp>
        <p:nvSpPr>
          <p:cNvPr id="6" name="Shape 3"/>
          <p:cNvSpPr/>
          <p:nvPr/>
        </p:nvSpPr>
        <p:spPr>
          <a:xfrm>
            <a:off x="658368" y="5029200"/>
            <a:ext cx="5272888" cy="731520"/>
          </a:xfrm>
          <a:prstGeom prst="roundRect">
            <a:avLst>
              <a:gd name="adj" fmla="val 10000"/>
            </a:avLst>
          </a:prstGeom>
          <a:solidFill>
            <a:srgbClr val="E7F5EE"/>
          </a:solidFill>
          <a:ln w="12700">
            <a:solidFill>
              <a:srgbClr val="E7F5EE"/>
            </a:solidFill>
            <a:prstDash val="solid"/>
          </a:ln>
        </p:spPr>
        <p:txBody>
          <a:bodyPr/>
          <a:lstStyle/>
          <a:p>
            <a:endParaRPr lang="en-US"/>
          </a:p>
        </p:txBody>
      </p:sp>
      <p:sp>
        <p:nvSpPr>
          <p:cNvPr id="7" name="Text 4"/>
          <p:cNvSpPr/>
          <p:nvPr/>
        </p:nvSpPr>
        <p:spPr>
          <a:xfrm>
            <a:off x="886968" y="5029200"/>
            <a:ext cx="4815688" cy="731520"/>
          </a:xfrm>
          <a:prstGeom prst="rect">
            <a:avLst/>
          </a:prstGeom>
          <a:noFill/>
          <a:ln/>
        </p:spPr>
        <p:txBody>
          <a:bodyPr wrap="square" lIns="0" tIns="0" rIns="0" bIns="0" rtlCol="0" anchor="ctr"/>
          <a:lstStyle/>
          <a:p>
            <a:pPr marL="0" indent="0" algn="l">
              <a:buNone/>
            </a:pPr>
            <a:r>
              <a:rPr lang="en-US" sz="1350" b="1" dirty="0">
                <a:solidFill>
                  <a:srgbClr val="1B8F62"/>
                </a:solidFill>
                <a:latin typeface="Calibri" pitchFamily="34" charset="0"/>
                <a:ea typeface="Calibri" pitchFamily="34" charset="-122"/>
                <a:cs typeface="Calibri" pitchFamily="34" charset="-120"/>
              </a:rPr>
              <a:t>Working today · retrieval, memory, chat model</a:t>
            </a:r>
            <a:endParaRPr lang="en-US" sz="1350" dirty="0"/>
          </a:p>
        </p:txBody>
      </p:sp>
      <p:sp>
        <p:nvSpPr>
          <p:cNvPr id="8" name="Shape 5"/>
          <p:cNvSpPr/>
          <p:nvPr/>
        </p:nvSpPr>
        <p:spPr>
          <a:xfrm>
            <a:off x="6260440" y="5029200"/>
            <a:ext cx="5272888" cy="73152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9" name="Text 6"/>
          <p:cNvSpPr/>
          <p:nvPr/>
        </p:nvSpPr>
        <p:spPr>
          <a:xfrm>
            <a:off x="6489040" y="5029200"/>
            <a:ext cx="4815688" cy="731520"/>
          </a:xfrm>
          <a:prstGeom prst="rect">
            <a:avLst/>
          </a:prstGeom>
          <a:noFill/>
          <a:ln/>
        </p:spPr>
        <p:txBody>
          <a:bodyPr wrap="square" lIns="0" tIns="0" rIns="0" bIns="0" rtlCol="0" anchor="ctr"/>
          <a:lstStyle/>
          <a:p>
            <a:pPr marL="0" indent="0" algn="l">
              <a:buNone/>
            </a:pPr>
            <a:r>
              <a:rPr lang="en-US" sz="1350" b="1" dirty="0">
                <a:solidFill>
                  <a:srgbClr val="5C6B7A"/>
                </a:solidFill>
                <a:latin typeface="Calibri" pitchFamily="34" charset="0"/>
                <a:ea typeface="Calibri" pitchFamily="34" charset="-122"/>
                <a:cs typeface="Calibri" pitchFamily="34" charset="-120"/>
              </a:rPr>
              <a:t>Dormant until Lesson 3 · Add Google Drive File</a:t>
            </a:r>
            <a:endParaRPr lang="en-US" sz="1350" dirty="0"/>
          </a:p>
        </p:txBody>
      </p:sp>
      <p:sp>
        <p:nvSpPr>
          <p:cNvPr id="10" name="Text 7"/>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1" name="Text 8"/>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0B5CE3-CAA8-DFAE-60C5-4109938F95D8}"/>
              </a:ext>
            </a:extLst>
          </p:cNvPr>
          <p:cNvPicPr>
            <a:picLocks noChangeAspect="1"/>
          </p:cNvPicPr>
          <p:nvPr/>
        </p:nvPicPr>
        <p:blipFill>
          <a:blip r:embed="rId2"/>
          <a:stretch>
            <a:fillRect/>
          </a:stretch>
        </p:blipFill>
        <p:spPr>
          <a:xfrm>
            <a:off x="0" y="647043"/>
            <a:ext cx="12192000" cy="5563914"/>
          </a:xfrm>
          <a:prstGeom prst="rect">
            <a:avLst/>
          </a:prstGeom>
        </p:spPr>
      </p:pic>
    </p:spTree>
    <p:extLst>
      <p:ext uri="{BB962C8B-B14F-4D97-AF65-F5344CB8AC3E}">
        <p14:creationId xmlns:p14="http://schemas.microsoft.com/office/powerpoint/2010/main" val="343578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42C5D4-F320-07BA-8E6B-0126BA2C7757}"/>
              </a:ext>
            </a:extLst>
          </p:cNvPr>
          <p:cNvPicPr>
            <a:picLocks noChangeAspect="1"/>
          </p:cNvPicPr>
          <p:nvPr/>
        </p:nvPicPr>
        <p:blipFill>
          <a:blip r:embed="rId2"/>
          <a:stretch>
            <a:fillRect/>
          </a:stretch>
        </p:blipFill>
        <p:spPr>
          <a:xfrm>
            <a:off x="0" y="448377"/>
            <a:ext cx="12192000" cy="5961246"/>
          </a:xfrm>
          <a:prstGeom prst="rect">
            <a:avLst/>
          </a:prstGeom>
        </p:spPr>
      </p:pic>
    </p:spTree>
    <p:extLst>
      <p:ext uri="{BB962C8B-B14F-4D97-AF65-F5344CB8AC3E}">
        <p14:creationId xmlns:p14="http://schemas.microsoft.com/office/powerpoint/2010/main" val="3941403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POSITIVE TEST</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Ask it something the document answers</a:t>
            </a:r>
            <a:endParaRPr lang="en-US" sz="3000" dirty="0"/>
          </a:p>
        </p:txBody>
      </p:sp>
      <p:sp>
        <p:nvSpPr>
          <p:cNvPr id="4" name="Shape 2"/>
          <p:cNvSpPr/>
          <p:nvPr/>
        </p:nvSpPr>
        <p:spPr>
          <a:xfrm>
            <a:off x="658368" y="1554480"/>
            <a:ext cx="10874959" cy="640080"/>
          </a:xfrm>
          <a:prstGeom prst="roundRect">
            <a:avLst>
              <a:gd name="adj" fmla="val 12857"/>
            </a:avLst>
          </a:prstGeom>
          <a:solidFill>
            <a:srgbClr val="13233F"/>
          </a:solidFill>
          <a:ln w="12700">
            <a:solidFill>
              <a:srgbClr val="13233F"/>
            </a:solidFill>
            <a:prstDash val="solid"/>
          </a:ln>
        </p:spPr>
        <p:txBody>
          <a:bodyPr/>
          <a:lstStyle/>
          <a:p>
            <a:endParaRPr lang="en-US"/>
          </a:p>
        </p:txBody>
      </p:sp>
      <p:sp>
        <p:nvSpPr>
          <p:cNvPr id="5" name="Text 3"/>
          <p:cNvSpPr/>
          <p:nvPr/>
        </p:nvSpPr>
        <p:spPr>
          <a:xfrm>
            <a:off x="978408" y="1554480"/>
            <a:ext cx="10234879" cy="640080"/>
          </a:xfrm>
          <a:prstGeom prst="rect">
            <a:avLst/>
          </a:prstGeom>
          <a:noFill/>
          <a:ln/>
        </p:spPr>
        <p:txBody>
          <a:bodyPr wrap="square" lIns="0" tIns="0" rIns="0" bIns="0" rtlCol="0" anchor="ctr"/>
          <a:lstStyle/>
          <a:p>
            <a:pPr marL="0" indent="0" algn="l">
              <a:buNone/>
            </a:pPr>
            <a:r>
              <a:rPr lang="en-US" sz="1600" dirty="0">
                <a:solidFill>
                  <a:srgbClr val="9FE3C4"/>
                </a:solidFill>
                <a:latin typeface="Courier New" pitchFamily="34" charset="0"/>
                <a:ea typeface="Courier New" pitchFamily="34" charset="-122"/>
                <a:cs typeface="Courier New" pitchFamily="34" charset="-120"/>
              </a:rPr>
              <a:t>What score do I need to pass?</a:t>
            </a:r>
            <a:endParaRPr lang="en-US" sz="1600" dirty="0"/>
          </a:p>
        </p:txBody>
      </p:sp>
      <p:sp>
        <p:nvSpPr>
          <p:cNvPr id="6" name="Shape 4"/>
          <p:cNvSpPr/>
          <p:nvPr/>
        </p:nvSpPr>
        <p:spPr>
          <a:xfrm>
            <a:off x="658368" y="2468880"/>
            <a:ext cx="5254600" cy="1920240"/>
          </a:xfrm>
          <a:prstGeom prst="roundRect">
            <a:avLst>
              <a:gd name="adj" fmla="val 4286"/>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7" name="Text 5"/>
          <p:cNvSpPr/>
          <p:nvPr/>
        </p:nvSpPr>
        <p:spPr>
          <a:xfrm>
            <a:off x="914400" y="2706624"/>
            <a:ext cx="4742536" cy="310896"/>
          </a:xfrm>
          <a:prstGeom prst="rect">
            <a:avLst/>
          </a:prstGeom>
          <a:noFill/>
          <a:ln/>
        </p:spPr>
        <p:txBody>
          <a:bodyPr wrap="square" lIns="0" tIns="0" rIns="0" bIns="0" rtlCol="0" anchor="ctr"/>
          <a:lstStyle/>
          <a:p>
            <a:pPr marL="0" indent="0" algn="l">
              <a:lnSpc>
                <a:spcPct val="102000"/>
              </a:lnSpc>
              <a:buNone/>
            </a:pPr>
            <a:r>
              <a:rPr lang="en-US" sz="1700" b="1" dirty="0">
                <a:solidFill>
                  <a:srgbClr val="1B8F62"/>
                </a:solidFill>
                <a:latin typeface="Calibri" pitchFamily="34" charset="0"/>
                <a:ea typeface="Calibri" pitchFamily="34" charset="-122"/>
                <a:cs typeface="Calibri" pitchFamily="34" charset="-120"/>
              </a:rPr>
              <a:t>✓   A grounded answer</a:t>
            </a:r>
            <a:endParaRPr lang="en-US" sz="1700" dirty="0"/>
          </a:p>
        </p:txBody>
      </p:sp>
      <p:sp>
        <p:nvSpPr>
          <p:cNvPr id="8" name="Text 6"/>
          <p:cNvSpPr/>
          <p:nvPr/>
        </p:nvSpPr>
        <p:spPr>
          <a:xfrm>
            <a:off x="914400" y="3072384"/>
            <a:ext cx="4742536" cy="111556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“Students must achieve at least 70% to successfully complete the program.”</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The number came from the document, not from the model.</a:t>
            </a:r>
            <a:endParaRPr lang="en-US" sz="1400" dirty="0"/>
          </a:p>
        </p:txBody>
      </p:sp>
      <p:sp>
        <p:nvSpPr>
          <p:cNvPr id="9" name="Shape 7"/>
          <p:cNvSpPr/>
          <p:nvPr/>
        </p:nvSpPr>
        <p:spPr>
          <a:xfrm>
            <a:off x="6278728" y="2468880"/>
            <a:ext cx="5254600" cy="1920240"/>
          </a:xfrm>
          <a:prstGeom prst="roundRect">
            <a:avLst>
              <a:gd name="adj" fmla="val 4286"/>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10" name="Text 8"/>
          <p:cNvSpPr/>
          <p:nvPr/>
        </p:nvSpPr>
        <p:spPr>
          <a:xfrm>
            <a:off x="6534760" y="2706624"/>
            <a:ext cx="4742536" cy="310896"/>
          </a:xfrm>
          <a:prstGeom prst="rect">
            <a:avLst/>
          </a:prstGeom>
          <a:noFill/>
          <a:ln/>
        </p:spPr>
        <p:txBody>
          <a:bodyPr wrap="square" lIns="0" tIns="0" rIns="0" bIns="0" rtlCol="0" anchor="ctr"/>
          <a:lstStyle/>
          <a:p>
            <a:pPr marL="0" indent="0" algn="l">
              <a:lnSpc>
                <a:spcPct val="102000"/>
              </a:lnSpc>
              <a:buNone/>
            </a:pPr>
            <a:r>
              <a:rPr lang="en-US" sz="1700" b="1" dirty="0">
                <a:solidFill>
                  <a:srgbClr val="2A6FB5"/>
                </a:solidFill>
                <a:latin typeface="Calibri" pitchFamily="34" charset="0"/>
                <a:ea typeface="Calibri" pitchFamily="34" charset="-122"/>
                <a:cs typeface="Calibri" pitchFamily="34" charset="-120"/>
              </a:rPr>
              <a:t>But prove it</a:t>
            </a:r>
            <a:endParaRPr lang="en-US" sz="1700" dirty="0"/>
          </a:p>
        </p:txBody>
      </p:sp>
      <p:sp>
        <p:nvSpPr>
          <p:cNvPr id="11" name="Text 9"/>
          <p:cNvSpPr/>
          <p:nvPr/>
        </p:nvSpPr>
        <p:spPr>
          <a:xfrm>
            <a:off x="6534760" y="3072384"/>
            <a:ext cx="4742536" cy="111556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Open the Logs panel and find the user_documents tool call. Expand it: you can see the query sent and the chunks returned.</a:t>
            </a:r>
            <a:endParaRPr lang="en-US" sz="1400" dirty="0"/>
          </a:p>
        </p:txBody>
      </p:sp>
      <p:sp>
        <p:nvSpPr>
          <p:cNvPr id="12" name="Shape 10"/>
          <p:cNvSpPr/>
          <p:nvPr/>
        </p:nvSpPr>
        <p:spPr>
          <a:xfrm>
            <a:off x="658368" y="4572000"/>
            <a:ext cx="10874959" cy="1188720"/>
          </a:xfrm>
          <a:prstGeom prst="roundRect">
            <a:avLst>
              <a:gd name="adj" fmla="val 6154"/>
            </a:avLst>
          </a:prstGeom>
          <a:solidFill>
            <a:srgbClr val="E4EBF3"/>
          </a:solidFill>
          <a:ln w="12700">
            <a:solidFill>
              <a:srgbClr val="E4EBF3"/>
            </a:solidFill>
            <a:prstDash val="solid"/>
          </a:ln>
        </p:spPr>
        <p:txBody>
          <a:bodyPr/>
          <a:lstStyle/>
          <a:p>
            <a:endParaRPr lang="en-US"/>
          </a:p>
        </p:txBody>
      </p:sp>
      <p:sp>
        <p:nvSpPr>
          <p:cNvPr id="13" name="Text 11"/>
          <p:cNvSpPr/>
          <p:nvPr/>
        </p:nvSpPr>
        <p:spPr>
          <a:xfrm>
            <a:off x="932688" y="471830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THE SKILL THAT SEPARATES PEOPLE WHO CAN DEBUG RAG</a:t>
            </a:r>
            <a:endParaRPr lang="en-US" sz="1050" dirty="0"/>
          </a:p>
        </p:txBody>
      </p:sp>
      <p:sp>
        <p:nvSpPr>
          <p:cNvPr id="14" name="Text 12"/>
          <p:cNvSpPr/>
          <p:nvPr/>
        </p:nvSpPr>
        <p:spPr>
          <a:xfrm>
            <a:off x="932688" y="4974336"/>
            <a:ext cx="10326319" cy="62179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Anyone can read the final answer. Reading what was retrieved tells you why the answer was what it was — and when it is wrong, whether the fault is retrieval or generation. Those two have completely different fixes.</a:t>
            </a:r>
            <a:endParaRPr lang="en-US" sz="1500" dirty="0"/>
          </a:p>
        </p:txBody>
      </p:sp>
      <p:sp>
        <p:nvSpPr>
          <p:cNvPr id="15" name="Text 1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6" name="Text 14"/>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NEGATIVE TEST</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Now ask it something the document does not cover</a:t>
            </a:r>
            <a:endParaRPr lang="en-US" sz="3000" dirty="0"/>
          </a:p>
        </p:txBody>
      </p:sp>
      <p:sp>
        <p:nvSpPr>
          <p:cNvPr id="4" name="Shape 2"/>
          <p:cNvSpPr/>
          <p:nvPr/>
        </p:nvSpPr>
        <p:spPr>
          <a:xfrm>
            <a:off x="658368" y="1554480"/>
            <a:ext cx="10874959" cy="640080"/>
          </a:xfrm>
          <a:prstGeom prst="roundRect">
            <a:avLst>
              <a:gd name="adj" fmla="val 12857"/>
            </a:avLst>
          </a:prstGeom>
          <a:solidFill>
            <a:srgbClr val="13233F"/>
          </a:solidFill>
          <a:ln w="12700">
            <a:solidFill>
              <a:srgbClr val="13233F"/>
            </a:solidFill>
            <a:prstDash val="solid"/>
          </a:ln>
        </p:spPr>
        <p:txBody>
          <a:bodyPr/>
          <a:lstStyle/>
          <a:p>
            <a:endParaRPr lang="en-US"/>
          </a:p>
        </p:txBody>
      </p:sp>
      <p:sp>
        <p:nvSpPr>
          <p:cNvPr id="5" name="Text 3"/>
          <p:cNvSpPr/>
          <p:nvPr/>
        </p:nvSpPr>
        <p:spPr>
          <a:xfrm>
            <a:off x="978408" y="1554480"/>
            <a:ext cx="10234879" cy="640080"/>
          </a:xfrm>
          <a:prstGeom prst="rect">
            <a:avLst/>
          </a:prstGeom>
          <a:noFill/>
          <a:ln/>
        </p:spPr>
        <p:txBody>
          <a:bodyPr wrap="square" lIns="0" tIns="0" rIns="0" bIns="0" rtlCol="0" anchor="ctr"/>
          <a:lstStyle/>
          <a:p>
            <a:pPr marL="0" indent="0" algn="l">
              <a:buNone/>
            </a:pPr>
            <a:r>
              <a:rPr lang="en-US" sz="1600" dirty="0">
                <a:solidFill>
                  <a:srgbClr val="F4A9C0"/>
                </a:solidFill>
                <a:latin typeface="Courier New" pitchFamily="34" charset="0"/>
                <a:ea typeface="Courier New" pitchFamily="34" charset="-122"/>
                <a:cs typeface="Courier New" pitchFamily="34" charset="-120"/>
              </a:rPr>
              <a:t>How much does the program cost?</a:t>
            </a:r>
            <a:endParaRPr lang="en-US" sz="1600" dirty="0"/>
          </a:p>
        </p:txBody>
      </p:sp>
      <p:sp>
        <p:nvSpPr>
          <p:cNvPr id="6" name="Shape 4"/>
          <p:cNvSpPr/>
          <p:nvPr/>
        </p:nvSpPr>
        <p:spPr>
          <a:xfrm>
            <a:off x="658368" y="2468880"/>
            <a:ext cx="5254600" cy="1828800"/>
          </a:xfrm>
          <a:prstGeom prst="roundRect">
            <a:avLst>
              <a:gd name="adj" fmla="val 4500"/>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7" name="Text 5"/>
          <p:cNvSpPr/>
          <p:nvPr/>
        </p:nvSpPr>
        <p:spPr>
          <a:xfrm>
            <a:off x="914400" y="2706624"/>
            <a:ext cx="4742536" cy="310896"/>
          </a:xfrm>
          <a:prstGeom prst="rect">
            <a:avLst/>
          </a:prstGeom>
          <a:noFill/>
          <a:ln/>
        </p:spPr>
        <p:txBody>
          <a:bodyPr wrap="square" lIns="0" tIns="0" rIns="0" bIns="0" rtlCol="0" anchor="ctr"/>
          <a:lstStyle/>
          <a:p>
            <a:pPr marL="0" indent="0" algn="l">
              <a:lnSpc>
                <a:spcPct val="102000"/>
              </a:lnSpc>
              <a:buNone/>
            </a:pPr>
            <a:r>
              <a:rPr lang="en-US" sz="1700" b="1" dirty="0">
                <a:solidFill>
                  <a:srgbClr val="1B8F62"/>
                </a:solidFill>
                <a:latin typeface="Calibri" pitchFamily="34" charset="0"/>
                <a:ea typeface="Calibri" pitchFamily="34" charset="-122"/>
                <a:cs typeface="Calibri" pitchFamily="34" charset="-120"/>
              </a:rPr>
              <a:t>✓   Correct</a:t>
            </a:r>
            <a:endParaRPr lang="en-US" sz="1700" dirty="0"/>
          </a:p>
        </p:txBody>
      </p:sp>
      <p:sp>
        <p:nvSpPr>
          <p:cNvPr id="8" name="Text 6"/>
          <p:cNvSpPr/>
          <p:nvPr/>
        </p:nvSpPr>
        <p:spPr>
          <a:xfrm>
            <a:off x="914400" y="3072384"/>
            <a:ext cx="4742536" cy="102412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“The indexed documents do not mention the cost of the program.”</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Retrieval found nothing relevant and the agent said so.</a:t>
            </a:r>
            <a:endParaRPr lang="en-US" sz="1400" dirty="0"/>
          </a:p>
        </p:txBody>
      </p:sp>
      <p:sp>
        <p:nvSpPr>
          <p:cNvPr id="9" name="Shape 7"/>
          <p:cNvSpPr/>
          <p:nvPr/>
        </p:nvSpPr>
        <p:spPr>
          <a:xfrm>
            <a:off x="6278728" y="2468880"/>
            <a:ext cx="5254600" cy="1828800"/>
          </a:xfrm>
          <a:prstGeom prst="roundRect">
            <a:avLst>
              <a:gd name="adj" fmla="val 4500"/>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10" name="Text 8"/>
          <p:cNvSpPr/>
          <p:nvPr/>
        </p:nvSpPr>
        <p:spPr>
          <a:xfrm>
            <a:off x="6534760" y="2706624"/>
            <a:ext cx="4742536" cy="310896"/>
          </a:xfrm>
          <a:prstGeom prst="rect">
            <a:avLst/>
          </a:prstGeom>
          <a:noFill/>
          <a:ln/>
        </p:spPr>
        <p:txBody>
          <a:bodyPr wrap="square" lIns="0" tIns="0" rIns="0" bIns="0" rtlCol="0" anchor="ctr"/>
          <a:lstStyle/>
          <a:p>
            <a:pPr marL="0" indent="0" algn="l">
              <a:lnSpc>
                <a:spcPct val="102000"/>
              </a:lnSpc>
              <a:buNone/>
            </a:pPr>
            <a:r>
              <a:rPr lang="en-US" sz="1700" b="1" dirty="0">
                <a:solidFill>
                  <a:srgbClr val="B32E4C"/>
                </a:solidFill>
                <a:latin typeface="Calibri" pitchFamily="34" charset="0"/>
                <a:ea typeface="Calibri" pitchFamily="34" charset="-122"/>
                <a:cs typeface="Calibri" pitchFamily="34" charset="-120"/>
              </a:rPr>
              <a:t>✕   Hallucination</a:t>
            </a:r>
            <a:endParaRPr lang="en-US" sz="1700" dirty="0"/>
          </a:p>
        </p:txBody>
      </p:sp>
      <p:sp>
        <p:nvSpPr>
          <p:cNvPr id="11" name="Text 9"/>
          <p:cNvSpPr/>
          <p:nvPr/>
        </p:nvSpPr>
        <p:spPr>
          <a:xfrm>
            <a:off x="6534760" y="3072384"/>
            <a:ext cx="4742536" cy="102412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Any specific figure at all.</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The model invented it. Check rule 3 is present in the system message.</a:t>
            </a:r>
            <a:endParaRPr lang="en-US" sz="1400" dirty="0"/>
          </a:p>
        </p:txBody>
      </p:sp>
      <p:sp>
        <p:nvSpPr>
          <p:cNvPr id="12" name="Shape 10"/>
          <p:cNvSpPr/>
          <p:nvPr/>
        </p:nvSpPr>
        <p:spPr>
          <a:xfrm>
            <a:off x="658368" y="4480560"/>
            <a:ext cx="10874959" cy="1280160"/>
          </a:xfrm>
          <a:prstGeom prst="roundRect">
            <a:avLst>
              <a:gd name="adj" fmla="val 7143"/>
            </a:avLst>
          </a:prstGeom>
          <a:solidFill>
            <a:srgbClr val="13233F"/>
          </a:solidFill>
          <a:ln w="12700">
            <a:solidFill>
              <a:srgbClr val="13233F"/>
            </a:solidFill>
            <a:prstDash val="solid"/>
          </a:ln>
        </p:spPr>
        <p:txBody>
          <a:bodyPr/>
          <a:lstStyle/>
          <a:p>
            <a:endParaRPr lang="en-US"/>
          </a:p>
        </p:txBody>
      </p:sp>
      <p:sp>
        <p:nvSpPr>
          <p:cNvPr id="13" name="Text 11"/>
          <p:cNvSpPr/>
          <p:nvPr/>
        </p:nvSpPr>
        <p:spPr>
          <a:xfrm>
            <a:off x="978408" y="4480560"/>
            <a:ext cx="10234879" cy="128016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This one question tells you more about a RAG system than a dozen it can answer.</a:t>
            </a:r>
            <a:endParaRPr lang="en-US" sz="1800" dirty="0"/>
          </a:p>
        </p:txBody>
      </p:sp>
      <p:sp>
        <p:nvSpPr>
          <p:cNvPr id="14" name="Text 12"/>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15" name="Text 13"/>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CHECKPOINT</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Before you leave the session</a:t>
            </a:r>
            <a:endParaRPr lang="en-US" sz="3000" dirty="0"/>
          </a:p>
        </p:txBody>
      </p:sp>
      <p:sp>
        <p:nvSpPr>
          <p:cNvPr id="4" name="Shape 2"/>
          <p:cNvSpPr/>
          <p:nvPr/>
        </p:nvSpPr>
        <p:spPr>
          <a:xfrm>
            <a:off x="658368" y="16916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8379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6" name="Text 4"/>
          <p:cNvSpPr/>
          <p:nvPr/>
        </p:nvSpPr>
        <p:spPr>
          <a:xfrm>
            <a:off x="1280160" y="16916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Workflow 1 runs end to end and inserts documents</a:t>
            </a:r>
            <a:endParaRPr lang="en-US" sz="1350" dirty="0"/>
          </a:p>
        </p:txBody>
      </p:sp>
      <p:sp>
        <p:nvSpPr>
          <p:cNvPr id="7" name="Shape 5"/>
          <p:cNvSpPr/>
          <p:nvPr/>
        </p:nvSpPr>
        <p:spPr>
          <a:xfrm>
            <a:off x="658368" y="23774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8" name="Shape 6"/>
          <p:cNvSpPr/>
          <p:nvPr/>
        </p:nvSpPr>
        <p:spPr>
          <a:xfrm>
            <a:off x="859536" y="25237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9" name="Text 7"/>
          <p:cNvSpPr/>
          <p:nvPr/>
        </p:nvSpPr>
        <p:spPr>
          <a:xfrm>
            <a:off x="1280160" y="23774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have seen what an embedding looks like</a:t>
            </a:r>
            <a:endParaRPr lang="en-US" sz="1350" dirty="0"/>
          </a:p>
        </p:txBody>
      </p:sp>
      <p:sp>
        <p:nvSpPr>
          <p:cNvPr id="10" name="Shape 8"/>
          <p:cNvSpPr/>
          <p:nvPr/>
        </p:nvSpPr>
        <p:spPr>
          <a:xfrm>
            <a:off x="658368" y="30632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11" name="Shape 9"/>
          <p:cNvSpPr/>
          <p:nvPr/>
        </p:nvSpPr>
        <p:spPr>
          <a:xfrm>
            <a:off x="859536" y="32095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2" name="Text 10"/>
          <p:cNvSpPr/>
          <p:nvPr/>
        </p:nvSpPr>
        <p:spPr>
          <a:xfrm>
            <a:off x="1280160" y="30632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Both embedding models match — I checked</a:t>
            </a:r>
            <a:endParaRPr lang="en-US" sz="1350" dirty="0"/>
          </a:p>
        </p:txBody>
      </p:sp>
      <p:sp>
        <p:nvSpPr>
          <p:cNvPr id="13" name="Shape 11"/>
          <p:cNvSpPr/>
          <p:nvPr/>
        </p:nvSpPr>
        <p:spPr>
          <a:xfrm>
            <a:off x="658368" y="37490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14" name="Shape 12"/>
          <p:cNvSpPr/>
          <p:nvPr/>
        </p:nvSpPr>
        <p:spPr>
          <a:xfrm>
            <a:off x="859536" y="38953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5" name="Text 13"/>
          <p:cNvSpPr/>
          <p:nvPr/>
        </p:nvSpPr>
        <p:spPr>
          <a:xfrm>
            <a:off x="1280160" y="37490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Both memory keys read user_documents</a:t>
            </a:r>
            <a:endParaRPr lang="en-US" sz="1350" dirty="0"/>
          </a:p>
        </p:txBody>
      </p:sp>
      <p:sp>
        <p:nvSpPr>
          <p:cNvPr id="16" name="Shape 14"/>
          <p:cNvSpPr/>
          <p:nvPr/>
        </p:nvSpPr>
        <p:spPr>
          <a:xfrm>
            <a:off x="6278728" y="16916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6479896" y="18379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8" name="Text 16"/>
          <p:cNvSpPr/>
          <p:nvPr/>
        </p:nvSpPr>
        <p:spPr>
          <a:xfrm>
            <a:off x="6900520" y="16916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got the 70% answer in the chat window</a:t>
            </a:r>
            <a:endParaRPr lang="en-US" sz="1350" dirty="0"/>
          </a:p>
        </p:txBody>
      </p:sp>
      <p:sp>
        <p:nvSpPr>
          <p:cNvPr id="19" name="Shape 17"/>
          <p:cNvSpPr/>
          <p:nvPr/>
        </p:nvSpPr>
        <p:spPr>
          <a:xfrm>
            <a:off x="6278728" y="23774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20" name="Shape 18"/>
          <p:cNvSpPr/>
          <p:nvPr/>
        </p:nvSpPr>
        <p:spPr>
          <a:xfrm>
            <a:off x="6479896" y="25237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1" name="Text 19"/>
          <p:cNvSpPr/>
          <p:nvPr/>
        </p:nvSpPr>
        <p:spPr>
          <a:xfrm>
            <a:off x="6900520" y="23774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found the tool call in the execution log</a:t>
            </a:r>
            <a:endParaRPr lang="en-US" sz="1350" dirty="0"/>
          </a:p>
        </p:txBody>
      </p:sp>
      <p:sp>
        <p:nvSpPr>
          <p:cNvPr id="22" name="Shape 20"/>
          <p:cNvSpPr/>
          <p:nvPr/>
        </p:nvSpPr>
        <p:spPr>
          <a:xfrm>
            <a:off x="6278728" y="30632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23" name="Shape 21"/>
          <p:cNvSpPr/>
          <p:nvPr/>
        </p:nvSpPr>
        <p:spPr>
          <a:xfrm>
            <a:off x="6479896" y="32095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4" name="Text 22"/>
          <p:cNvSpPr/>
          <p:nvPr/>
        </p:nvSpPr>
        <p:spPr>
          <a:xfrm>
            <a:off x="6900520" y="30632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made the agent admit it did not know</a:t>
            </a:r>
            <a:endParaRPr lang="en-US" sz="1350" dirty="0"/>
          </a:p>
        </p:txBody>
      </p:sp>
      <p:sp>
        <p:nvSpPr>
          <p:cNvPr id="25" name="Shape 23"/>
          <p:cNvSpPr/>
          <p:nvPr/>
        </p:nvSpPr>
        <p:spPr>
          <a:xfrm>
            <a:off x="6278728" y="3749040"/>
            <a:ext cx="5254600"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26" name="Shape 24"/>
          <p:cNvSpPr/>
          <p:nvPr/>
        </p:nvSpPr>
        <p:spPr>
          <a:xfrm>
            <a:off x="6479896" y="389534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7" name="Text 25"/>
          <p:cNvSpPr/>
          <p:nvPr/>
        </p:nvSpPr>
        <p:spPr>
          <a:xfrm>
            <a:off x="6900520" y="3749040"/>
            <a:ext cx="4431640" cy="566928"/>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can explain why the ingestion tool is dormant</a:t>
            </a:r>
            <a:endParaRPr lang="en-US" sz="1350" dirty="0"/>
          </a:p>
        </p:txBody>
      </p:sp>
      <p:sp>
        <p:nvSpPr>
          <p:cNvPr id="28" name="Shape 26"/>
          <p:cNvSpPr/>
          <p:nvPr/>
        </p:nvSpPr>
        <p:spPr>
          <a:xfrm>
            <a:off x="658368" y="4572000"/>
            <a:ext cx="10874959" cy="1188720"/>
          </a:xfrm>
          <a:prstGeom prst="roundRect">
            <a:avLst>
              <a:gd name="adj" fmla="val 6154"/>
            </a:avLst>
          </a:prstGeom>
          <a:solidFill>
            <a:srgbClr val="E7F5EE"/>
          </a:solidFill>
          <a:ln w="12700">
            <a:solidFill>
              <a:srgbClr val="E7F5EE"/>
            </a:solidFill>
            <a:prstDash val="solid"/>
          </a:ln>
        </p:spPr>
        <p:txBody>
          <a:bodyPr/>
          <a:lstStyle/>
          <a:p>
            <a:endParaRPr lang="en-US"/>
          </a:p>
        </p:txBody>
      </p:sp>
      <p:sp>
        <p:nvSpPr>
          <p:cNvPr id="29" name="Text 27"/>
          <p:cNvSpPr/>
          <p:nvPr/>
        </p:nvSpPr>
        <p:spPr>
          <a:xfrm>
            <a:off x="932688" y="4718304"/>
            <a:ext cx="10326319" cy="219456"/>
          </a:xfrm>
          <a:prstGeom prst="rect">
            <a:avLst/>
          </a:prstGeom>
          <a:noFill/>
          <a:ln/>
        </p:spPr>
        <p:txBody>
          <a:bodyPr wrap="square" lIns="0" tIns="0" rIns="0" bIns="0" rtlCol="0" anchor="ctr"/>
          <a:lstStyle/>
          <a:p>
            <a:pPr marL="0" indent="0" algn="l">
              <a:buNone/>
            </a:pPr>
            <a:r>
              <a:rPr lang="en-US" sz="1050" b="1" kern="0" spc="160" dirty="0">
                <a:solidFill>
                  <a:srgbClr val="1B8F62"/>
                </a:solidFill>
                <a:latin typeface="Calibri" pitchFamily="34" charset="0"/>
                <a:ea typeface="Calibri" pitchFamily="34" charset="-122"/>
                <a:cs typeface="Calibri" pitchFamily="34" charset="-120"/>
              </a:rPr>
              <a:t>THEN EXPLAIN IT TO YOUR NEIGHBOUR</a:t>
            </a:r>
            <a:endParaRPr lang="en-US" sz="1050" dirty="0"/>
          </a:p>
        </p:txBody>
      </p:sp>
      <p:sp>
        <p:nvSpPr>
          <p:cNvPr id="30" name="Text 28"/>
          <p:cNvSpPr/>
          <p:nvPr/>
        </p:nvSpPr>
        <p:spPr>
          <a:xfrm>
            <a:off x="932688" y="4974336"/>
            <a:ext cx="10326319" cy="621792"/>
          </a:xfrm>
          <a:prstGeom prst="rect">
            <a:avLst/>
          </a:prstGeom>
          <a:noFill/>
          <a:ln/>
        </p:spPr>
        <p:txBody>
          <a:bodyPr wrap="square" lIns="0" tIns="0" rIns="0" bIns="0" rtlCol="0" anchor="t"/>
          <a:lstStyle/>
          <a:p>
            <a:pPr marL="0" indent="0" algn="l">
              <a:lnSpc>
                <a:spcPct val="110000"/>
              </a:lnSpc>
              <a:buNone/>
            </a:pPr>
            <a:r>
              <a:rPr lang="en-US" sz="1450" dirty="0">
                <a:solidFill>
                  <a:srgbClr val="1D2530"/>
                </a:solidFill>
                <a:latin typeface="Calibri" pitchFamily="34" charset="0"/>
                <a:ea typeface="Calibri" pitchFamily="34" charset="-122"/>
                <a:cs typeface="Calibri" pitchFamily="34" charset="-120"/>
              </a:rPr>
              <a:t>In under a minute, say what happened between pressing Enter and reading the answer. Question embedded, store searched, four chunks returned, chunks plus question sent to Gemini, answer written. If you can name those five, you understand Phase B.</a:t>
            </a:r>
            <a:endParaRPr lang="en-US" sz="1450" dirty="0"/>
          </a:p>
        </p:txBody>
      </p:sp>
      <p:sp>
        <p:nvSpPr>
          <p:cNvPr id="31" name="Text 29"/>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2 — Retrieval and the RAG Chat Agent</a:t>
            </a:r>
            <a:endParaRPr lang="en-US" sz="1000" dirty="0"/>
          </a:p>
        </p:txBody>
      </p:sp>
      <p:sp>
        <p:nvSpPr>
          <p:cNvPr id="32" name="Text 30"/>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2250</Words>
  <Application>Microsoft Office PowerPoint</Application>
  <PresentationFormat>Widescreen</PresentationFormat>
  <Paragraphs>214</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RAG with n8n — Lesson 2</dc:title>
  <dc:subject>Retrieval and the RAG Chat Agent</dc:subject>
  <dc:creator>Data Science Academy</dc:creator>
  <cp:lastModifiedBy>Wael Rahhal</cp:lastModifiedBy>
  <cp:revision>1</cp:revision>
  <dcterms:created xsi:type="dcterms:W3CDTF">2026-08-17T12:39:37Z</dcterms:created>
  <dcterms:modified xsi:type="dcterms:W3CDTF">2026-08-18T21:42:41Z</dcterms:modified>
</cp:coreProperties>
</file>